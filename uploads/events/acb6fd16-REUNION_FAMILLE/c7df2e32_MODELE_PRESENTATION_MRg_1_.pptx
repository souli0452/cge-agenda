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4" r:id="rId4"/>
  </p:sldMasterIdLst>
  <p:notesMasterIdLst>
    <p:notesMasterId r:id="rId39"/>
  </p:notesMasterIdLst>
  <p:sldIdLst>
    <p:sldId id="272" r:id="rId5"/>
    <p:sldId id="287" r:id="rId6"/>
    <p:sldId id="321" r:id="rId7"/>
    <p:sldId id="290" r:id="rId8"/>
    <p:sldId id="322" r:id="rId9"/>
    <p:sldId id="291" r:id="rId10"/>
    <p:sldId id="324" r:id="rId11"/>
    <p:sldId id="325" r:id="rId12"/>
    <p:sldId id="326" r:id="rId13"/>
    <p:sldId id="327" r:id="rId14"/>
    <p:sldId id="328" r:id="rId15"/>
    <p:sldId id="329" r:id="rId16"/>
    <p:sldId id="330" r:id="rId17"/>
    <p:sldId id="331" r:id="rId18"/>
    <p:sldId id="332" r:id="rId19"/>
    <p:sldId id="334" r:id="rId20"/>
    <p:sldId id="336" r:id="rId21"/>
    <p:sldId id="337" r:id="rId22"/>
    <p:sldId id="335" r:id="rId23"/>
    <p:sldId id="341" r:id="rId24"/>
    <p:sldId id="342" r:id="rId25"/>
    <p:sldId id="343" r:id="rId26"/>
    <p:sldId id="344" r:id="rId27"/>
    <p:sldId id="345" r:id="rId28"/>
    <p:sldId id="346" r:id="rId29"/>
    <p:sldId id="347" r:id="rId30"/>
    <p:sldId id="348" r:id="rId31"/>
    <p:sldId id="349" r:id="rId32"/>
    <p:sldId id="350" r:id="rId33"/>
    <p:sldId id="351" r:id="rId34"/>
    <p:sldId id="353" r:id="rId35"/>
    <p:sldId id="352" r:id="rId36"/>
    <p:sldId id="320" r:id="rId37"/>
    <p:sldId id="311" r:id="rId38"/>
  </p:sldIdLst>
  <p:sldSz cx="12192000" cy="6858000"/>
  <p:notesSz cx="6858000" cy="9144000"/>
  <p:defaultTextStyle>
    <a:defPPr>
      <a:defRPr lang="fr-BF"/>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FF7"/>
    <a:srgbClr val="D2DEEF"/>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3" d="100"/>
          <a:sy n="73" d="100"/>
        </p:scale>
        <p:origin x="380"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535E94-253D-4BA6-AC11-F6EC5084DF3F}" type="doc">
      <dgm:prSet loTypeId="urn:microsoft.com/office/officeart/2005/8/layout/vList3" loCatId="list" qsTypeId="urn:microsoft.com/office/officeart/2005/8/quickstyle/simple1" qsCatId="simple" csTypeId="urn:microsoft.com/office/officeart/2005/8/colors/accent0_1" csCatId="mainScheme" phldr="1"/>
      <dgm:spPr/>
      <dgm:t>
        <a:bodyPr/>
        <a:lstStyle/>
        <a:p>
          <a:endParaRPr lang="fr-BF"/>
        </a:p>
      </dgm:t>
    </dgm:pt>
    <dgm:pt modelId="{1D19F9D7-EFB8-46AA-AE2C-77F0E6B91C95}">
      <dgm:prSet custT="1"/>
      <dgm:spPr/>
      <dgm:t>
        <a:bodyPr/>
        <a:lstStyle/>
        <a:p>
          <a:pPr algn="just"/>
          <a:r>
            <a:rPr lang="fr-FR" sz="2000" b="1" dirty="0">
              <a:latin typeface="Arial" panose="020B0604020202020204" pitchFamily="34" charset="0"/>
              <a:cs typeface="Arial" panose="020B0604020202020204" pitchFamily="34" charset="0"/>
            </a:rPr>
            <a:t>INTRODUCTION</a:t>
          </a:r>
          <a:endParaRPr lang="fr-BF" sz="2000" b="1" dirty="0">
            <a:latin typeface="Arial" panose="020B0604020202020204" pitchFamily="34" charset="0"/>
            <a:cs typeface="Arial" panose="020B0604020202020204" pitchFamily="34" charset="0"/>
          </a:endParaRPr>
        </a:p>
      </dgm:t>
    </dgm:pt>
    <dgm:pt modelId="{EDABCC8F-0E0E-4947-B3AE-1589048E25C3}" type="parTrans" cxnId="{21EB01BA-E0D5-4C7D-AB8A-E624AD2FD792}">
      <dgm:prSet/>
      <dgm:spPr/>
      <dgm:t>
        <a:bodyPr/>
        <a:lstStyle/>
        <a:p>
          <a:endParaRPr lang="fr-BF" sz="2000">
            <a:latin typeface="Arial" panose="020B0604020202020204" pitchFamily="34" charset="0"/>
            <a:cs typeface="Arial" panose="020B0604020202020204" pitchFamily="34" charset="0"/>
          </a:endParaRPr>
        </a:p>
      </dgm:t>
    </dgm:pt>
    <dgm:pt modelId="{A23052B5-6ACC-4502-9E52-E11A255F96C2}" type="sibTrans" cxnId="{21EB01BA-E0D5-4C7D-AB8A-E624AD2FD792}">
      <dgm:prSet/>
      <dgm:spPr/>
      <dgm:t>
        <a:bodyPr/>
        <a:lstStyle/>
        <a:p>
          <a:endParaRPr lang="fr-BF" sz="2000">
            <a:latin typeface="Arial" panose="020B0604020202020204" pitchFamily="34" charset="0"/>
            <a:cs typeface="Arial" panose="020B0604020202020204" pitchFamily="34" charset="0"/>
          </a:endParaRPr>
        </a:p>
      </dgm:t>
    </dgm:pt>
    <dgm:pt modelId="{14384954-EB35-41D7-A83D-64D56A12B850}">
      <dgm:prSet custT="1"/>
      <dgm:spPr/>
      <dgm:t>
        <a:bodyPr/>
        <a:lstStyle/>
        <a:p>
          <a:pPr algn="just"/>
          <a:r>
            <a:rPr lang="fr-FR" sz="2000" b="1" dirty="0">
              <a:latin typeface="Arial" panose="020B0604020202020204" pitchFamily="34" charset="0"/>
              <a:cs typeface="Arial" panose="020B0604020202020204" pitchFamily="34" charset="0"/>
            </a:rPr>
            <a:t>I.</a:t>
          </a:r>
          <a:r>
            <a:rPr lang="fr-BF" sz="2000" b="1" dirty="0"/>
            <a:t> CADRE JURIDIQUE ET INSTITUTIONNEL DE LA LUTTE CONTRE LA CORRUPTION AU BURKINA FASO</a:t>
          </a:r>
          <a:endParaRPr lang="fr-BF" sz="2000" b="1" dirty="0">
            <a:latin typeface="Arial" panose="020B0604020202020204" pitchFamily="34" charset="0"/>
            <a:cs typeface="Arial" panose="020B0604020202020204" pitchFamily="34" charset="0"/>
          </a:endParaRPr>
        </a:p>
      </dgm:t>
    </dgm:pt>
    <dgm:pt modelId="{8EC2034E-5F9D-4681-87CC-852470517798}" type="parTrans" cxnId="{AB635C1D-8C48-46B2-9A50-6C2A025A942D}">
      <dgm:prSet/>
      <dgm:spPr/>
      <dgm:t>
        <a:bodyPr/>
        <a:lstStyle/>
        <a:p>
          <a:endParaRPr lang="fr-BF" sz="2000">
            <a:latin typeface="Arial" panose="020B0604020202020204" pitchFamily="34" charset="0"/>
            <a:cs typeface="Arial" panose="020B0604020202020204" pitchFamily="34" charset="0"/>
          </a:endParaRPr>
        </a:p>
      </dgm:t>
    </dgm:pt>
    <dgm:pt modelId="{8E96C505-AB89-44CB-9DF6-C41B620BBDDD}" type="sibTrans" cxnId="{AB635C1D-8C48-46B2-9A50-6C2A025A942D}">
      <dgm:prSet/>
      <dgm:spPr/>
      <dgm:t>
        <a:bodyPr/>
        <a:lstStyle/>
        <a:p>
          <a:endParaRPr lang="fr-BF" sz="2000">
            <a:latin typeface="Arial" panose="020B0604020202020204" pitchFamily="34" charset="0"/>
            <a:cs typeface="Arial" panose="020B0604020202020204" pitchFamily="34" charset="0"/>
          </a:endParaRPr>
        </a:p>
      </dgm:t>
    </dgm:pt>
    <dgm:pt modelId="{B68DE6DD-575B-4511-AB4D-9A2031D8E6E2}">
      <dgm:prSet custT="1"/>
      <dgm:spPr/>
      <dgm:t>
        <a:bodyPr/>
        <a:lstStyle/>
        <a:p>
          <a:pPr algn="just"/>
          <a:r>
            <a:rPr lang="fr-FR" sz="2000" b="1" dirty="0">
              <a:latin typeface="Arial" panose="020B0604020202020204" pitchFamily="34" charset="0"/>
              <a:cs typeface="Arial" panose="020B0604020202020204" pitchFamily="34" charset="0"/>
            </a:rPr>
            <a:t>II.</a:t>
          </a:r>
          <a:r>
            <a:rPr lang="fr-BF" sz="2000" b="1" dirty="0"/>
            <a:t> TYPOLOGIE DES INFRACTIONS DE CORRUPTION DANS LE SECTEUR SECURITAIRE</a:t>
          </a:r>
          <a:endParaRPr lang="fr-BF" sz="2000" b="1" dirty="0">
            <a:latin typeface="Arial" panose="020B0604020202020204" pitchFamily="34" charset="0"/>
            <a:cs typeface="Arial" panose="020B0604020202020204" pitchFamily="34" charset="0"/>
          </a:endParaRPr>
        </a:p>
      </dgm:t>
    </dgm:pt>
    <dgm:pt modelId="{8433895E-9DA4-4BB8-A11F-6E830A4308C6}" type="parTrans" cxnId="{48AB1F66-386E-45CB-8F0E-424BB09DE1C0}">
      <dgm:prSet/>
      <dgm:spPr/>
      <dgm:t>
        <a:bodyPr/>
        <a:lstStyle/>
        <a:p>
          <a:endParaRPr lang="fr-BF" sz="2000">
            <a:latin typeface="Arial" panose="020B0604020202020204" pitchFamily="34" charset="0"/>
            <a:cs typeface="Arial" panose="020B0604020202020204" pitchFamily="34" charset="0"/>
          </a:endParaRPr>
        </a:p>
      </dgm:t>
    </dgm:pt>
    <dgm:pt modelId="{694B4AD2-77BF-404A-BBE0-32E50EA11478}" type="sibTrans" cxnId="{48AB1F66-386E-45CB-8F0E-424BB09DE1C0}">
      <dgm:prSet/>
      <dgm:spPr/>
      <dgm:t>
        <a:bodyPr/>
        <a:lstStyle/>
        <a:p>
          <a:endParaRPr lang="fr-BF" sz="2000">
            <a:latin typeface="Arial" panose="020B0604020202020204" pitchFamily="34" charset="0"/>
            <a:cs typeface="Arial" panose="020B0604020202020204" pitchFamily="34" charset="0"/>
          </a:endParaRPr>
        </a:p>
      </dgm:t>
    </dgm:pt>
    <dgm:pt modelId="{1DC38AE1-CD02-459E-88B9-9B09DFFAD40B}">
      <dgm:prSet custT="1"/>
      <dgm:spPr/>
      <dgm:t>
        <a:bodyPr/>
        <a:lstStyle/>
        <a:p>
          <a:pPr algn="just"/>
          <a:r>
            <a:rPr lang="fr-FR" sz="2000" b="1" dirty="0">
              <a:latin typeface="Arial" panose="020B0604020202020204" pitchFamily="34" charset="0"/>
              <a:cs typeface="Arial" panose="020B0604020202020204" pitchFamily="34" charset="0"/>
            </a:rPr>
            <a:t>III.</a:t>
          </a:r>
          <a:r>
            <a:rPr lang="fr-BF" sz="2000" b="1" dirty="0"/>
            <a:t> MANIFESTATIONS DE LA CORRUPTION DANS LE SECTEUR DE LA SECURITÉ</a:t>
          </a:r>
          <a:endParaRPr lang="fr-BF" sz="2000" b="1" dirty="0">
            <a:latin typeface="Arial" panose="020B0604020202020204" pitchFamily="34" charset="0"/>
            <a:cs typeface="Arial" panose="020B0604020202020204" pitchFamily="34" charset="0"/>
          </a:endParaRPr>
        </a:p>
      </dgm:t>
    </dgm:pt>
    <dgm:pt modelId="{191D869D-DF44-4230-9D7D-4154D71D1F27}" type="parTrans" cxnId="{42182F2E-40A1-4A32-89A1-6936463EF4CF}">
      <dgm:prSet/>
      <dgm:spPr/>
      <dgm:t>
        <a:bodyPr/>
        <a:lstStyle/>
        <a:p>
          <a:endParaRPr lang="fr-BF" sz="2000">
            <a:latin typeface="Arial" panose="020B0604020202020204" pitchFamily="34" charset="0"/>
            <a:cs typeface="Arial" panose="020B0604020202020204" pitchFamily="34" charset="0"/>
          </a:endParaRPr>
        </a:p>
      </dgm:t>
    </dgm:pt>
    <dgm:pt modelId="{C8BE43AB-DBBA-4601-813F-5C5D5F860C10}" type="sibTrans" cxnId="{42182F2E-40A1-4A32-89A1-6936463EF4CF}">
      <dgm:prSet/>
      <dgm:spPr/>
      <dgm:t>
        <a:bodyPr/>
        <a:lstStyle/>
        <a:p>
          <a:endParaRPr lang="fr-BF" sz="2000">
            <a:latin typeface="Arial" panose="020B0604020202020204" pitchFamily="34" charset="0"/>
            <a:cs typeface="Arial" panose="020B0604020202020204" pitchFamily="34" charset="0"/>
          </a:endParaRPr>
        </a:p>
      </dgm:t>
    </dgm:pt>
    <dgm:pt modelId="{358553AA-515A-4B49-BB96-B6AB68CAC489}">
      <dgm:prSet custT="1"/>
      <dgm:spPr/>
      <dgm:t>
        <a:bodyPr/>
        <a:lstStyle/>
        <a:p>
          <a:pPr algn="just"/>
          <a:r>
            <a:rPr lang="fr-FR" sz="2000" b="1" dirty="0">
              <a:latin typeface="Arial" panose="020B0604020202020204" pitchFamily="34" charset="0"/>
              <a:cs typeface="Arial" panose="020B0604020202020204" pitchFamily="34" charset="0"/>
            </a:rPr>
            <a:t>CONCLUSION</a:t>
          </a:r>
          <a:endParaRPr lang="fr-BF" sz="2000" b="1" dirty="0">
            <a:latin typeface="Arial" panose="020B0604020202020204" pitchFamily="34" charset="0"/>
            <a:cs typeface="Arial" panose="020B0604020202020204" pitchFamily="34" charset="0"/>
          </a:endParaRPr>
        </a:p>
      </dgm:t>
    </dgm:pt>
    <dgm:pt modelId="{75BDFE2C-D87C-47A5-A917-3CD8A6067332}" type="parTrans" cxnId="{6BB47F91-8C8F-4C4F-955F-090C5DD23133}">
      <dgm:prSet/>
      <dgm:spPr/>
      <dgm:t>
        <a:bodyPr/>
        <a:lstStyle/>
        <a:p>
          <a:endParaRPr lang="fr-BF" sz="2000">
            <a:latin typeface="Arial" panose="020B0604020202020204" pitchFamily="34" charset="0"/>
            <a:cs typeface="Arial" panose="020B0604020202020204" pitchFamily="34" charset="0"/>
          </a:endParaRPr>
        </a:p>
      </dgm:t>
    </dgm:pt>
    <dgm:pt modelId="{04F16CF7-0517-490A-B34E-8AAB7AFFFC70}" type="sibTrans" cxnId="{6BB47F91-8C8F-4C4F-955F-090C5DD23133}">
      <dgm:prSet/>
      <dgm:spPr/>
      <dgm:t>
        <a:bodyPr/>
        <a:lstStyle/>
        <a:p>
          <a:endParaRPr lang="fr-BF" sz="2000">
            <a:latin typeface="Arial" panose="020B0604020202020204" pitchFamily="34" charset="0"/>
            <a:cs typeface="Arial" panose="020B0604020202020204" pitchFamily="34" charset="0"/>
          </a:endParaRPr>
        </a:p>
      </dgm:t>
    </dgm:pt>
    <dgm:pt modelId="{E17B2E85-EE32-486B-8E60-D35FEA930456}" type="pres">
      <dgm:prSet presAssocID="{3F535E94-253D-4BA6-AC11-F6EC5084DF3F}" presName="linearFlow" presStyleCnt="0">
        <dgm:presLayoutVars>
          <dgm:dir/>
          <dgm:resizeHandles val="exact"/>
        </dgm:presLayoutVars>
      </dgm:prSet>
      <dgm:spPr/>
    </dgm:pt>
    <dgm:pt modelId="{FAC69AD5-C7A8-428B-8E62-C8216CE04016}" type="pres">
      <dgm:prSet presAssocID="{1D19F9D7-EFB8-46AA-AE2C-77F0E6B91C95}" presName="composite" presStyleCnt="0"/>
      <dgm:spPr/>
    </dgm:pt>
    <dgm:pt modelId="{0B585038-3D95-4B7D-9C67-6214D92164BF}" type="pres">
      <dgm:prSet presAssocID="{1D19F9D7-EFB8-46AA-AE2C-77F0E6B91C95}" presName="imgShp" presStyleLbl="fgImgPlac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adge 1 avec un remplissage uni"/>
        </a:ext>
      </dgm:extLst>
    </dgm:pt>
    <dgm:pt modelId="{146769B6-3D2D-4E21-A386-D1C1A63FAAF4}" type="pres">
      <dgm:prSet presAssocID="{1D19F9D7-EFB8-46AA-AE2C-77F0E6B91C95}" presName="txShp" presStyleLbl="node1" presStyleIdx="0" presStyleCnt="5" custLinFactNeighborX="1015">
        <dgm:presLayoutVars>
          <dgm:bulletEnabled val="1"/>
        </dgm:presLayoutVars>
      </dgm:prSet>
      <dgm:spPr/>
    </dgm:pt>
    <dgm:pt modelId="{8F58468F-034D-4C27-864E-83B7F72C626D}" type="pres">
      <dgm:prSet presAssocID="{A23052B5-6ACC-4502-9E52-E11A255F96C2}" presName="spacing" presStyleCnt="0"/>
      <dgm:spPr/>
    </dgm:pt>
    <dgm:pt modelId="{EC45CD9D-F299-4A8E-A250-CD427E4CE64F}" type="pres">
      <dgm:prSet presAssocID="{14384954-EB35-41D7-A83D-64D56A12B850}" presName="composite" presStyleCnt="0"/>
      <dgm:spPr/>
    </dgm:pt>
    <dgm:pt modelId="{317FE554-A91B-4AED-A45B-24C7E66A682D}" type="pres">
      <dgm:prSet presAssocID="{14384954-EB35-41D7-A83D-64D56A12B850}" presName="imgShp" presStyleLbl="fgImgPlace1" presStyleIdx="1" presStyleCnt="5"/>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Badge avec un remplissage uni"/>
        </a:ext>
      </dgm:extLst>
    </dgm:pt>
    <dgm:pt modelId="{1D0AA8B1-2DCD-43D4-B0FD-1CDD1BB38857}" type="pres">
      <dgm:prSet presAssocID="{14384954-EB35-41D7-A83D-64D56A12B850}" presName="txShp" presStyleLbl="node1" presStyleIdx="1" presStyleCnt="5" custLinFactNeighborX="955" custLinFactNeighborY="1304">
        <dgm:presLayoutVars>
          <dgm:bulletEnabled val="1"/>
        </dgm:presLayoutVars>
      </dgm:prSet>
      <dgm:spPr/>
    </dgm:pt>
    <dgm:pt modelId="{15E1098B-5028-4FBD-99E5-E4E28021EEC7}" type="pres">
      <dgm:prSet presAssocID="{8E96C505-AB89-44CB-9DF6-C41B620BBDDD}" presName="spacing" presStyleCnt="0"/>
      <dgm:spPr/>
    </dgm:pt>
    <dgm:pt modelId="{E8CE44E0-0519-4702-A1CD-0A70B7BBD373}" type="pres">
      <dgm:prSet presAssocID="{B68DE6DD-575B-4511-AB4D-9A2031D8E6E2}" presName="composite" presStyleCnt="0"/>
      <dgm:spPr/>
    </dgm:pt>
    <dgm:pt modelId="{BBC5C335-39F6-4ACA-97A6-C046CF9D40B9}" type="pres">
      <dgm:prSet presAssocID="{B68DE6DD-575B-4511-AB4D-9A2031D8E6E2}" presName="imgShp" presStyleLbl="fgImgPlace1" presStyleIdx="2" presStyleCnt="5"/>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Badge 3 avec un remplissage uni"/>
        </a:ext>
      </dgm:extLst>
    </dgm:pt>
    <dgm:pt modelId="{2F77CDAC-2C9F-433D-BE09-714F6063DE2F}" type="pres">
      <dgm:prSet presAssocID="{B68DE6DD-575B-4511-AB4D-9A2031D8E6E2}" presName="txShp" presStyleLbl="node1" presStyleIdx="2" presStyleCnt="5" custLinFactNeighborX="1015">
        <dgm:presLayoutVars>
          <dgm:bulletEnabled val="1"/>
        </dgm:presLayoutVars>
      </dgm:prSet>
      <dgm:spPr/>
    </dgm:pt>
    <dgm:pt modelId="{5397D391-5503-4981-8973-0984F64F1084}" type="pres">
      <dgm:prSet presAssocID="{694B4AD2-77BF-404A-BBE0-32E50EA11478}" presName="spacing" presStyleCnt="0"/>
      <dgm:spPr/>
    </dgm:pt>
    <dgm:pt modelId="{A999E33F-C6C4-4E56-8238-049160B61184}" type="pres">
      <dgm:prSet presAssocID="{1DC38AE1-CD02-459E-88B9-9B09DFFAD40B}" presName="composite" presStyleCnt="0"/>
      <dgm:spPr/>
    </dgm:pt>
    <dgm:pt modelId="{56017BD0-8D32-4FC5-A5C8-A546FF6D966B}" type="pres">
      <dgm:prSet presAssocID="{1DC38AE1-CD02-459E-88B9-9B09DFFAD40B}" presName="imgShp" presStyleLbl="fgImgPlac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Badge 4 avec un remplissage uni"/>
        </a:ext>
      </dgm:extLst>
    </dgm:pt>
    <dgm:pt modelId="{05724EF5-079D-4346-B2E1-3AB0C15EEF20}" type="pres">
      <dgm:prSet presAssocID="{1DC38AE1-CD02-459E-88B9-9B09DFFAD40B}" presName="txShp" presStyleLbl="node1" presStyleIdx="3" presStyleCnt="5" custLinFactNeighborX="1015">
        <dgm:presLayoutVars>
          <dgm:bulletEnabled val="1"/>
        </dgm:presLayoutVars>
      </dgm:prSet>
      <dgm:spPr/>
    </dgm:pt>
    <dgm:pt modelId="{78DC838F-772A-4C03-BD2B-EA3CF7EEA57F}" type="pres">
      <dgm:prSet presAssocID="{C8BE43AB-DBBA-4601-813F-5C5D5F860C10}" presName="spacing" presStyleCnt="0"/>
      <dgm:spPr/>
    </dgm:pt>
    <dgm:pt modelId="{1EF921E4-EF91-4779-A28C-9E88DAEED5BE}" type="pres">
      <dgm:prSet presAssocID="{358553AA-515A-4B49-BB96-B6AB68CAC489}" presName="composite" presStyleCnt="0"/>
      <dgm:spPr/>
    </dgm:pt>
    <dgm:pt modelId="{B6A81311-0A23-40BD-9EC8-04C531CAD3C0}" type="pres">
      <dgm:prSet presAssocID="{358553AA-515A-4B49-BB96-B6AB68CAC489}" presName="imgShp" presStyleLbl="fgImgPlace1" presStyleIdx="4" presStyleCnt="5"/>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dgm:spPr>
      <dgm:extLst>
        <a:ext uri="{E40237B7-FDA0-4F09-8148-C483321AD2D9}">
          <dgm14:cNvPr xmlns:dgm14="http://schemas.microsoft.com/office/drawing/2010/diagram" id="0" name="" descr="Badge 5 avec un remplissage uni"/>
        </a:ext>
      </dgm:extLst>
    </dgm:pt>
    <dgm:pt modelId="{4DBCCA94-6BC2-427C-86DC-F245F2EC9F48}" type="pres">
      <dgm:prSet presAssocID="{358553AA-515A-4B49-BB96-B6AB68CAC489}" presName="txShp" presStyleLbl="node1" presStyleIdx="4" presStyleCnt="5" custLinFactNeighborX="1015">
        <dgm:presLayoutVars>
          <dgm:bulletEnabled val="1"/>
        </dgm:presLayoutVars>
      </dgm:prSet>
      <dgm:spPr/>
    </dgm:pt>
  </dgm:ptLst>
  <dgm:cxnLst>
    <dgm:cxn modelId="{73B76318-034D-48C2-BCDB-E93591CC3EA0}" type="presOf" srcId="{3F535E94-253D-4BA6-AC11-F6EC5084DF3F}" destId="{E17B2E85-EE32-486B-8E60-D35FEA930456}" srcOrd="0" destOrd="0" presId="urn:microsoft.com/office/officeart/2005/8/layout/vList3"/>
    <dgm:cxn modelId="{AB635C1D-8C48-46B2-9A50-6C2A025A942D}" srcId="{3F535E94-253D-4BA6-AC11-F6EC5084DF3F}" destId="{14384954-EB35-41D7-A83D-64D56A12B850}" srcOrd="1" destOrd="0" parTransId="{8EC2034E-5F9D-4681-87CC-852470517798}" sibTransId="{8E96C505-AB89-44CB-9DF6-C41B620BBDDD}"/>
    <dgm:cxn modelId="{2C252C29-E5F9-4E60-B030-48602677AE7E}" type="presOf" srcId="{1DC38AE1-CD02-459E-88B9-9B09DFFAD40B}" destId="{05724EF5-079D-4346-B2E1-3AB0C15EEF20}" srcOrd="0" destOrd="0" presId="urn:microsoft.com/office/officeart/2005/8/layout/vList3"/>
    <dgm:cxn modelId="{42182F2E-40A1-4A32-89A1-6936463EF4CF}" srcId="{3F535E94-253D-4BA6-AC11-F6EC5084DF3F}" destId="{1DC38AE1-CD02-459E-88B9-9B09DFFAD40B}" srcOrd="3" destOrd="0" parTransId="{191D869D-DF44-4230-9D7D-4154D71D1F27}" sibTransId="{C8BE43AB-DBBA-4601-813F-5C5D5F860C10}"/>
    <dgm:cxn modelId="{36BB202F-03E0-46C4-B209-B9ACEDBCDCEC}" type="presOf" srcId="{14384954-EB35-41D7-A83D-64D56A12B850}" destId="{1D0AA8B1-2DCD-43D4-B0FD-1CDD1BB38857}" srcOrd="0" destOrd="0" presId="urn:microsoft.com/office/officeart/2005/8/layout/vList3"/>
    <dgm:cxn modelId="{A06BEF64-31BE-4379-902B-1D928CD5C681}" type="presOf" srcId="{B68DE6DD-575B-4511-AB4D-9A2031D8E6E2}" destId="{2F77CDAC-2C9F-433D-BE09-714F6063DE2F}" srcOrd="0" destOrd="0" presId="urn:microsoft.com/office/officeart/2005/8/layout/vList3"/>
    <dgm:cxn modelId="{48AB1F66-386E-45CB-8F0E-424BB09DE1C0}" srcId="{3F535E94-253D-4BA6-AC11-F6EC5084DF3F}" destId="{B68DE6DD-575B-4511-AB4D-9A2031D8E6E2}" srcOrd="2" destOrd="0" parTransId="{8433895E-9DA4-4BB8-A11F-6E830A4308C6}" sibTransId="{694B4AD2-77BF-404A-BBE0-32E50EA11478}"/>
    <dgm:cxn modelId="{B3B57A8A-09FD-41C0-8A7B-CDD63551B2D4}" type="presOf" srcId="{1D19F9D7-EFB8-46AA-AE2C-77F0E6B91C95}" destId="{146769B6-3D2D-4E21-A386-D1C1A63FAAF4}" srcOrd="0" destOrd="0" presId="urn:microsoft.com/office/officeart/2005/8/layout/vList3"/>
    <dgm:cxn modelId="{6BB47F91-8C8F-4C4F-955F-090C5DD23133}" srcId="{3F535E94-253D-4BA6-AC11-F6EC5084DF3F}" destId="{358553AA-515A-4B49-BB96-B6AB68CAC489}" srcOrd="4" destOrd="0" parTransId="{75BDFE2C-D87C-47A5-A917-3CD8A6067332}" sibTransId="{04F16CF7-0517-490A-B34E-8AAB7AFFFC70}"/>
    <dgm:cxn modelId="{21EB01BA-E0D5-4C7D-AB8A-E624AD2FD792}" srcId="{3F535E94-253D-4BA6-AC11-F6EC5084DF3F}" destId="{1D19F9D7-EFB8-46AA-AE2C-77F0E6B91C95}" srcOrd="0" destOrd="0" parTransId="{EDABCC8F-0E0E-4947-B3AE-1589048E25C3}" sibTransId="{A23052B5-6ACC-4502-9E52-E11A255F96C2}"/>
    <dgm:cxn modelId="{83E2EABD-1061-418C-A9D2-9BF531EB887E}" type="presOf" srcId="{358553AA-515A-4B49-BB96-B6AB68CAC489}" destId="{4DBCCA94-6BC2-427C-86DC-F245F2EC9F48}" srcOrd="0" destOrd="0" presId="urn:microsoft.com/office/officeart/2005/8/layout/vList3"/>
    <dgm:cxn modelId="{2F3766DD-664A-4FFE-9B74-5DB9E00BA61D}" type="presParOf" srcId="{E17B2E85-EE32-486B-8E60-D35FEA930456}" destId="{FAC69AD5-C7A8-428B-8E62-C8216CE04016}" srcOrd="0" destOrd="0" presId="urn:microsoft.com/office/officeart/2005/8/layout/vList3"/>
    <dgm:cxn modelId="{146E8981-6CB7-4CD5-B047-7B11FD791FAE}" type="presParOf" srcId="{FAC69AD5-C7A8-428B-8E62-C8216CE04016}" destId="{0B585038-3D95-4B7D-9C67-6214D92164BF}" srcOrd="0" destOrd="0" presId="urn:microsoft.com/office/officeart/2005/8/layout/vList3"/>
    <dgm:cxn modelId="{53F526AE-75F7-43AD-B52D-4C10BF28DD75}" type="presParOf" srcId="{FAC69AD5-C7A8-428B-8E62-C8216CE04016}" destId="{146769B6-3D2D-4E21-A386-D1C1A63FAAF4}" srcOrd="1" destOrd="0" presId="urn:microsoft.com/office/officeart/2005/8/layout/vList3"/>
    <dgm:cxn modelId="{E158EE54-E8C2-48D6-9B02-241AD64C64A0}" type="presParOf" srcId="{E17B2E85-EE32-486B-8E60-D35FEA930456}" destId="{8F58468F-034D-4C27-864E-83B7F72C626D}" srcOrd="1" destOrd="0" presId="urn:microsoft.com/office/officeart/2005/8/layout/vList3"/>
    <dgm:cxn modelId="{E8EE63B3-04E2-4CD6-B1F5-DA0FE7037937}" type="presParOf" srcId="{E17B2E85-EE32-486B-8E60-D35FEA930456}" destId="{EC45CD9D-F299-4A8E-A250-CD427E4CE64F}" srcOrd="2" destOrd="0" presId="urn:microsoft.com/office/officeart/2005/8/layout/vList3"/>
    <dgm:cxn modelId="{38D8133E-0D10-4F08-964E-8E5EF721D043}" type="presParOf" srcId="{EC45CD9D-F299-4A8E-A250-CD427E4CE64F}" destId="{317FE554-A91B-4AED-A45B-24C7E66A682D}" srcOrd="0" destOrd="0" presId="urn:microsoft.com/office/officeart/2005/8/layout/vList3"/>
    <dgm:cxn modelId="{2C99A493-3EDE-4486-A387-6C4C27463952}" type="presParOf" srcId="{EC45CD9D-F299-4A8E-A250-CD427E4CE64F}" destId="{1D0AA8B1-2DCD-43D4-B0FD-1CDD1BB38857}" srcOrd="1" destOrd="0" presId="urn:microsoft.com/office/officeart/2005/8/layout/vList3"/>
    <dgm:cxn modelId="{6543CF42-67F8-47BB-8206-BC31B9F5FAED}" type="presParOf" srcId="{E17B2E85-EE32-486B-8E60-D35FEA930456}" destId="{15E1098B-5028-4FBD-99E5-E4E28021EEC7}" srcOrd="3" destOrd="0" presId="urn:microsoft.com/office/officeart/2005/8/layout/vList3"/>
    <dgm:cxn modelId="{F4A667B7-4D49-471A-981D-AFD8F2FA10D2}" type="presParOf" srcId="{E17B2E85-EE32-486B-8E60-D35FEA930456}" destId="{E8CE44E0-0519-4702-A1CD-0A70B7BBD373}" srcOrd="4" destOrd="0" presId="urn:microsoft.com/office/officeart/2005/8/layout/vList3"/>
    <dgm:cxn modelId="{036D4646-B853-4BC4-AA75-A884A824D726}" type="presParOf" srcId="{E8CE44E0-0519-4702-A1CD-0A70B7BBD373}" destId="{BBC5C335-39F6-4ACA-97A6-C046CF9D40B9}" srcOrd="0" destOrd="0" presId="urn:microsoft.com/office/officeart/2005/8/layout/vList3"/>
    <dgm:cxn modelId="{5833F107-4926-4B2C-9615-564FFC0E6D8D}" type="presParOf" srcId="{E8CE44E0-0519-4702-A1CD-0A70B7BBD373}" destId="{2F77CDAC-2C9F-433D-BE09-714F6063DE2F}" srcOrd="1" destOrd="0" presId="urn:microsoft.com/office/officeart/2005/8/layout/vList3"/>
    <dgm:cxn modelId="{24BE74CE-B29A-4D41-9A9E-7DCCB1A2E76D}" type="presParOf" srcId="{E17B2E85-EE32-486B-8E60-D35FEA930456}" destId="{5397D391-5503-4981-8973-0984F64F1084}" srcOrd="5" destOrd="0" presId="urn:microsoft.com/office/officeart/2005/8/layout/vList3"/>
    <dgm:cxn modelId="{F8DE6E04-64D0-41CF-9B91-D05486D81036}" type="presParOf" srcId="{E17B2E85-EE32-486B-8E60-D35FEA930456}" destId="{A999E33F-C6C4-4E56-8238-049160B61184}" srcOrd="6" destOrd="0" presId="urn:microsoft.com/office/officeart/2005/8/layout/vList3"/>
    <dgm:cxn modelId="{36DDACDA-28E8-4A4D-901D-2A6F2B4DC83A}" type="presParOf" srcId="{A999E33F-C6C4-4E56-8238-049160B61184}" destId="{56017BD0-8D32-4FC5-A5C8-A546FF6D966B}" srcOrd="0" destOrd="0" presId="urn:microsoft.com/office/officeart/2005/8/layout/vList3"/>
    <dgm:cxn modelId="{EC719AEA-EEA3-44D8-B55F-453E1B0570C9}" type="presParOf" srcId="{A999E33F-C6C4-4E56-8238-049160B61184}" destId="{05724EF5-079D-4346-B2E1-3AB0C15EEF20}" srcOrd="1" destOrd="0" presId="urn:microsoft.com/office/officeart/2005/8/layout/vList3"/>
    <dgm:cxn modelId="{316D29C5-1241-4C3C-9656-A76E08D494C7}" type="presParOf" srcId="{E17B2E85-EE32-486B-8E60-D35FEA930456}" destId="{78DC838F-772A-4C03-BD2B-EA3CF7EEA57F}" srcOrd="7" destOrd="0" presId="urn:microsoft.com/office/officeart/2005/8/layout/vList3"/>
    <dgm:cxn modelId="{9A8991E7-8E47-4952-809B-7CAB4C0ACC20}" type="presParOf" srcId="{E17B2E85-EE32-486B-8E60-D35FEA930456}" destId="{1EF921E4-EF91-4779-A28C-9E88DAEED5BE}" srcOrd="8" destOrd="0" presId="urn:microsoft.com/office/officeart/2005/8/layout/vList3"/>
    <dgm:cxn modelId="{3EDE9D9A-B8DE-403A-A8BB-EA658B615CC8}" type="presParOf" srcId="{1EF921E4-EF91-4779-A28C-9E88DAEED5BE}" destId="{B6A81311-0A23-40BD-9EC8-04C531CAD3C0}" srcOrd="0" destOrd="0" presId="urn:microsoft.com/office/officeart/2005/8/layout/vList3"/>
    <dgm:cxn modelId="{4F6D26F0-CA65-4FC1-AFCB-97330F764063}" type="presParOf" srcId="{1EF921E4-EF91-4779-A28C-9E88DAEED5BE}" destId="{4DBCCA94-6BC2-427C-86DC-F245F2EC9F48}" srcOrd="1" destOrd="0" presId="urn:microsoft.com/office/officeart/2005/8/layout/vList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6769B6-3D2D-4E21-A386-D1C1A63FAAF4}">
      <dsp:nvSpPr>
        <dsp:cNvPr id="0" name=""/>
        <dsp:cNvSpPr/>
      </dsp:nvSpPr>
      <dsp:spPr>
        <a:xfrm rot="10800000">
          <a:off x="1822976" y="2106"/>
          <a:ext cx="6320091" cy="667697"/>
        </a:xfrm>
        <a:prstGeom prst="homePlat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4436" tIns="76200" rIns="142240" bIns="76200" numCol="1" spcCol="1270" anchor="ctr" anchorCtr="0">
          <a:noAutofit/>
        </a:bodyPr>
        <a:lstStyle/>
        <a:p>
          <a:pPr marL="0" lvl="0" indent="0" algn="just" defTabSz="889000">
            <a:lnSpc>
              <a:spcPct val="90000"/>
            </a:lnSpc>
            <a:spcBef>
              <a:spcPct val="0"/>
            </a:spcBef>
            <a:spcAft>
              <a:spcPct val="35000"/>
            </a:spcAft>
            <a:buNone/>
          </a:pPr>
          <a:r>
            <a:rPr lang="fr-FR" sz="2000" b="1" kern="1200" dirty="0">
              <a:latin typeface="Arial" panose="020B0604020202020204" pitchFamily="34" charset="0"/>
              <a:cs typeface="Arial" panose="020B0604020202020204" pitchFamily="34" charset="0"/>
            </a:rPr>
            <a:t>INTRODUCTION</a:t>
          </a:r>
          <a:endParaRPr lang="fr-BF" sz="2000" b="1" kern="1200" dirty="0">
            <a:latin typeface="Arial" panose="020B0604020202020204" pitchFamily="34" charset="0"/>
            <a:cs typeface="Arial" panose="020B0604020202020204" pitchFamily="34" charset="0"/>
          </a:endParaRPr>
        </a:p>
      </dsp:txBody>
      <dsp:txXfrm rot="10800000">
        <a:off x="1989900" y="2106"/>
        <a:ext cx="6153167" cy="667697"/>
      </dsp:txXfrm>
    </dsp:sp>
    <dsp:sp modelId="{0B585038-3D95-4B7D-9C67-6214D92164BF}">
      <dsp:nvSpPr>
        <dsp:cNvPr id="0" name=""/>
        <dsp:cNvSpPr/>
      </dsp:nvSpPr>
      <dsp:spPr>
        <a:xfrm>
          <a:off x="1424978" y="2106"/>
          <a:ext cx="667697" cy="667697"/>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D0AA8B1-2DCD-43D4-B0FD-1CDD1BB38857}">
      <dsp:nvSpPr>
        <dsp:cNvPr id="0" name=""/>
        <dsp:cNvSpPr/>
      </dsp:nvSpPr>
      <dsp:spPr>
        <a:xfrm rot="10800000">
          <a:off x="1819183" y="877823"/>
          <a:ext cx="6320091" cy="667697"/>
        </a:xfrm>
        <a:prstGeom prst="homePlat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4436" tIns="76200" rIns="142240" bIns="76200" numCol="1" spcCol="1270" anchor="ctr" anchorCtr="0">
          <a:noAutofit/>
        </a:bodyPr>
        <a:lstStyle/>
        <a:p>
          <a:pPr marL="0" lvl="0" indent="0" algn="just" defTabSz="889000">
            <a:lnSpc>
              <a:spcPct val="90000"/>
            </a:lnSpc>
            <a:spcBef>
              <a:spcPct val="0"/>
            </a:spcBef>
            <a:spcAft>
              <a:spcPct val="35000"/>
            </a:spcAft>
            <a:buNone/>
          </a:pPr>
          <a:r>
            <a:rPr lang="fr-FR" sz="2000" b="1" kern="1200" dirty="0">
              <a:latin typeface="Arial" panose="020B0604020202020204" pitchFamily="34" charset="0"/>
              <a:cs typeface="Arial" panose="020B0604020202020204" pitchFamily="34" charset="0"/>
            </a:rPr>
            <a:t>I.</a:t>
          </a:r>
          <a:r>
            <a:rPr lang="fr-BF" sz="2000" b="1" kern="1200" dirty="0"/>
            <a:t> CADRE JURIDIQUE ET INSTITUTIONNEL DE LA LUTTE CONTRE LA CORRUPTION AU BURKINA FASO</a:t>
          </a:r>
          <a:endParaRPr lang="fr-BF" sz="2000" b="1" kern="1200" dirty="0">
            <a:latin typeface="Arial" panose="020B0604020202020204" pitchFamily="34" charset="0"/>
            <a:cs typeface="Arial" panose="020B0604020202020204" pitchFamily="34" charset="0"/>
          </a:endParaRPr>
        </a:p>
      </dsp:txBody>
      <dsp:txXfrm rot="10800000">
        <a:off x="1986107" y="877823"/>
        <a:ext cx="6153167" cy="667697"/>
      </dsp:txXfrm>
    </dsp:sp>
    <dsp:sp modelId="{317FE554-A91B-4AED-A45B-24C7E66A682D}">
      <dsp:nvSpPr>
        <dsp:cNvPr id="0" name=""/>
        <dsp:cNvSpPr/>
      </dsp:nvSpPr>
      <dsp:spPr>
        <a:xfrm>
          <a:off x="1424978" y="869116"/>
          <a:ext cx="667697" cy="667697"/>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F77CDAC-2C9F-433D-BE09-714F6063DE2F}">
      <dsp:nvSpPr>
        <dsp:cNvPr id="0" name=""/>
        <dsp:cNvSpPr/>
      </dsp:nvSpPr>
      <dsp:spPr>
        <a:xfrm rot="10800000">
          <a:off x="1822976" y="1736126"/>
          <a:ext cx="6320091" cy="667697"/>
        </a:xfrm>
        <a:prstGeom prst="homePlat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4436" tIns="76200" rIns="142240" bIns="76200" numCol="1" spcCol="1270" anchor="ctr" anchorCtr="0">
          <a:noAutofit/>
        </a:bodyPr>
        <a:lstStyle/>
        <a:p>
          <a:pPr marL="0" lvl="0" indent="0" algn="just" defTabSz="889000">
            <a:lnSpc>
              <a:spcPct val="90000"/>
            </a:lnSpc>
            <a:spcBef>
              <a:spcPct val="0"/>
            </a:spcBef>
            <a:spcAft>
              <a:spcPct val="35000"/>
            </a:spcAft>
            <a:buNone/>
          </a:pPr>
          <a:r>
            <a:rPr lang="fr-FR" sz="2000" b="1" kern="1200" dirty="0">
              <a:latin typeface="Arial" panose="020B0604020202020204" pitchFamily="34" charset="0"/>
              <a:cs typeface="Arial" panose="020B0604020202020204" pitchFamily="34" charset="0"/>
            </a:rPr>
            <a:t>II.</a:t>
          </a:r>
          <a:r>
            <a:rPr lang="fr-BF" sz="2000" b="1" kern="1200" dirty="0"/>
            <a:t> TYPOLOGIE DES INFRACTIONS DE CORRUPTION DANS LE SECTEUR SECURITAIRE</a:t>
          </a:r>
          <a:endParaRPr lang="fr-BF" sz="2000" b="1" kern="1200" dirty="0">
            <a:latin typeface="Arial" panose="020B0604020202020204" pitchFamily="34" charset="0"/>
            <a:cs typeface="Arial" panose="020B0604020202020204" pitchFamily="34" charset="0"/>
          </a:endParaRPr>
        </a:p>
      </dsp:txBody>
      <dsp:txXfrm rot="10800000">
        <a:off x="1989900" y="1736126"/>
        <a:ext cx="6153167" cy="667697"/>
      </dsp:txXfrm>
    </dsp:sp>
    <dsp:sp modelId="{BBC5C335-39F6-4ACA-97A6-C046CF9D40B9}">
      <dsp:nvSpPr>
        <dsp:cNvPr id="0" name=""/>
        <dsp:cNvSpPr/>
      </dsp:nvSpPr>
      <dsp:spPr>
        <a:xfrm>
          <a:off x="1424978" y="1736126"/>
          <a:ext cx="667697" cy="667697"/>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5724EF5-079D-4346-B2E1-3AB0C15EEF20}">
      <dsp:nvSpPr>
        <dsp:cNvPr id="0" name=""/>
        <dsp:cNvSpPr/>
      </dsp:nvSpPr>
      <dsp:spPr>
        <a:xfrm rot="10800000">
          <a:off x="1822976" y="2603136"/>
          <a:ext cx="6320091" cy="667697"/>
        </a:xfrm>
        <a:prstGeom prst="homePlat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4436" tIns="76200" rIns="142240" bIns="76200" numCol="1" spcCol="1270" anchor="ctr" anchorCtr="0">
          <a:noAutofit/>
        </a:bodyPr>
        <a:lstStyle/>
        <a:p>
          <a:pPr marL="0" lvl="0" indent="0" algn="just" defTabSz="889000">
            <a:lnSpc>
              <a:spcPct val="90000"/>
            </a:lnSpc>
            <a:spcBef>
              <a:spcPct val="0"/>
            </a:spcBef>
            <a:spcAft>
              <a:spcPct val="35000"/>
            </a:spcAft>
            <a:buNone/>
          </a:pPr>
          <a:r>
            <a:rPr lang="fr-FR" sz="2000" b="1" kern="1200" dirty="0">
              <a:latin typeface="Arial" panose="020B0604020202020204" pitchFamily="34" charset="0"/>
              <a:cs typeface="Arial" panose="020B0604020202020204" pitchFamily="34" charset="0"/>
            </a:rPr>
            <a:t>III.</a:t>
          </a:r>
          <a:r>
            <a:rPr lang="fr-BF" sz="2000" b="1" kern="1200" dirty="0"/>
            <a:t> MANIFESTATIONS DE LA CORRUPTION DANS LE SECTEUR DE LA SECURITÉ</a:t>
          </a:r>
          <a:endParaRPr lang="fr-BF" sz="2000" b="1" kern="1200" dirty="0">
            <a:latin typeface="Arial" panose="020B0604020202020204" pitchFamily="34" charset="0"/>
            <a:cs typeface="Arial" panose="020B0604020202020204" pitchFamily="34" charset="0"/>
          </a:endParaRPr>
        </a:p>
      </dsp:txBody>
      <dsp:txXfrm rot="10800000">
        <a:off x="1989900" y="2603136"/>
        <a:ext cx="6153167" cy="667697"/>
      </dsp:txXfrm>
    </dsp:sp>
    <dsp:sp modelId="{56017BD0-8D32-4FC5-A5C8-A546FF6D966B}">
      <dsp:nvSpPr>
        <dsp:cNvPr id="0" name=""/>
        <dsp:cNvSpPr/>
      </dsp:nvSpPr>
      <dsp:spPr>
        <a:xfrm>
          <a:off x="1424978" y="2603136"/>
          <a:ext cx="667697" cy="667697"/>
        </a:xfrm>
        <a:prstGeom prst="ellipse">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DBCCA94-6BC2-427C-86DC-F245F2EC9F48}">
      <dsp:nvSpPr>
        <dsp:cNvPr id="0" name=""/>
        <dsp:cNvSpPr/>
      </dsp:nvSpPr>
      <dsp:spPr>
        <a:xfrm rot="10800000">
          <a:off x="1822976" y="3470147"/>
          <a:ext cx="6320091" cy="667697"/>
        </a:xfrm>
        <a:prstGeom prst="homePlat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4436" tIns="76200" rIns="142240" bIns="76200" numCol="1" spcCol="1270" anchor="ctr" anchorCtr="0">
          <a:noAutofit/>
        </a:bodyPr>
        <a:lstStyle/>
        <a:p>
          <a:pPr marL="0" lvl="0" indent="0" algn="just" defTabSz="889000">
            <a:lnSpc>
              <a:spcPct val="90000"/>
            </a:lnSpc>
            <a:spcBef>
              <a:spcPct val="0"/>
            </a:spcBef>
            <a:spcAft>
              <a:spcPct val="35000"/>
            </a:spcAft>
            <a:buNone/>
          </a:pPr>
          <a:r>
            <a:rPr lang="fr-FR" sz="2000" b="1" kern="1200" dirty="0">
              <a:latin typeface="Arial" panose="020B0604020202020204" pitchFamily="34" charset="0"/>
              <a:cs typeface="Arial" panose="020B0604020202020204" pitchFamily="34" charset="0"/>
            </a:rPr>
            <a:t>CONCLUSION</a:t>
          </a:r>
          <a:endParaRPr lang="fr-BF" sz="2000" b="1" kern="1200" dirty="0">
            <a:latin typeface="Arial" panose="020B0604020202020204" pitchFamily="34" charset="0"/>
            <a:cs typeface="Arial" panose="020B0604020202020204" pitchFamily="34" charset="0"/>
          </a:endParaRPr>
        </a:p>
      </dsp:txBody>
      <dsp:txXfrm rot="10800000">
        <a:off x="1989900" y="3470147"/>
        <a:ext cx="6153167" cy="667697"/>
      </dsp:txXfrm>
    </dsp:sp>
    <dsp:sp modelId="{B6A81311-0A23-40BD-9EC8-04C531CAD3C0}">
      <dsp:nvSpPr>
        <dsp:cNvPr id="0" name=""/>
        <dsp:cNvSpPr/>
      </dsp:nvSpPr>
      <dsp:spPr>
        <a:xfrm>
          <a:off x="1424978" y="3470147"/>
          <a:ext cx="667697" cy="667697"/>
        </a:xfrm>
        <a:prstGeom prst="ellipse">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F"/>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BB5479-F856-429C-B19A-176727F15915}" type="datetimeFigureOut">
              <a:rPr lang="fr-BF" smtClean="0"/>
              <a:t>12/08/2025</a:t>
            </a:fld>
            <a:endParaRPr lang="fr-BF"/>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BF"/>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F"/>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F"/>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D342D-332D-4159-BA18-B341CD919503}" type="slidenum">
              <a:rPr lang="fr-BF" smtClean="0"/>
              <a:t>‹N°›</a:t>
            </a:fld>
            <a:endParaRPr lang="fr-BF"/>
          </a:p>
        </p:txBody>
      </p:sp>
    </p:spTree>
    <p:extLst>
      <p:ext uri="{BB962C8B-B14F-4D97-AF65-F5344CB8AC3E}">
        <p14:creationId xmlns:p14="http://schemas.microsoft.com/office/powerpoint/2010/main" val="4210429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DDA54-0370-CF35-493E-CC01E944692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3834D42-D143-64A7-F200-FA7176240DB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489468C-D217-2886-3405-DFB3A02B1C7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8A98902-0398-75EB-FB8E-FDA96862F40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0410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DDA54-0370-CF35-493E-CC01E944692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3834D42-D143-64A7-F200-FA7176240DB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489468C-D217-2886-3405-DFB3A02B1C7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8A98902-0398-75EB-FB8E-FDA96862F40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165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E142D-FE84-40BD-F8E0-51166300207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1C571B3-2695-039F-14CF-619EABFF9D4D}"/>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7B5759CF-7835-92DA-0A0F-1B8D85981BB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A803F07-92ED-9FC2-DF24-518BFCDD2DC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44239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E142D-FE84-40BD-F8E0-51166300207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1C571B3-2695-039F-14CF-619EABFF9D4D}"/>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7B5759CF-7835-92DA-0A0F-1B8D85981BB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A803F07-92ED-9FC2-DF24-518BFCDD2DC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3725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98331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2933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63195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39480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3536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86971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44943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78156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342007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75489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62784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72325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9992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7930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42211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784996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69789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28053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51927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81205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930897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02231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98890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989393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44819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81296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791A-D55F-84A4-7777-2B1900108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09F8ED-4C8A-4261-6EE1-0DF1ECDA3C0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15C6089-D206-728C-A5C9-C0960DBA4E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5F99FE7-8106-29F8-29E4-B72F9D175D2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20455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611CF-E6F4-7115-B795-B98C3F9B047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6B6A223-26E9-0396-1688-BCD08597502D}"/>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BB9FD203-4071-8764-CA6F-FB715693D5A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8660F24-F185-3618-540B-8F3C351D650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9090A-FDFA-44CA-8C44-2B56FE18A4C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90183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CDE8D7-807C-470B-9DCA-EA33586D3A99}"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0F3A70-F4C6-D095-B7BC-7BB46BCE49F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BF"/>
          </a:p>
        </p:txBody>
      </p:sp>
      <p:sp>
        <p:nvSpPr>
          <p:cNvPr id="3" name="Sous-titre 2">
            <a:extLst>
              <a:ext uri="{FF2B5EF4-FFF2-40B4-BE49-F238E27FC236}">
                <a16:creationId xmlns:a16="http://schemas.microsoft.com/office/drawing/2014/main" id="{C68AF42D-3FAF-60F4-8496-049C4FB2AF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BF"/>
          </a:p>
        </p:txBody>
      </p:sp>
      <p:sp>
        <p:nvSpPr>
          <p:cNvPr id="4" name="Espace réservé de la date 3">
            <a:extLst>
              <a:ext uri="{FF2B5EF4-FFF2-40B4-BE49-F238E27FC236}">
                <a16:creationId xmlns:a16="http://schemas.microsoft.com/office/drawing/2014/main" id="{7EC8CBCD-0ACA-371E-0781-8B7D521ABAD3}"/>
              </a:ext>
            </a:extLst>
          </p:cNvPr>
          <p:cNvSpPr>
            <a:spLocks noGrp="1"/>
          </p:cNvSpPr>
          <p:nvPr>
            <p:ph type="dt" sz="half" idx="10"/>
          </p:nvPr>
        </p:nvSpPr>
        <p:spPr/>
        <p:txBody>
          <a:bodyPr/>
          <a:lstStyle/>
          <a:p>
            <a:r>
              <a:rPr lang="fr-BF"/>
              <a:t>17/01/2019</a:t>
            </a:r>
          </a:p>
        </p:txBody>
      </p:sp>
      <p:sp>
        <p:nvSpPr>
          <p:cNvPr id="5" name="Espace réservé du pied de page 4">
            <a:extLst>
              <a:ext uri="{FF2B5EF4-FFF2-40B4-BE49-F238E27FC236}">
                <a16:creationId xmlns:a16="http://schemas.microsoft.com/office/drawing/2014/main" id="{44C52897-03E4-CDBD-9908-D6DC1FBE2576}"/>
              </a:ext>
            </a:extLst>
          </p:cNvPr>
          <p:cNvSpPr>
            <a:spLocks noGrp="1"/>
          </p:cNvSpPr>
          <p:nvPr>
            <p:ph type="ftr" sz="quarter" idx="11"/>
          </p:nvPr>
        </p:nvSpPr>
        <p:spPr/>
        <p:txBody>
          <a:bodyPr/>
          <a:lstStyle/>
          <a:p>
            <a:endParaRPr lang="fr-BF"/>
          </a:p>
        </p:txBody>
      </p:sp>
      <p:sp>
        <p:nvSpPr>
          <p:cNvPr id="6" name="Espace réservé du numéro de diapositive 5">
            <a:extLst>
              <a:ext uri="{FF2B5EF4-FFF2-40B4-BE49-F238E27FC236}">
                <a16:creationId xmlns:a16="http://schemas.microsoft.com/office/drawing/2014/main" id="{21932271-13C2-5D0E-54F5-DBF1B72CAA04}"/>
              </a:ext>
            </a:extLst>
          </p:cNvPr>
          <p:cNvSpPr>
            <a:spLocks noGrp="1"/>
          </p:cNvSpPr>
          <p:nvPr>
            <p:ph type="sldNum" sz="quarter" idx="12"/>
          </p:nvPr>
        </p:nvSpPr>
        <p:spPr/>
        <p:txBody>
          <a:bodyPr/>
          <a:lstStyle/>
          <a:p>
            <a:fld id="{9D720458-9E55-46DA-8CB5-35D418CCB611}" type="slidenum">
              <a:rPr lang="fr-BF" smtClean="0"/>
              <a:t>‹N°›</a:t>
            </a:fld>
            <a:endParaRPr lang="fr-BF"/>
          </a:p>
        </p:txBody>
      </p:sp>
    </p:spTree>
    <p:extLst>
      <p:ext uri="{BB962C8B-B14F-4D97-AF65-F5344CB8AC3E}">
        <p14:creationId xmlns:p14="http://schemas.microsoft.com/office/powerpoint/2010/main" val="25342278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F6E2B7-5810-E246-6EAC-162D621DECA5}"/>
              </a:ext>
            </a:extLst>
          </p:cNvPr>
          <p:cNvSpPr>
            <a:spLocks noGrp="1"/>
          </p:cNvSpPr>
          <p:nvPr>
            <p:ph type="title"/>
          </p:nvPr>
        </p:nvSpPr>
        <p:spPr/>
        <p:txBody>
          <a:bodyPr/>
          <a:lstStyle/>
          <a:p>
            <a:r>
              <a:rPr lang="fr-FR"/>
              <a:t>Modifiez le style du titre</a:t>
            </a:r>
            <a:endParaRPr lang="fr-BF"/>
          </a:p>
        </p:txBody>
      </p:sp>
      <p:sp>
        <p:nvSpPr>
          <p:cNvPr id="3" name="Espace réservé du contenu 2">
            <a:extLst>
              <a:ext uri="{FF2B5EF4-FFF2-40B4-BE49-F238E27FC236}">
                <a16:creationId xmlns:a16="http://schemas.microsoft.com/office/drawing/2014/main" id="{C2D3B618-64C6-0958-656E-61DC96B9CB31}"/>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F"/>
          </a:p>
        </p:txBody>
      </p:sp>
      <p:sp>
        <p:nvSpPr>
          <p:cNvPr id="4" name="Espace réservé de la date 3">
            <a:extLst>
              <a:ext uri="{FF2B5EF4-FFF2-40B4-BE49-F238E27FC236}">
                <a16:creationId xmlns:a16="http://schemas.microsoft.com/office/drawing/2014/main" id="{460DB7F1-63CA-4911-3C22-198A23CF01BE}"/>
              </a:ext>
            </a:extLst>
          </p:cNvPr>
          <p:cNvSpPr>
            <a:spLocks noGrp="1"/>
          </p:cNvSpPr>
          <p:nvPr>
            <p:ph type="dt" sz="half" idx="10"/>
          </p:nvPr>
        </p:nvSpPr>
        <p:spPr/>
        <p:txBody>
          <a:bodyPr/>
          <a:lstStyle/>
          <a:p>
            <a:r>
              <a:rPr lang="fr-BF"/>
              <a:t>17/01/2019</a:t>
            </a:r>
          </a:p>
        </p:txBody>
      </p:sp>
      <p:sp>
        <p:nvSpPr>
          <p:cNvPr id="5" name="Espace réservé du pied de page 4">
            <a:extLst>
              <a:ext uri="{FF2B5EF4-FFF2-40B4-BE49-F238E27FC236}">
                <a16:creationId xmlns:a16="http://schemas.microsoft.com/office/drawing/2014/main" id="{4C39BAB4-3D7E-FAB8-9CD1-CBC3E8A0E56E}"/>
              </a:ext>
            </a:extLst>
          </p:cNvPr>
          <p:cNvSpPr>
            <a:spLocks noGrp="1"/>
          </p:cNvSpPr>
          <p:nvPr>
            <p:ph type="ftr" sz="quarter" idx="11"/>
          </p:nvPr>
        </p:nvSpPr>
        <p:spPr/>
        <p:txBody>
          <a:bodyPr/>
          <a:lstStyle/>
          <a:p>
            <a:endParaRPr lang="fr-BF"/>
          </a:p>
        </p:txBody>
      </p:sp>
      <p:sp>
        <p:nvSpPr>
          <p:cNvPr id="6" name="Espace réservé du numéro de diapositive 5">
            <a:extLst>
              <a:ext uri="{FF2B5EF4-FFF2-40B4-BE49-F238E27FC236}">
                <a16:creationId xmlns:a16="http://schemas.microsoft.com/office/drawing/2014/main" id="{FC3F084E-3A3F-BB45-C894-5A00BFB07FD1}"/>
              </a:ext>
            </a:extLst>
          </p:cNvPr>
          <p:cNvSpPr>
            <a:spLocks noGrp="1"/>
          </p:cNvSpPr>
          <p:nvPr>
            <p:ph type="sldNum" sz="quarter" idx="12"/>
          </p:nvPr>
        </p:nvSpPr>
        <p:spPr/>
        <p:txBody>
          <a:bodyPr/>
          <a:lstStyle/>
          <a:p>
            <a:fld id="{9D720458-9E55-46DA-8CB5-35D418CCB611}" type="slidenum">
              <a:rPr lang="fr-BF" smtClean="0"/>
              <a:t>‹N°›</a:t>
            </a:fld>
            <a:endParaRPr lang="fr-BF"/>
          </a:p>
        </p:txBody>
      </p:sp>
    </p:spTree>
    <p:extLst>
      <p:ext uri="{BB962C8B-B14F-4D97-AF65-F5344CB8AC3E}">
        <p14:creationId xmlns:p14="http://schemas.microsoft.com/office/powerpoint/2010/main" val="4225575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BDC87C-4AA7-1A21-1F67-AAD674490FD2}"/>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BF"/>
          </a:p>
        </p:txBody>
      </p:sp>
      <p:sp>
        <p:nvSpPr>
          <p:cNvPr id="3" name="Espace réservé du texte 2">
            <a:extLst>
              <a:ext uri="{FF2B5EF4-FFF2-40B4-BE49-F238E27FC236}">
                <a16:creationId xmlns:a16="http://schemas.microsoft.com/office/drawing/2014/main" id="{ECC1EDC6-EFBF-D044-B812-C4DA9055309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E8C28E9A-3635-0862-309F-353C2ABB6E76}"/>
              </a:ext>
            </a:extLst>
          </p:cNvPr>
          <p:cNvSpPr>
            <a:spLocks noGrp="1"/>
          </p:cNvSpPr>
          <p:nvPr>
            <p:ph type="dt" sz="half" idx="10"/>
          </p:nvPr>
        </p:nvSpPr>
        <p:spPr/>
        <p:txBody>
          <a:bodyPr/>
          <a:lstStyle/>
          <a:p>
            <a:r>
              <a:rPr lang="fr-BF"/>
              <a:t>17/01/2019</a:t>
            </a:r>
          </a:p>
        </p:txBody>
      </p:sp>
      <p:sp>
        <p:nvSpPr>
          <p:cNvPr id="5" name="Espace réservé du pied de page 4">
            <a:extLst>
              <a:ext uri="{FF2B5EF4-FFF2-40B4-BE49-F238E27FC236}">
                <a16:creationId xmlns:a16="http://schemas.microsoft.com/office/drawing/2014/main" id="{FBFD83B3-2B82-A403-0D7F-3DCF98EE6879}"/>
              </a:ext>
            </a:extLst>
          </p:cNvPr>
          <p:cNvSpPr>
            <a:spLocks noGrp="1"/>
          </p:cNvSpPr>
          <p:nvPr>
            <p:ph type="ftr" sz="quarter" idx="11"/>
          </p:nvPr>
        </p:nvSpPr>
        <p:spPr/>
        <p:txBody>
          <a:bodyPr/>
          <a:lstStyle/>
          <a:p>
            <a:endParaRPr lang="fr-BF"/>
          </a:p>
        </p:txBody>
      </p:sp>
      <p:sp>
        <p:nvSpPr>
          <p:cNvPr id="6" name="Espace réservé du numéro de diapositive 5">
            <a:extLst>
              <a:ext uri="{FF2B5EF4-FFF2-40B4-BE49-F238E27FC236}">
                <a16:creationId xmlns:a16="http://schemas.microsoft.com/office/drawing/2014/main" id="{980B5A65-C621-F741-18D6-9FEEDE33DDED}"/>
              </a:ext>
            </a:extLst>
          </p:cNvPr>
          <p:cNvSpPr>
            <a:spLocks noGrp="1"/>
          </p:cNvSpPr>
          <p:nvPr>
            <p:ph type="sldNum" sz="quarter" idx="12"/>
          </p:nvPr>
        </p:nvSpPr>
        <p:spPr/>
        <p:txBody>
          <a:bodyPr/>
          <a:lstStyle/>
          <a:p>
            <a:fld id="{9D720458-9E55-46DA-8CB5-35D418CCB611}" type="slidenum">
              <a:rPr lang="fr-BF" smtClean="0"/>
              <a:t>‹N°›</a:t>
            </a:fld>
            <a:endParaRPr lang="fr-BF"/>
          </a:p>
        </p:txBody>
      </p:sp>
    </p:spTree>
    <p:extLst>
      <p:ext uri="{BB962C8B-B14F-4D97-AF65-F5344CB8AC3E}">
        <p14:creationId xmlns:p14="http://schemas.microsoft.com/office/powerpoint/2010/main" val="99790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FE622F-98E9-CE29-7C2A-A5C79AF2204D}"/>
              </a:ext>
            </a:extLst>
          </p:cNvPr>
          <p:cNvSpPr>
            <a:spLocks noGrp="1"/>
          </p:cNvSpPr>
          <p:nvPr>
            <p:ph type="title"/>
          </p:nvPr>
        </p:nvSpPr>
        <p:spPr/>
        <p:txBody>
          <a:bodyPr/>
          <a:lstStyle/>
          <a:p>
            <a:r>
              <a:rPr lang="fr-FR"/>
              <a:t>Modifiez le style du titre</a:t>
            </a:r>
            <a:endParaRPr lang="fr-BF"/>
          </a:p>
        </p:txBody>
      </p:sp>
      <p:sp>
        <p:nvSpPr>
          <p:cNvPr id="3" name="Espace réservé du contenu 2">
            <a:extLst>
              <a:ext uri="{FF2B5EF4-FFF2-40B4-BE49-F238E27FC236}">
                <a16:creationId xmlns:a16="http://schemas.microsoft.com/office/drawing/2014/main" id="{8941D437-EA66-AB10-F075-77DD43569B39}"/>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F"/>
          </a:p>
        </p:txBody>
      </p:sp>
      <p:sp>
        <p:nvSpPr>
          <p:cNvPr id="4" name="Espace réservé du contenu 3">
            <a:extLst>
              <a:ext uri="{FF2B5EF4-FFF2-40B4-BE49-F238E27FC236}">
                <a16:creationId xmlns:a16="http://schemas.microsoft.com/office/drawing/2014/main" id="{8F955AB9-6572-CE33-9F7E-511AB237AF19}"/>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F"/>
          </a:p>
        </p:txBody>
      </p:sp>
      <p:sp>
        <p:nvSpPr>
          <p:cNvPr id="5" name="Espace réservé de la date 4">
            <a:extLst>
              <a:ext uri="{FF2B5EF4-FFF2-40B4-BE49-F238E27FC236}">
                <a16:creationId xmlns:a16="http://schemas.microsoft.com/office/drawing/2014/main" id="{0256AD5F-FAC4-21A4-F9E9-5D320F49DBC7}"/>
              </a:ext>
            </a:extLst>
          </p:cNvPr>
          <p:cNvSpPr>
            <a:spLocks noGrp="1"/>
          </p:cNvSpPr>
          <p:nvPr>
            <p:ph type="dt" sz="half" idx="10"/>
          </p:nvPr>
        </p:nvSpPr>
        <p:spPr/>
        <p:txBody>
          <a:bodyPr/>
          <a:lstStyle/>
          <a:p>
            <a:r>
              <a:rPr lang="fr-BF"/>
              <a:t>17/01/2019</a:t>
            </a:r>
          </a:p>
        </p:txBody>
      </p:sp>
      <p:sp>
        <p:nvSpPr>
          <p:cNvPr id="6" name="Espace réservé du pied de page 5">
            <a:extLst>
              <a:ext uri="{FF2B5EF4-FFF2-40B4-BE49-F238E27FC236}">
                <a16:creationId xmlns:a16="http://schemas.microsoft.com/office/drawing/2014/main" id="{696E8CC4-CCDD-A198-BAD6-03C5EA288657}"/>
              </a:ext>
            </a:extLst>
          </p:cNvPr>
          <p:cNvSpPr>
            <a:spLocks noGrp="1"/>
          </p:cNvSpPr>
          <p:nvPr>
            <p:ph type="ftr" sz="quarter" idx="11"/>
          </p:nvPr>
        </p:nvSpPr>
        <p:spPr/>
        <p:txBody>
          <a:bodyPr/>
          <a:lstStyle/>
          <a:p>
            <a:endParaRPr lang="fr-BF"/>
          </a:p>
        </p:txBody>
      </p:sp>
      <p:sp>
        <p:nvSpPr>
          <p:cNvPr id="7" name="Espace réservé du numéro de diapositive 6">
            <a:extLst>
              <a:ext uri="{FF2B5EF4-FFF2-40B4-BE49-F238E27FC236}">
                <a16:creationId xmlns:a16="http://schemas.microsoft.com/office/drawing/2014/main" id="{1D01EF79-717C-238B-2B40-86E029FAF5DB}"/>
              </a:ext>
            </a:extLst>
          </p:cNvPr>
          <p:cNvSpPr>
            <a:spLocks noGrp="1"/>
          </p:cNvSpPr>
          <p:nvPr>
            <p:ph type="sldNum" sz="quarter" idx="12"/>
          </p:nvPr>
        </p:nvSpPr>
        <p:spPr/>
        <p:txBody>
          <a:bodyPr/>
          <a:lstStyle/>
          <a:p>
            <a:fld id="{9D720458-9E55-46DA-8CB5-35D418CCB611}" type="slidenum">
              <a:rPr lang="fr-BF" smtClean="0"/>
              <a:t>‹N°›</a:t>
            </a:fld>
            <a:endParaRPr lang="fr-BF"/>
          </a:p>
        </p:txBody>
      </p:sp>
    </p:spTree>
    <p:extLst>
      <p:ext uri="{BB962C8B-B14F-4D97-AF65-F5344CB8AC3E}">
        <p14:creationId xmlns:p14="http://schemas.microsoft.com/office/powerpoint/2010/main" val="2800183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7CA6D4-BCA3-EEB2-BDFD-DB30020F64FC}"/>
              </a:ext>
            </a:extLst>
          </p:cNvPr>
          <p:cNvSpPr>
            <a:spLocks noGrp="1"/>
          </p:cNvSpPr>
          <p:nvPr>
            <p:ph type="title"/>
          </p:nvPr>
        </p:nvSpPr>
        <p:spPr>
          <a:xfrm>
            <a:off x="839788" y="365125"/>
            <a:ext cx="10515600" cy="1325563"/>
          </a:xfrm>
        </p:spPr>
        <p:txBody>
          <a:bodyPr/>
          <a:lstStyle/>
          <a:p>
            <a:r>
              <a:rPr lang="fr-FR"/>
              <a:t>Modifiez le style du titre</a:t>
            </a:r>
            <a:endParaRPr lang="fr-BF"/>
          </a:p>
        </p:txBody>
      </p:sp>
      <p:sp>
        <p:nvSpPr>
          <p:cNvPr id="3" name="Espace réservé du texte 2">
            <a:extLst>
              <a:ext uri="{FF2B5EF4-FFF2-40B4-BE49-F238E27FC236}">
                <a16:creationId xmlns:a16="http://schemas.microsoft.com/office/drawing/2014/main" id="{5E971FD8-C661-560E-96F1-C054A61458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F3530733-7CD6-E7DB-5EC9-CAFD7061B93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F"/>
          </a:p>
        </p:txBody>
      </p:sp>
      <p:sp>
        <p:nvSpPr>
          <p:cNvPr id="5" name="Espace réservé du texte 4">
            <a:extLst>
              <a:ext uri="{FF2B5EF4-FFF2-40B4-BE49-F238E27FC236}">
                <a16:creationId xmlns:a16="http://schemas.microsoft.com/office/drawing/2014/main" id="{C5F81E93-0894-68F2-2A72-E610748814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71828601-3D05-A2D4-0BC9-FBC43B02A001}"/>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F"/>
          </a:p>
        </p:txBody>
      </p:sp>
      <p:sp>
        <p:nvSpPr>
          <p:cNvPr id="7" name="Espace réservé de la date 6">
            <a:extLst>
              <a:ext uri="{FF2B5EF4-FFF2-40B4-BE49-F238E27FC236}">
                <a16:creationId xmlns:a16="http://schemas.microsoft.com/office/drawing/2014/main" id="{AD3087EC-012A-DC25-2D48-EC6BDF5C1F3D}"/>
              </a:ext>
            </a:extLst>
          </p:cNvPr>
          <p:cNvSpPr>
            <a:spLocks noGrp="1"/>
          </p:cNvSpPr>
          <p:nvPr>
            <p:ph type="dt" sz="half" idx="10"/>
          </p:nvPr>
        </p:nvSpPr>
        <p:spPr/>
        <p:txBody>
          <a:bodyPr/>
          <a:lstStyle/>
          <a:p>
            <a:r>
              <a:rPr lang="fr-BF"/>
              <a:t>17/01/2019</a:t>
            </a:r>
          </a:p>
        </p:txBody>
      </p:sp>
      <p:sp>
        <p:nvSpPr>
          <p:cNvPr id="8" name="Espace réservé du pied de page 7">
            <a:extLst>
              <a:ext uri="{FF2B5EF4-FFF2-40B4-BE49-F238E27FC236}">
                <a16:creationId xmlns:a16="http://schemas.microsoft.com/office/drawing/2014/main" id="{E7ABE8F5-686C-B9B3-0744-AC76B8E50ADE}"/>
              </a:ext>
            </a:extLst>
          </p:cNvPr>
          <p:cNvSpPr>
            <a:spLocks noGrp="1"/>
          </p:cNvSpPr>
          <p:nvPr>
            <p:ph type="ftr" sz="quarter" idx="11"/>
          </p:nvPr>
        </p:nvSpPr>
        <p:spPr/>
        <p:txBody>
          <a:bodyPr/>
          <a:lstStyle/>
          <a:p>
            <a:endParaRPr lang="fr-BF"/>
          </a:p>
        </p:txBody>
      </p:sp>
      <p:sp>
        <p:nvSpPr>
          <p:cNvPr id="9" name="Espace réservé du numéro de diapositive 8">
            <a:extLst>
              <a:ext uri="{FF2B5EF4-FFF2-40B4-BE49-F238E27FC236}">
                <a16:creationId xmlns:a16="http://schemas.microsoft.com/office/drawing/2014/main" id="{8641B3CC-B07C-7CC4-0D98-24DFE2AFCC41}"/>
              </a:ext>
            </a:extLst>
          </p:cNvPr>
          <p:cNvSpPr>
            <a:spLocks noGrp="1"/>
          </p:cNvSpPr>
          <p:nvPr>
            <p:ph type="sldNum" sz="quarter" idx="12"/>
          </p:nvPr>
        </p:nvSpPr>
        <p:spPr/>
        <p:txBody>
          <a:bodyPr/>
          <a:lstStyle/>
          <a:p>
            <a:fld id="{9D720458-9E55-46DA-8CB5-35D418CCB611}" type="slidenum">
              <a:rPr lang="fr-BF" smtClean="0"/>
              <a:t>‹N°›</a:t>
            </a:fld>
            <a:endParaRPr lang="fr-BF"/>
          </a:p>
        </p:txBody>
      </p:sp>
    </p:spTree>
    <p:extLst>
      <p:ext uri="{BB962C8B-B14F-4D97-AF65-F5344CB8AC3E}">
        <p14:creationId xmlns:p14="http://schemas.microsoft.com/office/powerpoint/2010/main" val="2252351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A41ED3-EC46-9A7D-2645-370DE884A44A}"/>
              </a:ext>
            </a:extLst>
          </p:cNvPr>
          <p:cNvSpPr>
            <a:spLocks noGrp="1"/>
          </p:cNvSpPr>
          <p:nvPr>
            <p:ph type="title"/>
          </p:nvPr>
        </p:nvSpPr>
        <p:spPr/>
        <p:txBody>
          <a:bodyPr/>
          <a:lstStyle/>
          <a:p>
            <a:r>
              <a:rPr lang="fr-FR"/>
              <a:t>Modifiez le style du titre</a:t>
            </a:r>
            <a:endParaRPr lang="fr-BF"/>
          </a:p>
        </p:txBody>
      </p:sp>
      <p:sp>
        <p:nvSpPr>
          <p:cNvPr id="3" name="Espace réservé de la date 2">
            <a:extLst>
              <a:ext uri="{FF2B5EF4-FFF2-40B4-BE49-F238E27FC236}">
                <a16:creationId xmlns:a16="http://schemas.microsoft.com/office/drawing/2014/main" id="{07D676AF-87C5-7224-B501-231D587771F0}"/>
              </a:ext>
            </a:extLst>
          </p:cNvPr>
          <p:cNvSpPr>
            <a:spLocks noGrp="1"/>
          </p:cNvSpPr>
          <p:nvPr>
            <p:ph type="dt" sz="half" idx="10"/>
          </p:nvPr>
        </p:nvSpPr>
        <p:spPr/>
        <p:txBody>
          <a:bodyPr/>
          <a:lstStyle/>
          <a:p>
            <a:r>
              <a:rPr lang="fr-BF"/>
              <a:t>17/01/2019</a:t>
            </a:r>
          </a:p>
        </p:txBody>
      </p:sp>
      <p:sp>
        <p:nvSpPr>
          <p:cNvPr id="4" name="Espace réservé du pied de page 3">
            <a:extLst>
              <a:ext uri="{FF2B5EF4-FFF2-40B4-BE49-F238E27FC236}">
                <a16:creationId xmlns:a16="http://schemas.microsoft.com/office/drawing/2014/main" id="{AAD4893C-C7DA-5D2F-028A-97BFFA1D1808}"/>
              </a:ext>
            </a:extLst>
          </p:cNvPr>
          <p:cNvSpPr>
            <a:spLocks noGrp="1"/>
          </p:cNvSpPr>
          <p:nvPr>
            <p:ph type="ftr" sz="quarter" idx="11"/>
          </p:nvPr>
        </p:nvSpPr>
        <p:spPr/>
        <p:txBody>
          <a:bodyPr/>
          <a:lstStyle/>
          <a:p>
            <a:endParaRPr lang="fr-BF"/>
          </a:p>
        </p:txBody>
      </p:sp>
      <p:sp>
        <p:nvSpPr>
          <p:cNvPr id="5" name="Espace réservé du numéro de diapositive 4">
            <a:extLst>
              <a:ext uri="{FF2B5EF4-FFF2-40B4-BE49-F238E27FC236}">
                <a16:creationId xmlns:a16="http://schemas.microsoft.com/office/drawing/2014/main" id="{A3E97518-6CBC-20A7-27FB-92B860E73FF2}"/>
              </a:ext>
            </a:extLst>
          </p:cNvPr>
          <p:cNvSpPr>
            <a:spLocks noGrp="1"/>
          </p:cNvSpPr>
          <p:nvPr>
            <p:ph type="sldNum" sz="quarter" idx="12"/>
          </p:nvPr>
        </p:nvSpPr>
        <p:spPr/>
        <p:txBody>
          <a:bodyPr/>
          <a:lstStyle/>
          <a:p>
            <a:fld id="{9D720458-9E55-46DA-8CB5-35D418CCB611}" type="slidenum">
              <a:rPr lang="fr-BF" smtClean="0"/>
              <a:t>‹N°›</a:t>
            </a:fld>
            <a:endParaRPr lang="fr-BF"/>
          </a:p>
        </p:txBody>
      </p:sp>
    </p:spTree>
    <p:extLst>
      <p:ext uri="{BB962C8B-B14F-4D97-AF65-F5344CB8AC3E}">
        <p14:creationId xmlns:p14="http://schemas.microsoft.com/office/powerpoint/2010/main" val="646575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94E96EC-9459-E18A-11B3-ECC272FB69E9}"/>
              </a:ext>
            </a:extLst>
          </p:cNvPr>
          <p:cNvSpPr>
            <a:spLocks noGrp="1"/>
          </p:cNvSpPr>
          <p:nvPr>
            <p:ph type="dt" sz="half" idx="10"/>
          </p:nvPr>
        </p:nvSpPr>
        <p:spPr/>
        <p:txBody>
          <a:bodyPr/>
          <a:lstStyle/>
          <a:p>
            <a:r>
              <a:rPr lang="fr-BF"/>
              <a:t>17/01/2019</a:t>
            </a:r>
          </a:p>
        </p:txBody>
      </p:sp>
      <p:sp>
        <p:nvSpPr>
          <p:cNvPr id="3" name="Espace réservé du pied de page 2">
            <a:extLst>
              <a:ext uri="{FF2B5EF4-FFF2-40B4-BE49-F238E27FC236}">
                <a16:creationId xmlns:a16="http://schemas.microsoft.com/office/drawing/2014/main" id="{71C58160-F711-811A-710D-3C2C2E732C15}"/>
              </a:ext>
            </a:extLst>
          </p:cNvPr>
          <p:cNvSpPr>
            <a:spLocks noGrp="1"/>
          </p:cNvSpPr>
          <p:nvPr>
            <p:ph type="ftr" sz="quarter" idx="11"/>
          </p:nvPr>
        </p:nvSpPr>
        <p:spPr/>
        <p:txBody>
          <a:bodyPr/>
          <a:lstStyle/>
          <a:p>
            <a:endParaRPr lang="fr-BF"/>
          </a:p>
        </p:txBody>
      </p:sp>
      <p:sp>
        <p:nvSpPr>
          <p:cNvPr id="4" name="Espace réservé du numéro de diapositive 3">
            <a:extLst>
              <a:ext uri="{FF2B5EF4-FFF2-40B4-BE49-F238E27FC236}">
                <a16:creationId xmlns:a16="http://schemas.microsoft.com/office/drawing/2014/main" id="{8DF048AC-61F5-AAAA-1BCA-4DEE7EE47061}"/>
              </a:ext>
            </a:extLst>
          </p:cNvPr>
          <p:cNvSpPr>
            <a:spLocks noGrp="1"/>
          </p:cNvSpPr>
          <p:nvPr>
            <p:ph type="sldNum" sz="quarter" idx="12"/>
          </p:nvPr>
        </p:nvSpPr>
        <p:spPr/>
        <p:txBody>
          <a:bodyPr/>
          <a:lstStyle/>
          <a:p>
            <a:fld id="{9D720458-9E55-46DA-8CB5-35D418CCB611}" type="slidenum">
              <a:rPr lang="fr-BF" smtClean="0"/>
              <a:t>‹N°›</a:t>
            </a:fld>
            <a:endParaRPr lang="fr-BF"/>
          </a:p>
        </p:txBody>
      </p:sp>
    </p:spTree>
    <p:extLst>
      <p:ext uri="{BB962C8B-B14F-4D97-AF65-F5344CB8AC3E}">
        <p14:creationId xmlns:p14="http://schemas.microsoft.com/office/powerpoint/2010/main" val="961555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5C6064-503E-6E0E-44A9-15DE66AF6FD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F"/>
          </a:p>
        </p:txBody>
      </p:sp>
      <p:sp>
        <p:nvSpPr>
          <p:cNvPr id="3" name="Espace réservé du contenu 2">
            <a:extLst>
              <a:ext uri="{FF2B5EF4-FFF2-40B4-BE49-F238E27FC236}">
                <a16:creationId xmlns:a16="http://schemas.microsoft.com/office/drawing/2014/main" id="{FEA0E806-BB45-E67D-568B-F4786261B8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F"/>
          </a:p>
        </p:txBody>
      </p:sp>
      <p:sp>
        <p:nvSpPr>
          <p:cNvPr id="4" name="Espace réservé du texte 3">
            <a:extLst>
              <a:ext uri="{FF2B5EF4-FFF2-40B4-BE49-F238E27FC236}">
                <a16:creationId xmlns:a16="http://schemas.microsoft.com/office/drawing/2014/main" id="{7D8BD227-1981-FF91-F936-A9BF4430CD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8D2AE19-B7A2-AAD7-30B5-DE4AE3E02978}"/>
              </a:ext>
            </a:extLst>
          </p:cNvPr>
          <p:cNvSpPr>
            <a:spLocks noGrp="1"/>
          </p:cNvSpPr>
          <p:nvPr>
            <p:ph type="dt" sz="half" idx="10"/>
          </p:nvPr>
        </p:nvSpPr>
        <p:spPr/>
        <p:txBody>
          <a:bodyPr/>
          <a:lstStyle/>
          <a:p>
            <a:r>
              <a:rPr lang="fr-BF"/>
              <a:t>17/01/2019</a:t>
            </a:r>
          </a:p>
        </p:txBody>
      </p:sp>
      <p:sp>
        <p:nvSpPr>
          <p:cNvPr id="6" name="Espace réservé du pied de page 5">
            <a:extLst>
              <a:ext uri="{FF2B5EF4-FFF2-40B4-BE49-F238E27FC236}">
                <a16:creationId xmlns:a16="http://schemas.microsoft.com/office/drawing/2014/main" id="{D5341866-40A5-DB88-56BD-CDCBF32453F9}"/>
              </a:ext>
            </a:extLst>
          </p:cNvPr>
          <p:cNvSpPr>
            <a:spLocks noGrp="1"/>
          </p:cNvSpPr>
          <p:nvPr>
            <p:ph type="ftr" sz="quarter" idx="11"/>
          </p:nvPr>
        </p:nvSpPr>
        <p:spPr/>
        <p:txBody>
          <a:bodyPr/>
          <a:lstStyle/>
          <a:p>
            <a:endParaRPr lang="fr-BF"/>
          </a:p>
        </p:txBody>
      </p:sp>
      <p:sp>
        <p:nvSpPr>
          <p:cNvPr id="7" name="Espace réservé du numéro de diapositive 6">
            <a:extLst>
              <a:ext uri="{FF2B5EF4-FFF2-40B4-BE49-F238E27FC236}">
                <a16:creationId xmlns:a16="http://schemas.microsoft.com/office/drawing/2014/main" id="{6CB70E4D-5BD7-60B9-C4F2-657865769004}"/>
              </a:ext>
            </a:extLst>
          </p:cNvPr>
          <p:cNvSpPr>
            <a:spLocks noGrp="1"/>
          </p:cNvSpPr>
          <p:nvPr>
            <p:ph type="sldNum" sz="quarter" idx="12"/>
          </p:nvPr>
        </p:nvSpPr>
        <p:spPr/>
        <p:txBody>
          <a:bodyPr/>
          <a:lstStyle/>
          <a:p>
            <a:fld id="{9D720458-9E55-46DA-8CB5-35D418CCB611}" type="slidenum">
              <a:rPr lang="fr-BF" smtClean="0"/>
              <a:t>‹N°›</a:t>
            </a:fld>
            <a:endParaRPr lang="fr-BF"/>
          </a:p>
        </p:txBody>
      </p:sp>
    </p:spTree>
    <p:extLst>
      <p:ext uri="{BB962C8B-B14F-4D97-AF65-F5344CB8AC3E}">
        <p14:creationId xmlns:p14="http://schemas.microsoft.com/office/powerpoint/2010/main" val="2691566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B01547-9C3E-751A-C8A1-99F573928E7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F"/>
          </a:p>
        </p:txBody>
      </p:sp>
      <p:sp>
        <p:nvSpPr>
          <p:cNvPr id="3" name="Espace réservé pour une image  2">
            <a:extLst>
              <a:ext uri="{FF2B5EF4-FFF2-40B4-BE49-F238E27FC236}">
                <a16:creationId xmlns:a16="http://schemas.microsoft.com/office/drawing/2014/main" id="{32D413BE-D155-89F8-6CB5-A78C004AA5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F"/>
          </a:p>
        </p:txBody>
      </p:sp>
      <p:sp>
        <p:nvSpPr>
          <p:cNvPr id="4" name="Espace réservé du texte 3">
            <a:extLst>
              <a:ext uri="{FF2B5EF4-FFF2-40B4-BE49-F238E27FC236}">
                <a16:creationId xmlns:a16="http://schemas.microsoft.com/office/drawing/2014/main" id="{87D5F33C-7A50-E728-84FB-AF6D9798B7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EE09B7C-B27E-9BA6-BA1C-090FCABBFB55}"/>
              </a:ext>
            </a:extLst>
          </p:cNvPr>
          <p:cNvSpPr>
            <a:spLocks noGrp="1"/>
          </p:cNvSpPr>
          <p:nvPr>
            <p:ph type="dt" sz="half" idx="10"/>
          </p:nvPr>
        </p:nvSpPr>
        <p:spPr/>
        <p:txBody>
          <a:bodyPr/>
          <a:lstStyle/>
          <a:p>
            <a:r>
              <a:rPr lang="fr-BF"/>
              <a:t>17/01/2019</a:t>
            </a:r>
          </a:p>
        </p:txBody>
      </p:sp>
      <p:sp>
        <p:nvSpPr>
          <p:cNvPr id="6" name="Espace réservé du pied de page 5">
            <a:extLst>
              <a:ext uri="{FF2B5EF4-FFF2-40B4-BE49-F238E27FC236}">
                <a16:creationId xmlns:a16="http://schemas.microsoft.com/office/drawing/2014/main" id="{44184DFF-74EA-893A-EEEA-EE11E390A7EF}"/>
              </a:ext>
            </a:extLst>
          </p:cNvPr>
          <p:cNvSpPr>
            <a:spLocks noGrp="1"/>
          </p:cNvSpPr>
          <p:nvPr>
            <p:ph type="ftr" sz="quarter" idx="11"/>
          </p:nvPr>
        </p:nvSpPr>
        <p:spPr/>
        <p:txBody>
          <a:bodyPr/>
          <a:lstStyle/>
          <a:p>
            <a:endParaRPr lang="fr-BF"/>
          </a:p>
        </p:txBody>
      </p:sp>
      <p:sp>
        <p:nvSpPr>
          <p:cNvPr id="7" name="Espace réservé du numéro de diapositive 6">
            <a:extLst>
              <a:ext uri="{FF2B5EF4-FFF2-40B4-BE49-F238E27FC236}">
                <a16:creationId xmlns:a16="http://schemas.microsoft.com/office/drawing/2014/main" id="{B7360A6A-E75D-6537-AF41-10E49BD3E811}"/>
              </a:ext>
            </a:extLst>
          </p:cNvPr>
          <p:cNvSpPr>
            <a:spLocks noGrp="1"/>
          </p:cNvSpPr>
          <p:nvPr>
            <p:ph type="sldNum" sz="quarter" idx="12"/>
          </p:nvPr>
        </p:nvSpPr>
        <p:spPr/>
        <p:txBody>
          <a:bodyPr/>
          <a:lstStyle/>
          <a:p>
            <a:fld id="{9D720458-9E55-46DA-8CB5-35D418CCB611}" type="slidenum">
              <a:rPr lang="fr-BF" smtClean="0"/>
              <a:t>‹N°›</a:t>
            </a:fld>
            <a:endParaRPr lang="fr-BF"/>
          </a:p>
        </p:txBody>
      </p:sp>
    </p:spTree>
    <p:extLst>
      <p:ext uri="{BB962C8B-B14F-4D97-AF65-F5344CB8AC3E}">
        <p14:creationId xmlns:p14="http://schemas.microsoft.com/office/powerpoint/2010/main" val="282503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8B05D9-F5B1-6AD2-2701-883298AAC318}"/>
              </a:ext>
            </a:extLst>
          </p:cNvPr>
          <p:cNvSpPr>
            <a:spLocks noGrp="1"/>
          </p:cNvSpPr>
          <p:nvPr>
            <p:ph type="title"/>
          </p:nvPr>
        </p:nvSpPr>
        <p:spPr/>
        <p:txBody>
          <a:bodyPr/>
          <a:lstStyle/>
          <a:p>
            <a:r>
              <a:rPr lang="fr-FR"/>
              <a:t>Modifiez le style du titre</a:t>
            </a:r>
            <a:endParaRPr lang="fr-BF"/>
          </a:p>
        </p:txBody>
      </p:sp>
      <p:sp>
        <p:nvSpPr>
          <p:cNvPr id="3" name="Espace réservé du texte vertical 2">
            <a:extLst>
              <a:ext uri="{FF2B5EF4-FFF2-40B4-BE49-F238E27FC236}">
                <a16:creationId xmlns:a16="http://schemas.microsoft.com/office/drawing/2014/main" id="{8C2C6E52-2931-AB8C-5336-4BDAAA22DFBC}"/>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F"/>
          </a:p>
        </p:txBody>
      </p:sp>
      <p:sp>
        <p:nvSpPr>
          <p:cNvPr id="4" name="Espace réservé de la date 3">
            <a:extLst>
              <a:ext uri="{FF2B5EF4-FFF2-40B4-BE49-F238E27FC236}">
                <a16:creationId xmlns:a16="http://schemas.microsoft.com/office/drawing/2014/main" id="{3E3B4EE9-57F9-0688-FF10-2DD10CA9535F}"/>
              </a:ext>
            </a:extLst>
          </p:cNvPr>
          <p:cNvSpPr>
            <a:spLocks noGrp="1"/>
          </p:cNvSpPr>
          <p:nvPr>
            <p:ph type="dt" sz="half" idx="10"/>
          </p:nvPr>
        </p:nvSpPr>
        <p:spPr/>
        <p:txBody>
          <a:bodyPr/>
          <a:lstStyle/>
          <a:p>
            <a:r>
              <a:rPr lang="fr-BF"/>
              <a:t>17/01/2019</a:t>
            </a:r>
          </a:p>
        </p:txBody>
      </p:sp>
      <p:sp>
        <p:nvSpPr>
          <p:cNvPr id="5" name="Espace réservé du pied de page 4">
            <a:extLst>
              <a:ext uri="{FF2B5EF4-FFF2-40B4-BE49-F238E27FC236}">
                <a16:creationId xmlns:a16="http://schemas.microsoft.com/office/drawing/2014/main" id="{F83D8622-58F2-1833-054C-9D4B74867394}"/>
              </a:ext>
            </a:extLst>
          </p:cNvPr>
          <p:cNvSpPr>
            <a:spLocks noGrp="1"/>
          </p:cNvSpPr>
          <p:nvPr>
            <p:ph type="ftr" sz="quarter" idx="11"/>
          </p:nvPr>
        </p:nvSpPr>
        <p:spPr/>
        <p:txBody>
          <a:bodyPr/>
          <a:lstStyle/>
          <a:p>
            <a:endParaRPr lang="fr-BF"/>
          </a:p>
        </p:txBody>
      </p:sp>
      <p:sp>
        <p:nvSpPr>
          <p:cNvPr id="6" name="Espace réservé du numéro de diapositive 5">
            <a:extLst>
              <a:ext uri="{FF2B5EF4-FFF2-40B4-BE49-F238E27FC236}">
                <a16:creationId xmlns:a16="http://schemas.microsoft.com/office/drawing/2014/main" id="{708F3FC8-B674-068C-937D-FEC411ED2DB7}"/>
              </a:ext>
            </a:extLst>
          </p:cNvPr>
          <p:cNvSpPr>
            <a:spLocks noGrp="1"/>
          </p:cNvSpPr>
          <p:nvPr>
            <p:ph type="sldNum" sz="quarter" idx="12"/>
          </p:nvPr>
        </p:nvSpPr>
        <p:spPr/>
        <p:txBody>
          <a:bodyPr/>
          <a:lstStyle/>
          <a:p>
            <a:fld id="{9D720458-9E55-46DA-8CB5-35D418CCB611}" type="slidenum">
              <a:rPr lang="fr-BF" smtClean="0"/>
              <a:t>‹N°›</a:t>
            </a:fld>
            <a:endParaRPr lang="fr-BF"/>
          </a:p>
        </p:txBody>
      </p:sp>
    </p:spTree>
    <p:extLst>
      <p:ext uri="{BB962C8B-B14F-4D97-AF65-F5344CB8AC3E}">
        <p14:creationId xmlns:p14="http://schemas.microsoft.com/office/powerpoint/2010/main" val="3594236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5211A6CA-8383-25AF-8BC0-9EEDE232572E}"/>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BF"/>
          </a:p>
        </p:txBody>
      </p:sp>
      <p:sp>
        <p:nvSpPr>
          <p:cNvPr id="3" name="Espace réservé du texte vertical 2">
            <a:extLst>
              <a:ext uri="{FF2B5EF4-FFF2-40B4-BE49-F238E27FC236}">
                <a16:creationId xmlns:a16="http://schemas.microsoft.com/office/drawing/2014/main" id="{A0BCD278-4E30-8E78-FB03-EAB1DA518A6F}"/>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F"/>
          </a:p>
        </p:txBody>
      </p:sp>
      <p:sp>
        <p:nvSpPr>
          <p:cNvPr id="4" name="Espace réservé de la date 3">
            <a:extLst>
              <a:ext uri="{FF2B5EF4-FFF2-40B4-BE49-F238E27FC236}">
                <a16:creationId xmlns:a16="http://schemas.microsoft.com/office/drawing/2014/main" id="{3E4F63BF-7740-B131-F04E-AA7B6111D023}"/>
              </a:ext>
            </a:extLst>
          </p:cNvPr>
          <p:cNvSpPr>
            <a:spLocks noGrp="1"/>
          </p:cNvSpPr>
          <p:nvPr>
            <p:ph type="dt" sz="half" idx="10"/>
          </p:nvPr>
        </p:nvSpPr>
        <p:spPr/>
        <p:txBody>
          <a:bodyPr/>
          <a:lstStyle/>
          <a:p>
            <a:r>
              <a:rPr lang="fr-BF"/>
              <a:t>17/01/2019</a:t>
            </a:r>
          </a:p>
        </p:txBody>
      </p:sp>
      <p:sp>
        <p:nvSpPr>
          <p:cNvPr id="5" name="Espace réservé du pied de page 4">
            <a:extLst>
              <a:ext uri="{FF2B5EF4-FFF2-40B4-BE49-F238E27FC236}">
                <a16:creationId xmlns:a16="http://schemas.microsoft.com/office/drawing/2014/main" id="{ECA02987-C7E5-727B-BEE6-1F7DE4383AC0}"/>
              </a:ext>
            </a:extLst>
          </p:cNvPr>
          <p:cNvSpPr>
            <a:spLocks noGrp="1"/>
          </p:cNvSpPr>
          <p:nvPr>
            <p:ph type="ftr" sz="quarter" idx="11"/>
          </p:nvPr>
        </p:nvSpPr>
        <p:spPr/>
        <p:txBody>
          <a:bodyPr/>
          <a:lstStyle/>
          <a:p>
            <a:endParaRPr lang="fr-BF"/>
          </a:p>
        </p:txBody>
      </p:sp>
      <p:sp>
        <p:nvSpPr>
          <p:cNvPr id="6" name="Espace réservé du numéro de diapositive 5">
            <a:extLst>
              <a:ext uri="{FF2B5EF4-FFF2-40B4-BE49-F238E27FC236}">
                <a16:creationId xmlns:a16="http://schemas.microsoft.com/office/drawing/2014/main" id="{5BC6470C-ED1E-8F5C-BAB5-F711DE05C48F}"/>
              </a:ext>
            </a:extLst>
          </p:cNvPr>
          <p:cNvSpPr>
            <a:spLocks noGrp="1"/>
          </p:cNvSpPr>
          <p:nvPr>
            <p:ph type="sldNum" sz="quarter" idx="12"/>
          </p:nvPr>
        </p:nvSpPr>
        <p:spPr/>
        <p:txBody>
          <a:bodyPr/>
          <a:lstStyle/>
          <a:p>
            <a:fld id="{9D720458-9E55-46DA-8CB5-35D418CCB611}" type="slidenum">
              <a:rPr lang="fr-BF" smtClean="0"/>
              <a:t>‹N°›</a:t>
            </a:fld>
            <a:endParaRPr lang="fr-BF"/>
          </a:p>
        </p:txBody>
      </p:sp>
    </p:spTree>
    <p:extLst>
      <p:ext uri="{BB962C8B-B14F-4D97-AF65-F5344CB8AC3E}">
        <p14:creationId xmlns:p14="http://schemas.microsoft.com/office/powerpoint/2010/main" val="21603837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r>
              <a:rPr lang="fr-BF"/>
              <a:t>17/01/2019</a:t>
            </a:r>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18B577B-21D4-4A14-8495-7809D2E37253}" type="slidenum">
              <a:rPr lang="fr-FR" smtClean="0"/>
              <a:t>‹N°›</a:t>
            </a:fld>
            <a:endParaRPr lang="fr-FR"/>
          </a:p>
        </p:txBody>
      </p:sp>
    </p:spTree>
    <p:extLst>
      <p:ext uri="{BB962C8B-B14F-4D97-AF65-F5344CB8AC3E}">
        <p14:creationId xmlns:p14="http://schemas.microsoft.com/office/powerpoint/2010/main" val="13983090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r>
              <a:rPr lang="fr-BF"/>
              <a:t>17/01/2019</a:t>
            </a:r>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18B577B-21D4-4A14-8495-7809D2E37253}" type="slidenum">
              <a:rPr lang="fr-FR" smtClean="0"/>
              <a:t>‹N°›</a:t>
            </a:fld>
            <a:endParaRPr lang="fr-FR"/>
          </a:p>
        </p:txBody>
      </p:sp>
    </p:spTree>
    <p:extLst>
      <p:ext uri="{BB962C8B-B14F-4D97-AF65-F5344CB8AC3E}">
        <p14:creationId xmlns:p14="http://schemas.microsoft.com/office/powerpoint/2010/main" val="21201633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r>
              <a:rPr lang="fr-BF"/>
              <a:t>17/01/2019</a:t>
            </a:r>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18B577B-21D4-4A14-8495-7809D2E37253}" type="slidenum">
              <a:rPr lang="fr-FR" smtClean="0"/>
              <a:t>‹N°›</a:t>
            </a:fld>
            <a:endParaRPr lang="fr-FR"/>
          </a:p>
        </p:txBody>
      </p:sp>
    </p:spTree>
    <p:extLst>
      <p:ext uri="{BB962C8B-B14F-4D97-AF65-F5344CB8AC3E}">
        <p14:creationId xmlns:p14="http://schemas.microsoft.com/office/powerpoint/2010/main" val="15113021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r>
              <a:rPr lang="fr-BF"/>
              <a:t>17/01/2019</a:t>
            </a:r>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18B577B-21D4-4A14-8495-7809D2E37253}" type="slidenum">
              <a:rPr lang="fr-FR" smtClean="0"/>
              <a:t>‹N°›</a:t>
            </a:fld>
            <a:endParaRPr lang="fr-FR"/>
          </a:p>
        </p:txBody>
      </p:sp>
    </p:spTree>
    <p:extLst>
      <p:ext uri="{BB962C8B-B14F-4D97-AF65-F5344CB8AC3E}">
        <p14:creationId xmlns:p14="http://schemas.microsoft.com/office/powerpoint/2010/main" val="26427857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r>
              <a:rPr lang="fr-BF"/>
              <a:t>17/01/2019</a:t>
            </a:r>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918B577B-21D4-4A14-8495-7809D2E37253}" type="slidenum">
              <a:rPr lang="fr-FR" smtClean="0"/>
              <a:t>‹N°›</a:t>
            </a:fld>
            <a:endParaRPr lang="fr-FR"/>
          </a:p>
        </p:txBody>
      </p:sp>
    </p:spTree>
    <p:extLst>
      <p:ext uri="{BB962C8B-B14F-4D97-AF65-F5344CB8AC3E}">
        <p14:creationId xmlns:p14="http://schemas.microsoft.com/office/powerpoint/2010/main" val="21853942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r>
              <a:rPr lang="fr-BF"/>
              <a:t>17/01/2019</a:t>
            </a:r>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918B577B-21D4-4A14-8495-7809D2E37253}" type="slidenum">
              <a:rPr lang="fr-FR" smtClean="0"/>
              <a:t>‹N°›</a:t>
            </a:fld>
            <a:endParaRPr lang="fr-FR"/>
          </a:p>
        </p:txBody>
      </p:sp>
    </p:spTree>
    <p:extLst>
      <p:ext uri="{BB962C8B-B14F-4D97-AF65-F5344CB8AC3E}">
        <p14:creationId xmlns:p14="http://schemas.microsoft.com/office/powerpoint/2010/main" val="29719006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r>
              <a:rPr lang="fr-BF"/>
              <a:t>17/01/2019</a:t>
            </a:r>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918B577B-21D4-4A14-8495-7809D2E37253}" type="slidenum">
              <a:rPr lang="fr-FR" smtClean="0"/>
              <a:t>‹N°›</a:t>
            </a:fld>
            <a:endParaRPr lang="fr-FR"/>
          </a:p>
        </p:txBody>
      </p:sp>
    </p:spTree>
    <p:extLst>
      <p:ext uri="{BB962C8B-B14F-4D97-AF65-F5344CB8AC3E}">
        <p14:creationId xmlns:p14="http://schemas.microsoft.com/office/powerpoint/2010/main" val="10978255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r>
              <a:rPr lang="fr-BF"/>
              <a:t>17/01/2019</a:t>
            </a:r>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18B577B-21D4-4A14-8495-7809D2E37253}" type="slidenum">
              <a:rPr lang="fr-FR" smtClean="0"/>
              <a:t>‹N°›</a:t>
            </a:fld>
            <a:endParaRPr lang="fr-FR"/>
          </a:p>
        </p:txBody>
      </p:sp>
    </p:spTree>
    <p:extLst>
      <p:ext uri="{BB962C8B-B14F-4D97-AF65-F5344CB8AC3E}">
        <p14:creationId xmlns:p14="http://schemas.microsoft.com/office/powerpoint/2010/main" val="36425843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r>
              <a:rPr lang="fr-BF"/>
              <a:t>17/01/2019</a:t>
            </a:r>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18B577B-21D4-4A14-8495-7809D2E37253}" type="slidenum">
              <a:rPr lang="fr-FR" smtClean="0"/>
              <a:t>‹N°›</a:t>
            </a:fld>
            <a:endParaRPr lang="fr-FR"/>
          </a:p>
        </p:txBody>
      </p:sp>
    </p:spTree>
    <p:extLst>
      <p:ext uri="{BB962C8B-B14F-4D97-AF65-F5344CB8AC3E}">
        <p14:creationId xmlns:p14="http://schemas.microsoft.com/office/powerpoint/2010/main" val="16544179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r>
              <a:rPr lang="fr-BF"/>
              <a:t>17/01/2019</a:t>
            </a:r>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18B577B-21D4-4A14-8495-7809D2E37253}" type="slidenum">
              <a:rPr lang="fr-FR" smtClean="0"/>
              <a:t>‹N°›</a:t>
            </a:fld>
            <a:endParaRPr lang="fr-FR"/>
          </a:p>
        </p:txBody>
      </p:sp>
    </p:spTree>
    <p:extLst>
      <p:ext uri="{BB962C8B-B14F-4D97-AF65-F5344CB8AC3E}">
        <p14:creationId xmlns:p14="http://schemas.microsoft.com/office/powerpoint/2010/main" val="32266984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r>
              <a:rPr lang="fr-BF"/>
              <a:t>17/01/2019</a:t>
            </a:r>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18B577B-21D4-4A14-8495-7809D2E37253}" type="slidenum">
              <a:rPr lang="fr-FR" smtClean="0"/>
              <a:t>‹N°›</a:t>
            </a:fld>
            <a:endParaRPr lang="fr-FR"/>
          </a:p>
        </p:txBody>
      </p:sp>
    </p:spTree>
    <p:extLst>
      <p:ext uri="{BB962C8B-B14F-4D97-AF65-F5344CB8AC3E}">
        <p14:creationId xmlns:p14="http://schemas.microsoft.com/office/powerpoint/2010/main" val="32165865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r>
              <a:rPr lang="en-US"/>
              <a:t>17/01/2019</a:t>
            </a:r>
            <a:endParaRPr lang="fr-FR"/>
          </a:p>
        </p:txBody>
      </p:sp>
      <p:sp>
        <p:nvSpPr>
          <p:cNvPr id="5" name="Espace réservé du pied de page 4"/>
          <p:cNvSpPr>
            <a:spLocks noGrp="1"/>
          </p:cNvSpPr>
          <p:nvPr>
            <p:ph type="ftr" sz="quarter" idx="11"/>
          </p:nvPr>
        </p:nvSpPr>
        <p:spPr/>
        <p:txBody>
          <a:bodyPr/>
          <a:lstStyle/>
          <a:p>
            <a:r>
              <a:rPr lang="fr-FR"/>
              <a:t>Rapport public 2023 de l’ASCE-LC </a:t>
            </a:r>
          </a:p>
        </p:txBody>
      </p:sp>
      <p:sp>
        <p:nvSpPr>
          <p:cNvPr id="6" name="Espace réservé du numéro de diapositive 5"/>
          <p:cNvSpPr>
            <a:spLocks noGrp="1"/>
          </p:cNvSpPr>
          <p:nvPr>
            <p:ph type="sldNum" sz="quarter" idx="12"/>
          </p:nvPr>
        </p:nvSpPr>
        <p:spPr/>
        <p:txBody>
          <a:bodyPr/>
          <a:lstStyle/>
          <a:p>
            <a:fld id="{918B577B-21D4-4A14-8495-7809D2E37253}" type="slidenum">
              <a:rPr lang="fr-FR" smtClean="0"/>
              <a:t>‹N°›</a:t>
            </a:fld>
            <a:endParaRPr lang="fr-FR"/>
          </a:p>
        </p:txBody>
      </p:sp>
    </p:spTree>
    <p:extLst>
      <p:ext uri="{BB962C8B-B14F-4D97-AF65-F5344CB8AC3E}">
        <p14:creationId xmlns:p14="http://schemas.microsoft.com/office/powerpoint/2010/main" val="27508494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hasCustomPrompt="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r>
              <a:rPr lang="en-US"/>
              <a:t>17/01/2019</a:t>
            </a:r>
            <a:endParaRPr lang="fr-FR"/>
          </a:p>
        </p:txBody>
      </p:sp>
      <p:sp>
        <p:nvSpPr>
          <p:cNvPr id="5" name="Espace réservé du pied de page 4"/>
          <p:cNvSpPr>
            <a:spLocks noGrp="1"/>
          </p:cNvSpPr>
          <p:nvPr>
            <p:ph type="ftr" sz="quarter" idx="11"/>
          </p:nvPr>
        </p:nvSpPr>
        <p:spPr/>
        <p:txBody>
          <a:bodyPr/>
          <a:lstStyle/>
          <a:p>
            <a:r>
              <a:rPr lang="fr-FR"/>
              <a:t>Rapport public 2023 de l’ASCE-LC </a:t>
            </a:r>
          </a:p>
        </p:txBody>
      </p:sp>
      <p:sp>
        <p:nvSpPr>
          <p:cNvPr id="6" name="Espace réservé du numéro de diapositive 5"/>
          <p:cNvSpPr>
            <a:spLocks noGrp="1"/>
          </p:cNvSpPr>
          <p:nvPr>
            <p:ph type="sldNum" sz="quarter" idx="12"/>
          </p:nvPr>
        </p:nvSpPr>
        <p:spPr/>
        <p:txBody>
          <a:bodyPr/>
          <a:lstStyle/>
          <a:p>
            <a:fld id="{918B577B-21D4-4A14-8495-7809D2E37253}" type="slidenum">
              <a:rPr lang="fr-FR" smtClean="0"/>
              <a:t>‹N°›</a:t>
            </a:fld>
            <a:endParaRPr lang="fr-FR"/>
          </a:p>
        </p:txBody>
      </p:sp>
    </p:spTree>
    <p:extLst>
      <p:ext uri="{BB962C8B-B14F-4D97-AF65-F5344CB8AC3E}">
        <p14:creationId xmlns:p14="http://schemas.microsoft.com/office/powerpoint/2010/main" val="2068522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r>
              <a:rPr lang="en-US"/>
              <a:t>17/01/2019</a:t>
            </a:r>
            <a:endParaRPr lang="fr-FR"/>
          </a:p>
        </p:txBody>
      </p:sp>
      <p:sp>
        <p:nvSpPr>
          <p:cNvPr id="5" name="Espace réservé du pied de page 4"/>
          <p:cNvSpPr>
            <a:spLocks noGrp="1"/>
          </p:cNvSpPr>
          <p:nvPr>
            <p:ph type="ftr" sz="quarter" idx="11"/>
          </p:nvPr>
        </p:nvSpPr>
        <p:spPr/>
        <p:txBody>
          <a:bodyPr/>
          <a:lstStyle/>
          <a:p>
            <a:r>
              <a:rPr lang="fr-FR"/>
              <a:t>Rapport public 2023 de l’ASCE-LC </a:t>
            </a:r>
          </a:p>
        </p:txBody>
      </p:sp>
      <p:sp>
        <p:nvSpPr>
          <p:cNvPr id="6" name="Espace réservé du numéro de diapositive 5"/>
          <p:cNvSpPr>
            <a:spLocks noGrp="1"/>
          </p:cNvSpPr>
          <p:nvPr>
            <p:ph type="sldNum" sz="quarter" idx="12"/>
          </p:nvPr>
        </p:nvSpPr>
        <p:spPr/>
        <p:txBody>
          <a:bodyPr/>
          <a:lstStyle/>
          <a:p>
            <a:fld id="{918B577B-21D4-4A14-8495-7809D2E37253}" type="slidenum">
              <a:rPr lang="fr-FR" smtClean="0"/>
              <a:t>‹N°›</a:t>
            </a:fld>
            <a:endParaRPr lang="fr-FR"/>
          </a:p>
        </p:txBody>
      </p:sp>
    </p:spTree>
    <p:extLst>
      <p:ext uri="{BB962C8B-B14F-4D97-AF65-F5344CB8AC3E}">
        <p14:creationId xmlns:p14="http://schemas.microsoft.com/office/powerpoint/2010/main" val="2223937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hasCustomPrompt="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hasCustomPrompt="1"/>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r>
              <a:rPr lang="en-US"/>
              <a:t>17/01/2019</a:t>
            </a:r>
            <a:endParaRPr lang="fr-FR"/>
          </a:p>
        </p:txBody>
      </p:sp>
      <p:sp>
        <p:nvSpPr>
          <p:cNvPr id="6" name="Espace réservé du pied de page 5"/>
          <p:cNvSpPr>
            <a:spLocks noGrp="1"/>
          </p:cNvSpPr>
          <p:nvPr>
            <p:ph type="ftr" sz="quarter" idx="11"/>
          </p:nvPr>
        </p:nvSpPr>
        <p:spPr/>
        <p:txBody>
          <a:bodyPr/>
          <a:lstStyle/>
          <a:p>
            <a:r>
              <a:rPr lang="fr-FR"/>
              <a:t>Rapport public 2023 de l’ASCE-LC </a:t>
            </a:r>
          </a:p>
        </p:txBody>
      </p:sp>
      <p:sp>
        <p:nvSpPr>
          <p:cNvPr id="7" name="Espace réservé du numéro de diapositive 6"/>
          <p:cNvSpPr>
            <a:spLocks noGrp="1"/>
          </p:cNvSpPr>
          <p:nvPr>
            <p:ph type="sldNum" sz="quarter" idx="12"/>
          </p:nvPr>
        </p:nvSpPr>
        <p:spPr/>
        <p:txBody>
          <a:bodyPr/>
          <a:lstStyle/>
          <a:p>
            <a:fld id="{918B577B-21D4-4A14-8495-7809D2E37253}" type="slidenum">
              <a:rPr lang="fr-FR" smtClean="0"/>
              <a:t>‹N°›</a:t>
            </a:fld>
            <a:endParaRPr lang="fr-FR"/>
          </a:p>
        </p:txBody>
      </p:sp>
    </p:spTree>
    <p:extLst>
      <p:ext uri="{BB962C8B-B14F-4D97-AF65-F5344CB8AC3E}">
        <p14:creationId xmlns:p14="http://schemas.microsoft.com/office/powerpoint/2010/main" val="27948245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hasCustomPrompt="1"/>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hasCustomPrompt="1"/>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r>
              <a:rPr lang="en-US"/>
              <a:t>17/01/2019</a:t>
            </a:r>
            <a:endParaRPr lang="fr-FR"/>
          </a:p>
        </p:txBody>
      </p:sp>
      <p:sp>
        <p:nvSpPr>
          <p:cNvPr id="8" name="Espace réservé du pied de page 7"/>
          <p:cNvSpPr>
            <a:spLocks noGrp="1"/>
          </p:cNvSpPr>
          <p:nvPr>
            <p:ph type="ftr" sz="quarter" idx="11"/>
          </p:nvPr>
        </p:nvSpPr>
        <p:spPr/>
        <p:txBody>
          <a:bodyPr/>
          <a:lstStyle/>
          <a:p>
            <a:r>
              <a:rPr lang="fr-FR"/>
              <a:t>Rapport public 2023 de l’ASCE-LC </a:t>
            </a:r>
          </a:p>
        </p:txBody>
      </p:sp>
      <p:sp>
        <p:nvSpPr>
          <p:cNvPr id="9" name="Espace réservé du numéro de diapositive 8"/>
          <p:cNvSpPr>
            <a:spLocks noGrp="1"/>
          </p:cNvSpPr>
          <p:nvPr>
            <p:ph type="sldNum" sz="quarter" idx="12"/>
          </p:nvPr>
        </p:nvSpPr>
        <p:spPr/>
        <p:txBody>
          <a:bodyPr/>
          <a:lstStyle/>
          <a:p>
            <a:fld id="{918B577B-21D4-4A14-8495-7809D2E37253}" type="slidenum">
              <a:rPr lang="fr-FR" smtClean="0"/>
              <a:t>‹N°›</a:t>
            </a:fld>
            <a:endParaRPr lang="fr-FR"/>
          </a:p>
        </p:txBody>
      </p:sp>
    </p:spTree>
    <p:extLst>
      <p:ext uri="{BB962C8B-B14F-4D97-AF65-F5344CB8AC3E}">
        <p14:creationId xmlns:p14="http://schemas.microsoft.com/office/powerpoint/2010/main" val="20771997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r>
              <a:rPr lang="en-US"/>
              <a:t>17/01/2019</a:t>
            </a:r>
            <a:endParaRPr lang="fr-FR"/>
          </a:p>
        </p:txBody>
      </p:sp>
      <p:sp>
        <p:nvSpPr>
          <p:cNvPr id="4" name="Espace réservé du pied de page 3"/>
          <p:cNvSpPr>
            <a:spLocks noGrp="1"/>
          </p:cNvSpPr>
          <p:nvPr>
            <p:ph type="ftr" sz="quarter" idx="11"/>
          </p:nvPr>
        </p:nvSpPr>
        <p:spPr/>
        <p:txBody>
          <a:bodyPr/>
          <a:lstStyle/>
          <a:p>
            <a:r>
              <a:rPr lang="fr-FR"/>
              <a:t>Rapport public 2023 de l’ASCE-LC </a:t>
            </a:r>
          </a:p>
        </p:txBody>
      </p:sp>
      <p:sp>
        <p:nvSpPr>
          <p:cNvPr id="5" name="Espace réservé du numéro de diapositive 4"/>
          <p:cNvSpPr>
            <a:spLocks noGrp="1"/>
          </p:cNvSpPr>
          <p:nvPr>
            <p:ph type="sldNum" sz="quarter" idx="12"/>
          </p:nvPr>
        </p:nvSpPr>
        <p:spPr/>
        <p:txBody>
          <a:bodyPr/>
          <a:lstStyle/>
          <a:p>
            <a:fld id="{918B577B-21D4-4A14-8495-7809D2E37253}" type="slidenum">
              <a:rPr lang="fr-FR" smtClean="0"/>
              <a:t>‹N°›</a:t>
            </a:fld>
            <a:endParaRPr lang="fr-FR"/>
          </a:p>
        </p:txBody>
      </p:sp>
    </p:spTree>
    <p:extLst>
      <p:ext uri="{BB962C8B-B14F-4D97-AF65-F5344CB8AC3E}">
        <p14:creationId xmlns:p14="http://schemas.microsoft.com/office/powerpoint/2010/main" val="15332442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r>
              <a:rPr lang="en-US"/>
              <a:t>17/01/2019</a:t>
            </a:r>
            <a:endParaRPr lang="fr-FR"/>
          </a:p>
        </p:txBody>
      </p:sp>
      <p:sp>
        <p:nvSpPr>
          <p:cNvPr id="3" name="Espace réservé du pied de page 2"/>
          <p:cNvSpPr>
            <a:spLocks noGrp="1"/>
          </p:cNvSpPr>
          <p:nvPr>
            <p:ph type="ftr" sz="quarter" idx="11"/>
          </p:nvPr>
        </p:nvSpPr>
        <p:spPr/>
        <p:txBody>
          <a:bodyPr/>
          <a:lstStyle/>
          <a:p>
            <a:r>
              <a:rPr lang="fr-FR"/>
              <a:t>Rapport public 2023 de l’ASCE-LC </a:t>
            </a:r>
          </a:p>
        </p:txBody>
      </p:sp>
      <p:sp>
        <p:nvSpPr>
          <p:cNvPr id="4" name="Espace réservé du numéro de diapositive 3"/>
          <p:cNvSpPr>
            <a:spLocks noGrp="1"/>
          </p:cNvSpPr>
          <p:nvPr>
            <p:ph type="sldNum" sz="quarter" idx="12"/>
          </p:nvPr>
        </p:nvSpPr>
        <p:spPr/>
        <p:txBody>
          <a:bodyPr/>
          <a:lstStyle/>
          <a:p>
            <a:fld id="{918B577B-21D4-4A14-8495-7809D2E37253}" type="slidenum">
              <a:rPr lang="fr-FR" smtClean="0"/>
              <a:t>‹N°›</a:t>
            </a:fld>
            <a:endParaRPr lang="fr-FR"/>
          </a:p>
        </p:txBody>
      </p:sp>
    </p:spTree>
    <p:extLst>
      <p:ext uri="{BB962C8B-B14F-4D97-AF65-F5344CB8AC3E}">
        <p14:creationId xmlns:p14="http://schemas.microsoft.com/office/powerpoint/2010/main" val="41605914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r>
              <a:rPr lang="en-US"/>
              <a:t>17/01/2019</a:t>
            </a:r>
            <a:endParaRPr lang="fr-FR"/>
          </a:p>
        </p:txBody>
      </p:sp>
      <p:sp>
        <p:nvSpPr>
          <p:cNvPr id="6" name="Espace réservé du pied de page 5"/>
          <p:cNvSpPr>
            <a:spLocks noGrp="1"/>
          </p:cNvSpPr>
          <p:nvPr>
            <p:ph type="ftr" sz="quarter" idx="11"/>
          </p:nvPr>
        </p:nvSpPr>
        <p:spPr/>
        <p:txBody>
          <a:bodyPr/>
          <a:lstStyle/>
          <a:p>
            <a:r>
              <a:rPr lang="fr-FR"/>
              <a:t>Rapport public 2023 de l’ASCE-LC </a:t>
            </a:r>
          </a:p>
        </p:txBody>
      </p:sp>
      <p:sp>
        <p:nvSpPr>
          <p:cNvPr id="7" name="Espace réservé du numéro de diapositive 6"/>
          <p:cNvSpPr>
            <a:spLocks noGrp="1"/>
          </p:cNvSpPr>
          <p:nvPr>
            <p:ph type="sldNum" sz="quarter" idx="12"/>
          </p:nvPr>
        </p:nvSpPr>
        <p:spPr/>
        <p:txBody>
          <a:bodyPr/>
          <a:lstStyle/>
          <a:p>
            <a:fld id="{918B577B-21D4-4A14-8495-7809D2E37253}" type="slidenum">
              <a:rPr lang="fr-FR" smtClean="0"/>
              <a:t>‹N°›</a:t>
            </a:fld>
            <a:endParaRPr lang="fr-FR"/>
          </a:p>
        </p:txBody>
      </p:sp>
    </p:spTree>
    <p:extLst>
      <p:ext uri="{BB962C8B-B14F-4D97-AF65-F5344CB8AC3E}">
        <p14:creationId xmlns:p14="http://schemas.microsoft.com/office/powerpoint/2010/main" val="6990449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r>
              <a:rPr lang="en-US"/>
              <a:t>17/01/2019</a:t>
            </a:r>
            <a:endParaRPr lang="fr-FR"/>
          </a:p>
        </p:txBody>
      </p:sp>
      <p:sp>
        <p:nvSpPr>
          <p:cNvPr id="6" name="Espace réservé du pied de page 5"/>
          <p:cNvSpPr>
            <a:spLocks noGrp="1"/>
          </p:cNvSpPr>
          <p:nvPr>
            <p:ph type="ftr" sz="quarter" idx="11"/>
          </p:nvPr>
        </p:nvSpPr>
        <p:spPr/>
        <p:txBody>
          <a:bodyPr/>
          <a:lstStyle/>
          <a:p>
            <a:r>
              <a:rPr lang="fr-FR"/>
              <a:t>Rapport public 2023 de l’ASCE-LC </a:t>
            </a:r>
          </a:p>
        </p:txBody>
      </p:sp>
      <p:sp>
        <p:nvSpPr>
          <p:cNvPr id="7" name="Espace réservé du numéro de diapositive 6"/>
          <p:cNvSpPr>
            <a:spLocks noGrp="1"/>
          </p:cNvSpPr>
          <p:nvPr>
            <p:ph type="sldNum" sz="quarter" idx="12"/>
          </p:nvPr>
        </p:nvSpPr>
        <p:spPr/>
        <p:txBody>
          <a:bodyPr/>
          <a:lstStyle/>
          <a:p>
            <a:fld id="{918B577B-21D4-4A14-8495-7809D2E37253}" type="slidenum">
              <a:rPr lang="fr-FR" smtClean="0"/>
              <a:t>‹N°›</a:t>
            </a:fld>
            <a:endParaRPr lang="fr-FR"/>
          </a:p>
        </p:txBody>
      </p:sp>
    </p:spTree>
    <p:extLst>
      <p:ext uri="{BB962C8B-B14F-4D97-AF65-F5344CB8AC3E}">
        <p14:creationId xmlns:p14="http://schemas.microsoft.com/office/powerpoint/2010/main" val="15425192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hasCustomPrompt="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r>
              <a:rPr lang="en-US"/>
              <a:t>17/01/2019</a:t>
            </a:r>
            <a:endParaRPr lang="fr-FR"/>
          </a:p>
        </p:txBody>
      </p:sp>
      <p:sp>
        <p:nvSpPr>
          <p:cNvPr id="5" name="Espace réservé du pied de page 4"/>
          <p:cNvSpPr>
            <a:spLocks noGrp="1"/>
          </p:cNvSpPr>
          <p:nvPr>
            <p:ph type="ftr" sz="quarter" idx="11"/>
          </p:nvPr>
        </p:nvSpPr>
        <p:spPr/>
        <p:txBody>
          <a:bodyPr/>
          <a:lstStyle/>
          <a:p>
            <a:r>
              <a:rPr lang="fr-FR"/>
              <a:t>Rapport public 2023 de l’ASCE-LC </a:t>
            </a:r>
          </a:p>
        </p:txBody>
      </p:sp>
      <p:sp>
        <p:nvSpPr>
          <p:cNvPr id="6" name="Espace réservé du numéro de diapositive 5"/>
          <p:cNvSpPr>
            <a:spLocks noGrp="1"/>
          </p:cNvSpPr>
          <p:nvPr>
            <p:ph type="sldNum" sz="quarter" idx="12"/>
          </p:nvPr>
        </p:nvSpPr>
        <p:spPr/>
        <p:txBody>
          <a:bodyPr/>
          <a:lstStyle/>
          <a:p>
            <a:fld id="{918B577B-21D4-4A14-8495-7809D2E37253}" type="slidenum">
              <a:rPr lang="fr-FR" smtClean="0"/>
              <a:t>‹N°›</a:t>
            </a:fld>
            <a:endParaRPr lang="fr-FR"/>
          </a:p>
        </p:txBody>
      </p:sp>
    </p:spTree>
    <p:extLst>
      <p:ext uri="{BB962C8B-B14F-4D97-AF65-F5344CB8AC3E}">
        <p14:creationId xmlns:p14="http://schemas.microsoft.com/office/powerpoint/2010/main" val="35235935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hasCustomPrompt="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r>
              <a:rPr lang="en-US"/>
              <a:t>17/01/2019</a:t>
            </a:r>
            <a:endParaRPr lang="fr-FR"/>
          </a:p>
        </p:txBody>
      </p:sp>
      <p:sp>
        <p:nvSpPr>
          <p:cNvPr id="5" name="Espace réservé du pied de page 4"/>
          <p:cNvSpPr>
            <a:spLocks noGrp="1"/>
          </p:cNvSpPr>
          <p:nvPr>
            <p:ph type="ftr" sz="quarter" idx="11"/>
          </p:nvPr>
        </p:nvSpPr>
        <p:spPr/>
        <p:txBody>
          <a:bodyPr/>
          <a:lstStyle/>
          <a:p>
            <a:r>
              <a:rPr lang="fr-FR"/>
              <a:t>Rapport public 2023 de l’ASCE-LC </a:t>
            </a:r>
          </a:p>
        </p:txBody>
      </p:sp>
      <p:sp>
        <p:nvSpPr>
          <p:cNvPr id="6" name="Espace réservé du numéro de diapositive 5"/>
          <p:cNvSpPr>
            <a:spLocks noGrp="1"/>
          </p:cNvSpPr>
          <p:nvPr>
            <p:ph type="sldNum" sz="quarter" idx="12"/>
          </p:nvPr>
        </p:nvSpPr>
        <p:spPr/>
        <p:txBody>
          <a:bodyPr/>
          <a:lstStyle/>
          <a:p>
            <a:fld id="{918B577B-21D4-4A14-8495-7809D2E37253}" type="slidenum">
              <a:rPr lang="fr-FR" smtClean="0"/>
              <a:t>‹N°›</a:t>
            </a:fld>
            <a:endParaRPr lang="fr-FR"/>
          </a:p>
        </p:txBody>
      </p:sp>
    </p:spTree>
    <p:extLst>
      <p:ext uri="{BB962C8B-B14F-4D97-AF65-F5344CB8AC3E}">
        <p14:creationId xmlns:p14="http://schemas.microsoft.com/office/powerpoint/2010/main" val="6782791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Espace réservé de la date 3"/>
          <p:cNvSpPr>
            <a:spLocks noGrp="1"/>
          </p:cNvSpPr>
          <p:nvPr>
            <p:ph type="dt" sz="half" idx="10"/>
          </p:nvPr>
        </p:nvSpPr>
        <p:spPr/>
        <p:txBody>
          <a:bodyPr/>
          <a:lstStyle/>
          <a:p>
            <a:fld id="{90CA3AD4-ADB5-4F2C-A135-11D4E0916189}" type="datetime1">
              <a:rPr lang="en-US" smtClean="0"/>
              <a:t>12/8/2025</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164DBC95-C36E-458F-B8E0-48B8BD4AEF6C}" type="slidenum">
              <a:rPr lang="en-US" smtClean="0"/>
              <a:t>‹N°›</a:t>
            </a:fld>
            <a:endParaRPr lang="en-US"/>
          </a:p>
        </p:txBody>
      </p:sp>
    </p:spTree>
    <p:extLst>
      <p:ext uri="{BB962C8B-B14F-4D97-AF65-F5344CB8AC3E}">
        <p14:creationId xmlns:p14="http://schemas.microsoft.com/office/powerpoint/2010/main" val="26992978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idx="1" hasCustomPrompt="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p:cNvSpPr>
            <a:spLocks noGrp="1"/>
          </p:cNvSpPr>
          <p:nvPr>
            <p:ph type="dt" sz="half" idx="10"/>
          </p:nvPr>
        </p:nvSpPr>
        <p:spPr/>
        <p:txBody>
          <a:bodyPr/>
          <a:lstStyle/>
          <a:p>
            <a:fld id="{F3521EF8-39FF-4905-BDD0-04FE01A1DAA7}" type="datetime1">
              <a:rPr lang="en-US" smtClean="0"/>
              <a:t>12/8/2025</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164DBC95-C36E-458F-B8E0-48B8BD4AEF6C}" type="slidenum">
              <a:rPr lang="en-US" smtClean="0"/>
              <a:t>‹N°›</a:t>
            </a:fld>
            <a:endParaRPr lang="en-US"/>
          </a:p>
        </p:txBody>
      </p:sp>
    </p:spTree>
    <p:extLst>
      <p:ext uri="{BB962C8B-B14F-4D97-AF65-F5344CB8AC3E}">
        <p14:creationId xmlns:p14="http://schemas.microsoft.com/office/powerpoint/2010/main" val="40035483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Espace réservé du texte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25EE97E9-C8D6-4E47-8C62-70513EA75ADE}" type="datetime1">
              <a:rPr lang="en-US" smtClean="0"/>
              <a:t>12/8/2025</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164DBC95-C36E-458F-B8E0-48B8BD4AEF6C}" type="slidenum">
              <a:rPr lang="en-US" smtClean="0"/>
              <a:t>‹N°›</a:t>
            </a:fld>
            <a:endParaRPr lang="en-US"/>
          </a:p>
        </p:txBody>
      </p:sp>
    </p:spTree>
    <p:extLst>
      <p:ext uri="{BB962C8B-B14F-4D97-AF65-F5344CB8AC3E}">
        <p14:creationId xmlns:p14="http://schemas.microsoft.com/office/powerpoint/2010/main" val="10585405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sz="half" idx="1" hasCustomPrompt="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p:cNvSpPr>
            <a:spLocks noGrp="1"/>
          </p:cNvSpPr>
          <p:nvPr>
            <p:ph sz="half" idx="2" hasCustomPrompt="1"/>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4"/>
          <p:cNvSpPr>
            <a:spLocks noGrp="1"/>
          </p:cNvSpPr>
          <p:nvPr>
            <p:ph type="dt" sz="half" idx="10"/>
          </p:nvPr>
        </p:nvSpPr>
        <p:spPr/>
        <p:txBody>
          <a:bodyPr/>
          <a:lstStyle/>
          <a:p>
            <a:fld id="{9BA68530-5981-4B22-BD61-10BBF7126D65}" type="datetime1">
              <a:rPr lang="en-US" smtClean="0"/>
              <a:t>12/8/2025</a:t>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164DBC95-C36E-458F-B8E0-48B8BD4AEF6C}" type="slidenum">
              <a:rPr lang="en-US" smtClean="0"/>
              <a:t>‹N°›</a:t>
            </a:fld>
            <a:endParaRPr lang="en-US"/>
          </a:p>
        </p:txBody>
      </p:sp>
    </p:spTree>
    <p:extLst>
      <p:ext uri="{BB962C8B-B14F-4D97-AF65-F5344CB8AC3E}">
        <p14:creationId xmlns:p14="http://schemas.microsoft.com/office/powerpoint/2010/main" val="87273916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Espace réservé du texte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hasCustomPrompt="1"/>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hasCustomPrompt="1"/>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6"/>
          <p:cNvSpPr>
            <a:spLocks noGrp="1"/>
          </p:cNvSpPr>
          <p:nvPr>
            <p:ph type="dt" sz="half" idx="10"/>
          </p:nvPr>
        </p:nvSpPr>
        <p:spPr/>
        <p:txBody>
          <a:bodyPr/>
          <a:lstStyle/>
          <a:p>
            <a:fld id="{58C415D8-D96F-4984-BED6-35C042E724C8}" type="datetime1">
              <a:rPr lang="en-US" smtClean="0"/>
              <a:t>12/8/2025</a:t>
            </a:fld>
            <a:endParaRPr lang="en-US"/>
          </a:p>
        </p:txBody>
      </p:sp>
      <p:sp>
        <p:nvSpPr>
          <p:cNvPr id="8" name="Espace réservé du pied de page 7"/>
          <p:cNvSpPr>
            <a:spLocks noGrp="1"/>
          </p:cNvSpPr>
          <p:nvPr>
            <p:ph type="ftr" sz="quarter" idx="11"/>
          </p:nvPr>
        </p:nvSpPr>
        <p:spPr/>
        <p:txBody>
          <a:bodyPr/>
          <a:lstStyle/>
          <a:p>
            <a:endParaRPr lang="en-US"/>
          </a:p>
        </p:txBody>
      </p:sp>
      <p:sp>
        <p:nvSpPr>
          <p:cNvPr id="9" name="Espace réservé du numéro de diapositive 8"/>
          <p:cNvSpPr>
            <a:spLocks noGrp="1"/>
          </p:cNvSpPr>
          <p:nvPr>
            <p:ph type="sldNum" sz="quarter" idx="12"/>
          </p:nvPr>
        </p:nvSpPr>
        <p:spPr/>
        <p:txBody>
          <a:bodyPr/>
          <a:lstStyle/>
          <a:p>
            <a:fld id="{164DBC95-C36E-458F-B8E0-48B8BD4AEF6C}" type="slidenum">
              <a:rPr lang="en-US" smtClean="0"/>
              <a:t>‹N°›</a:t>
            </a:fld>
            <a:endParaRPr lang="en-US"/>
          </a:p>
        </p:txBody>
      </p:sp>
    </p:spTree>
    <p:extLst>
      <p:ext uri="{BB962C8B-B14F-4D97-AF65-F5344CB8AC3E}">
        <p14:creationId xmlns:p14="http://schemas.microsoft.com/office/powerpoint/2010/main" val="60757148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e la date 2"/>
          <p:cNvSpPr>
            <a:spLocks noGrp="1"/>
          </p:cNvSpPr>
          <p:nvPr>
            <p:ph type="dt" sz="half" idx="10"/>
          </p:nvPr>
        </p:nvSpPr>
        <p:spPr/>
        <p:txBody>
          <a:bodyPr/>
          <a:lstStyle/>
          <a:p>
            <a:fld id="{DE986F87-EB8A-4CAD-ABE8-505171C0078F}" type="datetime1">
              <a:rPr lang="en-US" smtClean="0"/>
              <a:t>12/8/2025</a:t>
            </a:fld>
            <a:endParaRPr lang="en-US"/>
          </a:p>
        </p:txBody>
      </p:sp>
      <p:sp>
        <p:nvSpPr>
          <p:cNvPr id="4" name="Espace réservé du pied de page 3"/>
          <p:cNvSpPr>
            <a:spLocks noGrp="1"/>
          </p:cNvSpPr>
          <p:nvPr>
            <p:ph type="ftr" sz="quarter" idx="11"/>
          </p:nvPr>
        </p:nvSpPr>
        <p:spPr/>
        <p:txBody>
          <a:bodyPr/>
          <a:lstStyle/>
          <a:p>
            <a:endParaRPr lang="en-US"/>
          </a:p>
        </p:txBody>
      </p:sp>
      <p:sp>
        <p:nvSpPr>
          <p:cNvPr id="5" name="Espace réservé du numéro de diapositive 4"/>
          <p:cNvSpPr>
            <a:spLocks noGrp="1"/>
          </p:cNvSpPr>
          <p:nvPr>
            <p:ph type="sldNum" sz="quarter" idx="12"/>
          </p:nvPr>
        </p:nvSpPr>
        <p:spPr/>
        <p:txBody>
          <a:bodyPr/>
          <a:lstStyle/>
          <a:p>
            <a:fld id="{164DBC95-C36E-458F-B8E0-48B8BD4AEF6C}" type="slidenum">
              <a:rPr lang="en-US" smtClean="0"/>
              <a:t>‹N°›</a:t>
            </a:fld>
            <a:endParaRPr lang="en-US"/>
          </a:p>
        </p:txBody>
      </p:sp>
    </p:spTree>
    <p:extLst>
      <p:ext uri="{BB962C8B-B14F-4D97-AF65-F5344CB8AC3E}">
        <p14:creationId xmlns:p14="http://schemas.microsoft.com/office/powerpoint/2010/main" val="62002163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49615DCF-C75A-4776-8108-0F37C2B09F71}" type="datetime1">
              <a:rPr lang="en-US" smtClean="0"/>
              <a:t>12/8/2025</a:t>
            </a:fld>
            <a:endParaRPr lang="en-US"/>
          </a:p>
        </p:txBody>
      </p:sp>
      <p:sp>
        <p:nvSpPr>
          <p:cNvPr id="3" name="Espace réservé du pied de page 2"/>
          <p:cNvSpPr>
            <a:spLocks noGrp="1"/>
          </p:cNvSpPr>
          <p:nvPr>
            <p:ph type="ftr" sz="quarter" idx="11"/>
          </p:nvPr>
        </p:nvSpPr>
        <p:spPr/>
        <p:txBody>
          <a:bodyPr/>
          <a:lstStyle/>
          <a:p>
            <a:endParaRPr lang="en-US"/>
          </a:p>
        </p:txBody>
      </p:sp>
      <p:sp>
        <p:nvSpPr>
          <p:cNvPr id="4" name="Espace réservé du numéro de diapositive 3"/>
          <p:cNvSpPr>
            <a:spLocks noGrp="1"/>
          </p:cNvSpPr>
          <p:nvPr>
            <p:ph type="sldNum" sz="quarter" idx="12"/>
          </p:nvPr>
        </p:nvSpPr>
        <p:spPr/>
        <p:txBody>
          <a:bodyPr/>
          <a:lstStyle/>
          <a:p>
            <a:fld id="{164DBC95-C36E-458F-B8E0-48B8BD4AEF6C}" type="slidenum">
              <a:rPr lang="en-US" smtClean="0"/>
              <a:t>‹N°›</a:t>
            </a:fld>
            <a:endParaRPr lang="en-US"/>
          </a:p>
        </p:txBody>
      </p:sp>
    </p:spTree>
    <p:extLst>
      <p:ext uri="{BB962C8B-B14F-4D97-AF65-F5344CB8AC3E}">
        <p14:creationId xmlns:p14="http://schemas.microsoft.com/office/powerpoint/2010/main" val="392747196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du contenu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E26D3C4E-9624-486E-BA6A-2E76377F0D00}" type="datetime1">
              <a:rPr lang="en-US" smtClean="0"/>
              <a:t>12/8/2025</a:t>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164DBC95-C36E-458F-B8E0-48B8BD4AEF6C}" type="slidenum">
              <a:rPr lang="en-US" smtClean="0"/>
              <a:t>‹N°›</a:t>
            </a:fld>
            <a:endParaRPr lang="en-US"/>
          </a:p>
        </p:txBody>
      </p:sp>
    </p:spTree>
    <p:extLst>
      <p:ext uri="{BB962C8B-B14F-4D97-AF65-F5344CB8AC3E}">
        <p14:creationId xmlns:p14="http://schemas.microsoft.com/office/powerpoint/2010/main" val="2693172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ce réservé du texte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AB79FC29-237A-4CA1-992C-D0E848D203AB}" type="datetime1">
              <a:rPr lang="en-US" smtClean="0"/>
              <a:t>12/8/2025</a:t>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164DBC95-C36E-458F-B8E0-48B8BD4AEF6C}" type="slidenum">
              <a:rPr lang="en-US" smtClean="0"/>
              <a:t>‹N°›</a:t>
            </a:fld>
            <a:endParaRPr lang="en-US"/>
          </a:p>
        </p:txBody>
      </p:sp>
    </p:spTree>
    <p:extLst>
      <p:ext uri="{BB962C8B-B14F-4D97-AF65-F5344CB8AC3E}">
        <p14:creationId xmlns:p14="http://schemas.microsoft.com/office/powerpoint/2010/main" val="912539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texte vertical 2"/>
          <p:cNvSpPr>
            <a:spLocks noGrp="1"/>
          </p:cNvSpPr>
          <p:nvPr>
            <p:ph type="body" orient="vert" idx="1" hasCustomPrompt="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p:cNvSpPr>
            <a:spLocks noGrp="1"/>
          </p:cNvSpPr>
          <p:nvPr>
            <p:ph type="dt" sz="half" idx="10"/>
          </p:nvPr>
        </p:nvSpPr>
        <p:spPr/>
        <p:txBody>
          <a:bodyPr/>
          <a:lstStyle/>
          <a:p>
            <a:fld id="{ED476B2F-C815-44E4-9ADF-F3CB8D11D16E}" type="datetime1">
              <a:rPr lang="en-US" smtClean="0"/>
              <a:t>12/8/2025</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164DBC95-C36E-458F-B8E0-48B8BD4AEF6C}" type="slidenum">
              <a:rPr lang="en-US" smtClean="0"/>
              <a:t>‹N°›</a:t>
            </a:fld>
            <a:endParaRPr lang="en-US"/>
          </a:p>
        </p:txBody>
      </p:sp>
    </p:spTree>
    <p:extLst>
      <p:ext uri="{BB962C8B-B14F-4D97-AF65-F5344CB8AC3E}">
        <p14:creationId xmlns:p14="http://schemas.microsoft.com/office/powerpoint/2010/main" val="389430969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Espace réservé du texte vertical 2"/>
          <p:cNvSpPr>
            <a:spLocks noGrp="1"/>
          </p:cNvSpPr>
          <p:nvPr>
            <p:ph type="body" orient="vert" idx="1" hasCustomPrompt="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p:cNvSpPr>
            <a:spLocks noGrp="1"/>
          </p:cNvSpPr>
          <p:nvPr>
            <p:ph type="dt" sz="half" idx="10"/>
          </p:nvPr>
        </p:nvSpPr>
        <p:spPr/>
        <p:txBody>
          <a:bodyPr/>
          <a:lstStyle/>
          <a:p>
            <a:fld id="{037AE57C-E211-4C5D-A733-7C766DEE71EA}" type="datetime1">
              <a:rPr lang="en-US" smtClean="0"/>
              <a:t>12/8/2025</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164DBC95-C36E-458F-B8E0-48B8BD4AEF6C}" type="slidenum">
              <a:rPr lang="en-US" smtClean="0"/>
              <a:t>‹N°›</a:t>
            </a:fld>
            <a:endParaRPr lang="en-US"/>
          </a:p>
        </p:txBody>
      </p:sp>
    </p:spTree>
    <p:extLst>
      <p:ext uri="{BB962C8B-B14F-4D97-AF65-F5344CB8AC3E}">
        <p14:creationId xmlns:p14="http://schemas.microsoft.com/office/powerpoint/2010/main" val="709554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297AEB5-CAC4-CF01-24D3-1430824DF3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BF"/>
          </a:p>
        </p:txBody>
      </p:sp>
      <p:sp>
        <p:nvSpPr>
          <p:cNvPr id="3" name="Espace réservé du texte 2">
            <a:extLst>
              <a:ext uri="{FF2B5EF4-FFF2-40B4-BE49-F238E27FC236}">
                <a16:creationId xmlns:a16="http://schemas.microsoft.com/office/drawing/2014/main" id="{CA274D81-CDDE-5ED2-E387-D41D1E51F1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F"/>
          </a:p>
        </p:txBody>
      </p:sp>
      <p:sp>
        <p:nvSpPr>
          <p:cNvPr id="4" name="Espace réservé de la date 3">
            <a:extLst>
              <a:ext uri="{FF2B5EF4-FFF2-40B4-BE49-F238E27FC236}">
                <a16:creationId xmlns:a16="http://schemas.microsoft.com/office/drawing/2014/main" id="{127D9485-2806-0427-7077-7E4D17DCAC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fr-BF"/>
              <a:t>17/01/2019</a:t>
            </a:r>
          </a:p>
        </p:txBody>
      </p:sp>
      <p:sp>
        <p:nvSpPr>
          <p:cNvPr id="5" name="Espace réservé du pied de page 4">
            <a:extLst>
              <a:ext uri="{FF2B5EF4-FFF2-40B4-BE49-F238E27FC236}">
                <a16:creationId xmlns:a16="http://schemas.microsoft.com/office/drawing/2014/main" id="{C288022A-371C-DE0A-C038-EC404ABB37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BF"/>
          </a:p>
        </p:txBody>
      </p:sp>
      <p:sp>
        <p:nvSpPr>
          <p:cNvPr id="6" name="Espace réservé du numéro de diapositive 5">
            <a:extLst>
              <a:ext uri="{FF2B5EF4-FFF2-40B4-BE49-F238E27FC236}">
                <a16:creationId xmlns:a16="http://schemas.microsoft.com/office/drawing/2014/main" id="{62A28C64-66D6-2B2A-2130-53C472887D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720458-9E55-46DA-8CB5-35D418CCB611}" type="slidenum">
              <a:rPr lang="fr-BF" smtClean="0"/>
              <a:t>‹N°›</a:t>
            </a:fld>
            <a:endParaRPr lang="fr-BF"/>
          </a:p>
        </p:txBody>
      </p:sp>
    </p:spTree>
    <p:extLst>
      <p:ext uri="{BB962C8B-B14F-4D97-AF65-F5344CB8AC3E}">
        <p14:creationId xmlns:p14="http://schemas.microsoft.com/office/powerpoint/2010/main" val="1128391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BF"/>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fr-BF"/>
              <a:t>17/01/2019</a:t>
            </a:r>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8B577B-21D4-4A14-8495-7809D2E37253}" type="slidenum">
              <a:rPr lang="fr-FR" smtClean="0"/>
              <a:t>‹N°›</a:t>
            </a:fld>
            <a:endParaRPr lang="fr-FR"/>
          </a:p>
        </p:txBody>
      </p:sp>
    </p:spTree>
    <p:extLst>
      <p:ext uri="{BB962C8B-B14F-4D97-AF65-F5344CB8AC3E}">
        <p14:creationId xmlns:p14="http://schemas.microsoft.com/office/powerpoint/2010/main" val="6897842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17/01/2019</a:t>
            </a:r>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a:t>Rapport public 2023 de l’ASCE-LC </a:t>
            </a: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8B577B-21D4-4A14-8495-7809D2E37253}" type="slidenum">
              <a:rPr lang="fr-FR" smtClean="0"/>
              <a:t>‹N°›</a:t>
            </a:fld>
            <a:endParaRPr lang="fr-FR"/>
          </a:p>
        </p:txBody>
      </p:sp>
    </p:spTree>
    <p:extLst>
      <p:ext uri="{BB962C8B-B14F-4D97-AF65-F5344CB8AC3E}">
        <p14:creationId xmlns:p14="http://schemas.microsoft.com/office/powerpoint/2010/main" val="110109116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9F655C-97D2-4CA3-AC7A-5BD7B607E6FE}" type="datetime1">
              <a:rPr lang="en-US" smtClean="0"/>
              <a:t>12/8/2025</a:t>
            </a:fld>
            <a:endParaRPr lang="en-US"/>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4DBC95-C36E-458F-B8E0-48B8BD4AEF6C}" type="slidenum">
              <a:rPr lang="en-US" smtClean="0"/>
              <a:t>‹N°›</a:t>
            </a:fld>
            <a:endParaRPr lang="en-US"/>
          </a:p>
        </p:txBody>
      </p:sp>
    </p:spTree>
    <p:extLst>
      <p:ext uri="{BB962C8B-B14F-4D97-AF65-F5344CB8AC3E}">
        <p14:creationId xmlns:p14="http://schemas.microsoft.com/office/powerpoint/2010/main" val="254537300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3.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5.png"/><Relationship Id="rId7" Type="http://schemas.openxmlformats.org/officeDocument/2006/relationships/diagramLayout" Target="../diagrams/layout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Data" Target="../diagrams/data1.xml"/><Relationship Id="rId5" Type="http://schemas.openxmlformats.org/officeDocument/2006/relationships/image" Target="../media/image6.png"/><Relationship Id="rId10" Type="http://schemas.microsoft.com/office/2007/relationships/diagramDrawing" Target="../diagrams/drawing1.xml"/><Relationship Id="rId4" Type="http://schemas.openxmlformats.org/officeDocument/2006/relationships/image" Target="../media/image4.png"/><Relationship Id="rId9" Type="http://schemas.openxmlformats.org/officeDocument/2006/relationships/diagramColors" Target="../diagrams/colors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6.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40.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Rectangle 17"/>
          <p:cNvSpPr/>
          <p:nvPr/>
        </p:nvSpPr>
        <p:spPr>
          <a:xfrm>
            <a:off x="1601980" y="270146"/>
            <a:ext cx="8360259" cy="10647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dirty="0">
                <a:ln w="0"/>
                <a:solidFill>
                  <a:prstClr val="black"/>
                </a:solidFill>
                <a:effectLst>
                  <a:outerShdw blurRad="38100" dist="38100" dir="2700000" algn="tl">
                    <a:srgbClr val="000000">
                      <a:alpha val="43137"/>
                    </a:srgbClr>
                  </a:outerShdw>
                </a:effectLst>
                <a:uLnTx/>
                <a:uFillTx/>
                <a:latin typeface="Gill Sans MT" panose="020B0502020104020203" pitchFamily="34" charset="0"/>
                <a:ea typeface="+mn-ea"/>
                <a:cs typeface="+mn-cs"/>
              </a:rPr>
              <a:t>AUTORITE SUPERIEURE DE CONTROLE D’ETAT ET DE LUTTE CONTRE LA CORRUPTION</a:t>
            </a:r>
          </a:p>
        </p:txBody>
      </p:sp>
      <p:pic>
        <p:nvPicPr>
          <p:cNvPr id="3" name="Imag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29980" y="295762"/>
            <a:ext cx="1684920" cy="932900"/>
          </a:xfrm>
          <a:prstGeom prst="rect">
            <a:avLst/>
          </a:prstGeom>
        </p:spPr>
      </p:pic>
      <p:sp>
        <p:nvSpPr>
          <p:cNvPr id="2" name="ZoneTexte 1"/>
          <p:cNvSpPr txBox="1"/>
          <p:nvPr/>
        </p:nvSpPr>
        <p:spPr>
          <a:xfrm>
            <a:off x="2271070" y="6177426"/>
            <a:ext cx="7649851" cy="461665"/>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dirty="0">
                <a:ln>
                  <a:noFill/>
                </a:ln>
                <a:solidFill>
                  <a:prstClr val="black"/>
                </a:solidFill>
                <a:effectLst/>
                <a:uLnTx/>
                <a:uFillTx/>
                <a:latin typeface="Viner Hand ITC" panose="03070502030502020203" pitchFamily="66" charset="0"/>
                <a:ea typeface="+mn-ea"/>
                <a:cs typeface="+mn-cs"/>
              </a:rPr>
              <a:t>Au nom de notre intégrité, combattons la corruption !</a:t>
            </a:r>
          </a:p>
        </p:txBody>
      </p:sp>
      <p:pic>
        <p:nvPicPr>
          <p:cNvPr id="4" name="Image 3" descr="Une image contenant cheval, clipart, symbole, illustration&#10;&#10;Le contenu généré par l’IA peut être incorrect."/>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5484" y="277229"/>
            <a:ext cx="1058755" cy="1243447"/>
          </a:xfrm>
          <a:prstGeom prst="rect">
            <a:avLst/>
          </a:prstGeom>
        </p:spPr>
      </p:pic>
      <p:sp>
        <p:nvSpPr>
          <p:cNvPr id="9" name="ZoneTexte 8"/>
          <p:cNvSpPr txBox="1"/>
          <p:nvPr/>
        </p:nvSpPr>
        <p:spPr>
          <a:xfrm>
            <a:off x="3910018" y="5262749"/>
            <a:ext cx="4740206" cy="477500"/>
          </a:xfrm>
          <a:prstGeom prst="foldedCorner">
            <a:avLst/>
          </a:prstGeom>
          <a:noFill/>
          <a:ln>
            <a:noFill/>
            <a:extLst>
              <a:ext uri="{C807C97D-BFC1-408E-A445-0C87EB9F89A2}">
                <ask:lineSketchStyleProps xmlns:ask="http://schemas.microsoft.com/office/drawing/2018/sketchyshapes" xmlns="">
                  <ask:type>
                    <ask:lineSketchNone/>
                  </ask:type>
                </ask:lineSketchStyleProps>
              </a:ext>
            </a:extLst>
          </a:ln>
        </p:spPr>
        <p:txBody>
          <a:bodyPr wrap="square"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dirty="0">
                <a:ln w="0"/>
                <a:solidFill>
                  <a:prstClr val="black"/>
                </a:solidFill>
                <a:effectLst>
                  <a:outerShdw blurRad="38100" dist="19050" dir="2700000" algn="tl" rotWithShape="0">
                    <a:prstClr val="black">
                      <a:alpha val="40000"/>
                    </a:prstClr>
                  </a:outerShdw>
                </a:effectLst>
                <a:highlight>
                  <a:srgbClr val="FFFF00"/>
                </a:highlight>
                <a:uLnTx/>
                <a:uFillTx/>
                <a:latin typeface="Gill Sans MT" panose="020B0502020104020203" pitchFamily="34" charset="0"/>
                <a:ea typeface="+mn-ea"/>
                <a:cs typeface="+mn-cs"/>
              </a:rPr>
              <a:t>Ouagadougou, le 0</a:t>
            </a:r>
            <a:r>
              <a:rPr lang="fr-FR" sz="2000" b="1" dirty="0">
                <a:ln w="0"/>
                <a:solidFill>
                  <a:prstClr val="black"/>
                </a:solidFill>
                <a:effectLst>
                  <a:outerShdw blurRad="38100" dist="19050" dir="2700000" algn="tl" rotWithShape="0">
                    <a:prstClr val="black">
                      <a:alpha val="40000"/>
                    </a:prstClr>
                  </a:outerShdw>
                </a:effectLst>
                <a:highlight>
                  <a:srgbClr val="FFFF00"/>
                </a:highlight>
                <a:latin typeface="Gill Sans MT" panose="020B0502020104020203" pitchFamily="34" charset="0"/>
              </a:rPr>
              <a:t>8 décembre</a:t>
            </a:r>
            <a:r>
              <a:rPr kumimoji="0" lang="fr-FR" sz="2000" b="1" i="0" u="none" strike="noStrike" kern="1200" cap="none" spc="0" normalizeH="0" baseline="0" noProof="0" dirty="0">
                <a:ln w="0"/>
                <a:solidFill>
                  <a:prstClr val="black"/>
                </a:solidFill>
                <a:effectLst>
                  <a:outerShdw blurRad="38100" dist="19050" dir="2700000" algn="tl" rotWithShape="0">
                    <a:prstClr val="black">
                      <a:alpha val="40000"/>
                    </a:prstClr>
                  </a:outerShdw>
                </a:effectLst>
                <a:highlight>
                  <a:srgbClr val="FFFF00"/>
                </a:highlight>
                <a:uLnTx/>
                <a:uFillTx/>
                <a:latin typeface="Gill Sans MT" panose="020B0502020104020203" pitchFamily="34" charset="0"/>
                <a:ea typeface="+mn-ea"/>
                <a:cs typeface="+mn-cs"/>
              </a:rPr>
              <a:t> 2025</a:t>
            </a:r>
          </a:p>
        </p:txBody>
      </p:sp>
      <p:sp>
        <p:nvSpPr>
          <p:cNvPr id="19" name="CustomShape 2"/>
          <p:cNvSpPr/>
          <p:nvPr/>
        </p:nvSpPr>
        <p:spPr>
          <a:xfrm>
            <a:off x="475487" y="2295815"/>
            <a:ext cx="11241024" cy="1593222"/>
          </a:xfrm>
          <a:prstGeom prst="rect">
            <a:avLst/>
          </a:prstGeom>
          <a:solidFill>
            <a:srgbClr val="002060"/>
          </a:solidFill>
          <a:ln>
            <a:noFill/>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2"/>
          </a:lnRef>
          <a:fillRef idx="3">
            <a:schemeClr val="accent2"/>
          </a:fillRef>
          <a:effectRef idx="3">
            <a:schemeClr val="accent2"/>
          </a:effectRef>
          <a:fontRef idx="minor">
            <a:schemeClr val="lt1"/>
          </a:fontRef>
        </p:style>
        <p:txBody>
          <a:bodyPr lIns="67500" tIns="33750" rIns="67500" bIns="33750" anchor="ctr"/>
          <a:lstStyle/>
          <a:p>
            <a:pPr algn="ctr" defTabSz="457200">
              <a:defRPr/>
            </a:pPr>
            <a:endParaRPr lang="fr-FR" sz="2400" b="1" dirty="0"/>
          </a:p>
          <a:p>
            <a:pPr algn="ctr" defTabSz="457200">
              <a:defRPr/>
            </a:pPr>
            <a:r>
              <a:rPr lang="fr-FR" sz="2400" b="1" dirty="0"/>
              <a:t>Diagnostic des avancées et des obstacles dans la lutte contre la corruption et les infractions assimilées dans le secteur de la sécurité au Burkina Faso : Typologie des infractions et manifestations de la corruption dans le secteur sécuritaire</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Candara" panose="020E0502030303020204" pitchFamily="34" charset="0"/>
              <a:ea typeface="Open Sans" panose="020B0606030504020204" pitchFamily="34" charset="0"/>
              <a:cs typeface="Open Sans" panose="020B0606030504020204" pitchFamily="34" charset="0"/>
            </a:endParaRPr>
          </a:p>
        </p:txBody>
      </p:sp>
      <p:sp>
        <p:nvSpPr>
          <p:cNvPr id="22" name="Rectangle 21"/>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11981EB0-95D0-DCEC-D693-16B0ACE9513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ZoneTexte 7">
            <a:extLst>
              <a:ext uri="{FF2B5EF4-FFF2-40B4-BE49-F238E27FC236}">
                <a16:creationId xmlns:a16="http://schemas.microsoft.com/office/drawing/2014/main" id="{0767C8B3-5D5B-DACC-0ACF-B530AF0D7B7C}"/>
              </a:ext>
            </a:extLst>
          </p:cNvPr>
          <p:cNvSpPr txBox="1"/>
          <p:nvPr/>
        </p:nvSpPr>
        <p:spPr>
          <a:xfrm>
            <a:off x="4640308" y="6638240"/>
            <a:ext cx="2911374"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0" name="Connecteur droit 9">
            <a:extLst>
              <a:ext uri="{FF2B5EF4-FFF2-40B4-BE49-F238E27FC236}">
                <a16:creationId xmlns:a16="http://schemas.microsoft.com/office/drawing/2014/main" id="{783B2E49-1E02-0788-581B-BF955FC75E5C}"/>
              </a:ext>
            </a:extLst>
          </p:cNvPr>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9DBBA77D-EF28-C467-8446-583A66B53D75}"/>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12" name="Image 11">
            <a:extLst>
              <a:ext uri="{FF2B5EF4-FFF2-40B4-BE49-F238E27FC236}">
                <a16:creationId xmlns:a16="http://schemas.microsoft.com/office/drawing/2014/main" id="{2FFCEC3C-FEDC-A572-DF37-BC8167F495EC}"/>
              </a:ext>
            </a:extLst>
          </p:cNvPr>
          <p:cNvPicPr>
            <a:picLocks noChangeAspect="1"/>
          </p:cNvPicPr>
          <p:nvPr/>
        </p:nvPicPr>
        <p:blipFill>
          <a:blip r:embed="rId5"/>
          <a:stretch>
            <a:fillRect/>
          </a:stretch>
        </p:blipFill>
        <p:spPr>
          <a:xfrm>
            <a:off x="11446879" y="6660145"/>
            <a:ext cx="159652" cy="216000"/>
          </a:xfrm>
          <a:prstGeom prst="rect">
            <a:avLst/>
          </a:prstGeom>
          <a:ln>
            <a:noFill/>
          </a:ln>
        </p:spPr>
      </p:pic>
      <p:sp>
        <p:nvSpPr>
          <p:cNvPr id="13" name="Espace réservé du numéro de diapositive 21">
            <a:extLst>
              <a:ext uri="{FF2B5EF4-FFF2-40B4-BE49-F238E27FC236}">
                <a16:creationId xmlns:a16="http://schemas.microsoft.com/office/drawing/2014/main" id="{480EBB39-1AF2-29ED-CCD8-28C1CA412302}"/>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1</a:t>
            </a:fld>
            <a:endParaRPr lang="fr-FR" b="1" dirty="0">
              <a:solidFill>
                <a:schemeClr val="bg1"/>
              </a:solidFill>
              <a:latin typeface="Arial" panose="020B0604020202020204" pitchFamily="34" charset="0"/>
              <a:cs typeface="Arial" panose="020B0604020202020204" pitchFamily="34" charset="0"/>
            </a:endParaRPr>
          </a:p>
        </p:txBody>
      </p:sp>
      <p:sp>
        <p:nvSpPr>
          <p:cNvPr id="14" name="ZoneTexte 13">
            <a:extLst>
              <a:ext uri="{FF2B5EF4-FFF2-40B4-BE49-F238E27FC236}">
                <a16:creationId xmlns:a16="http://schemas.microsoft.com/office/drawing/2014/main" id="{A8CC9050-8E0C-3480-CB45-5810F3A96A27}"/>
              </a:ext>
            </a:extLst>
          </p:cNvPr>
          <p:cNvSpPr txBox="1"/>
          <p:nvPr/>
        </p:nvSpPr>
        <p:spPr>
          <a:xfrm>
            <a:off x="1426464" y="4244538"/>
            <a:ext cx="9089136" cy="624423"/>
          </a:xfrm>
          <a:prstGeom prst="foldedCorner">
            <a:avLst/>
          </a:prstGeom>
          <a:solidFill>
            <a:schemeClr val="accent5">
              <a:lumMod val="20000"/>
              <a:lumOff val="80000"/>
            </a:schemeClr>
          </a:solidFill>
          <a:ln/>
        </p:spPr>
        <p:style>
          <a:lnRef idx="1">
            <a:schemeClr val="accent6"/>
          </a:lnRef>
          <a:fillRef idx="2">
            <a:schemeClr val="accent6"/>
          </a:fillRef>
          <a:effectRef idx="1">
            <a:schemeClr val="accent6"/>
          </a:effectRef>
          <a:fontRef idx="minor">
            <a:schemeClr val="dk1"/>
          </a:fontRef>
        </p:style>
        <p:txBody>
          <a:bodyPr wrap="square">
            <a:spAutoFit/>
          </a:bodyPr>
          <a:lstStyle/>
          <a:p>
            <a:pPr algn="ctr">
              <a:spcBef>
                <a:spcPct val="50000"/>
              </a:spcBef>
            </a:pPr>
            <a:r>
              <a:rPr lang="fr-FR" sz="2800" b="1" dirty="0">
                <a:ln w="0"/>
                <a:effectLst>
                  <a:outerShdw blurRad="38100" dist="19050" dir="2700000" algn="tl" rotWithShape="0">
                    <a:schemeClr val="dk1">
                      <a:alpha val="40000"/>
                    </a:schemeClr>
                  </a:outerShdw>
                </a:effectLst>
                <a:latin typeface="Gabriola" panose="04040605051002020D02" pitchFamily="82" charset="0"/>
              </a:rPr>
              <a:t>Présenté par : Monsieur Aimé NANA</a:t>
            </a: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4BD12AA-6AB3-C3AB-065F-65A98C305EA4}"/>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9918ABDF-1FAC-3834-F8AD-F53CA90062FB}"/>
              </a:ext>
            </a:extLst>
          </p:cNvPr>
          <p:cNvPicPr>
            <a:picLocks noChangeAspect="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635ECE5A-86E1-EB81-1965-4350992DEB0E}"/>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F245942E-7AC2-DB8A-44C3-030E3439D314}"/>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2D02525D-D8AB-EF75-4342-29A464ECD8B1}"/>
              </a:ext>
            </a:extLst>
          </p:cNvPr>
          <p:cNvSpPr txBox="1"/>
          <p:nvPr/>
        </p:nvSpPr>
        <p:spPr>
          <a:xfrm>
            <a:off x="4640308" y="6638240"/>
            <a:ext cx="2911374"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F75675B7-16C9-E241-E0B4-132EB0A184D2}"/>
              </a:ext>
            </a:extLst>
          </p:cNvPr>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DBBAF5D6-1E9B-03F2-BAD9-14E91E4310EF}"/>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7A720E33-2F24-0DD1-27BE-A42649F70994}"/>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59030966-99BE-0992-E6E3-407D23C4CF81}"/>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2</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997B52E9-67E8-9DC8-6BB5-52DE7310C956}"/>
              </a:ext>
            </a:extLst>
          </p:cNvPr>
          <p:cNvSpPr/>
          <p:nvPr/>
        </p:nvSpPr>
        <p:spPr>
          <a:xfrm>
            <a:off x="3193211" y="189651"/>
            <a:ext cx="5805578" cy="783128"/>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a:solidFill>
                  <a:srgbClr val="1D1D1B"/>
                </a:solidFill>
                <a:latin typeface="Candara" panose="020E0502030303020204" pitchFamily="34" charset="0"/>
                <a:ea typeface="Open Sans" panose="020B0606030504020204" pitchFamily="34" charset="0"/>
                <a:cs typeface="Open Sans" panose="020B0606030504020204" pitchFamily="34" charset="0"/>
              </a:rPr>
              <a:t>Plan de la présentation</a:t>
            </a:r>
          </a:p>
        </p:txBody>
      </p:sp>
      <p:pic>
        <p:nvPicPr>
          <p:cNvPr id="2" name="Image 1">
            <a:extLst>
              <a:ext uri="{FF2B5EF4-FFF2-40B4-BE49-F238E27FC236}">
                <a16:creationId xmlns:a16="http://schemas.microsoft.com/office/drawing/2014/main" id="{61035935-3915-7164-3E91-3842D56F0F4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aphicFrame>
        <p:nvGraphicFramePr>
          <p:cNvPr id="6" name="Diagramme 5">
            <a:extLst>
              <a:ext uri="{FF2B5EF4-FFF2-40B4-BE49-F238E27FC236}">
                <a16:creationId xmlns:a16="http://schemas.microsoft.com/office/drawing/2014/main" id="{B99EFF4C-25FF-1847-E2C0-63B8027C4FA0}"/>
              </a:ext>
            </a:extLst>
          </p:cNvPr>
          <p:cNvGraphicFramePr/>
          <p:nvPr>
            <p:extLst>
              <p:ext uri="{D42A27DB-BD31-4B8C-83A1-F6EECF244321}">
                <p14:modId xmlns:p14="http://schemas.microsoft.com/office/powerpoint/2010/main" val="3291704455"/>
              </p:ext>
            </p:extLst>
          </p:nvPr>
        </p:nvGraphicFramePr>
        <p:xfrm>
          <a:off x="1459758" y="1501897"/>
          <a:ext cx="9503897" cy="413995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4263088414"/>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D12AA-6AB3-C3AB-065F-65A98C305EA4}"/>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9918ABDF-1FAC-3834-F8AD-F53CA90062FB}"/>
              </a:ext>
            </a:extLst>
          </p:cNvPr>
          <p:cNvPicPr>
            <a:picLocks noChangeAspect="1"/>
          </p:cNvPicPr>
          <p:nvPr/>
        </p:nvPicPr>
        <p:blipFill>
          <a:blip r:embed="rId3">
            <a:alphaModFix amt="5000"/>
          </a:blip>
          <a:stretch>
            <a:fillRect/>
          </a:stretch>
        </p:blipFill>
        <p:spPr>
          <a:xfrm>
            <a:off x="1837706" y="197198"/>
            <a:ext cx="8748000" cy="6447420"/>
          </a:xfrm>
          <a:prstGeom prst="rect">
            <a:avLst/>
          </a:prstGeom>
        </p:spPr>
      </p:pic>
      <p:sp>
        <p:nvSpPr>
          <p:cNvPr id="20" name="Rectangle 19">
            <a:extLst>
              <a:ext uri="{FF2B5EF4-FFF2-40B4-BE49-F238E27FC236}">
                <a16:creationId xmlns:a16="http://schemas.microsoft.com/office/drawing/2014/main" id="{635ECE5A-86E1-EB81-1965-4350992DEB0E}"/>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F245942E-7AC2-DB8A-44C3-030E3439D314}"/>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2D02525D-D8AB-EF75-4342-29A464ECD8B1}"/>
              </a:ext>
            </a:extLst>
          </p:cNvPr>
          <p:cNvSpPr txBox="1"/>
          <p:nvPr/>
        </p:nvSpPr>
        <p:spPr>
          <a:xfrm>
            <a:off x="4640308" y="6638240"/>
            <a:ext cx="2911374"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F75675B7-16C9-E241-E0B4-132EB0A184D2}"/>
              </a:ext>
            </a:extLst>
          </p:cNvPr>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DBBAF5D6-1E9B-03F2-BAD9-14E91E4310EF}"/>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7A720E33-2F24-0DD1-27BE-A42649F70994}"/>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59030966-99BE-0992-E6E3-407D23C4CF81}"/>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3</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997B52E9-67E8-9DC8-6BB5-52DE7310C956}"/>
              </a:ext>
            </a:extLst>
          </p:cNvPr>
          <p:cNvSpPr/>
          <p:nvPr/>
        </p:nvSpPr>
        <p:spPr>
          <a:xfrm>
            <a:off x="2685171" y="272814"/>
            <a:ext cx="6821646" cy="783128"/>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a:solidFill>
                  <a:prstClr val="black"/>
                </a:solidFill>
                <a:latin typeface="Candara" panose="020E0502030303020204" pitchFamily="34" charset="0"/>
                <a:ea typeface="+mj-ea"/>
                <a:cs typeface="+mj-cs"/>
              </a:rPr>
              <a:t>OBJECTIFS PEDAGOGIQUES</a:t>
            </a:r>
            <a:endParaRPr lang="fr-FR" sz="3600" b="1" dirty="0">
              <a:solidFill>
                <a:srgbClr val="1D1D1B"/>
              </a:solidFill>
              <a:latin typeface="Candara" panose="020E0502030303020204" pitchFamily="34" charset="0"/>
              <a:ea typeface="Open Sans" panose="020B0606030504020204" pitchFamily="34" charset="0"/>
              <a:cs typeface="Open Sans" panose="020B0606030504020204" pitchFamily="34" charset="0"/>
            </a:endParaRPr>
          </a:p>
        </p:txBody>
      </p:sp>
      <p:pic>
        <p:nvPicPr>
          <p:cNvPr id="2" name="Image 1">
            <a:extLst>
              <a:ext uri="{FF2B5EF4-FFF2-40B4-BE49-F238E27FC236}">
                <a16:creationId xmlns:a16="http://schemas.microsoft.com/office/drawing/2014/main" id="{61035935-3915-7164-3E91-3842D56F0F4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9" name="Rectangle 18">
            <a:extLst>
              <a:ext uri="{FF2B5EF4-FFF2-40B4-BE49-F238E27FC236}">
                <a16:creationId xmlns:a16="http://schemas.microsoft.com/office/drawing/2014/main" id="{303B3EE3-E2E8-46EC-961C-6F2EE0D656F9}"/>
              </a:ext>
            </a:extLst>
          </p:cNvPr>
          <p:cNvSpPr/>
          <p:nvPr/>
        </p:nvSpPr>
        <p:spPr>
          <a:xfrm>
            <a:off x="5576047" y="1874728"/>
            <a:ext cx="6185647" cy="3970318"/>
          </a:xfrm>
          <a:prstGeom prst="rect">
            <a:avLst/>
          </a:prstGeom>
          <a:pattFill prst="pct5">
            <a:fgClr>
              <a:schemeClr val="tx1"/>
            </a:fgClr>
            <a:bgClr>
              <a:schemeClr val="bg1"/>
            </a:bgClr>
          </a:pattFill>
          <a:ln w="38100">
            <a:solidFill>
              <a:srgbClr val="C00000"/>
            </a:solidFill>
            <a:prstDash val="solid"/>
          </a:ln>
          <a:effectLst>
            <a:softEdge rad="31750"/>
          </a:effectLst>
        </p:spPr>
        <p:txBody>
          <a:bodyPr wrap="square">
            <a:spAutoFit/>
          </a:bodyPr>
          <a:lstStyle/>
          <a:p>
            <a:pPr algn="ctr"/>
            <a:r>
              <a:rPr lang="fr-FR" sz="3200" b="1" dirty="0"/>
              <a:t>Objectifs spécifiques</a:t>
            </a:r>
          </a:p>
          <a:p>
            <a:endParaRPr lang="fr-FR" sz="2800" b="1" dirty="0"/>
          </a:p>
          <a:p>
            <a:pPr marL="285750" lvl="0" indent="-285750">
              <a:buFont typeface="Wingdings" pitchFamily="2" charset="2"/>
              <a:buChar char="v"/>
            </a:pPr>
            <a:r>
              <a:rPr lang="fr-BF" sz="2200" dirty="0"/>
              <a:t>Identifier les principales </a:t>
            </a:r>
            <a:r>
              <a:rPr lang="fr-BF" sz="2200" b="1" dirty="0"/>
              <a:t>typologies d’infractions</a:t>
            </a:r>
            <a:r>
              <a:rPr lang="fr-BF" sz="2200" dirty="0"/>
              <a:t> dans le secteur de la sécurité</a:t>
            </a:r>
          </a:p>
          <a:p>
            <a:pPr marL="285750" lvl="0" indent="-285750">
              <a:buFont typeface="Wingdings" pitchFamily="2" charset="2"/>
              <a:buChar char="v"/>
            </a:pPr>
            <a:endParaRPr lang="fr-BF" sz="2000" dirty="0"/>
          </a:p>
          <a:p>
            <a:pPr marL="285750" lvl="0" indent="-285750">
              <a:buFont typeface="Wingdings" pitchFamily="2" charset="2"/>
              <a:buChar char="v"/>
            </a:pPr>
            <a:r>
              <a:rPr lang="fr-BF" sz="2200" dirty="0"/>
              <a:t>Décrire leurs </a:t>
            </a:r>
            <a:r>
              <a:rPr lang="fr-BF" sz="2200" b="1" dirty="0"/>
              <a:t>faits constitutifs</a:t>
            </a:r>
            <a:r>
              <a:rPr lang="fr-BF" sz="2200" dirty="0"/>
              <a:t> et </a:t>
            </a:r>
            <a:r>
              <a:rPr lang="fr-BF" sz="2200" b="1" dirty="0"/>
              <a:t>manifestations opérationnelles de la corruption</a:t>
            </a:r>
          </a:p>
          <a:p>
            <a:pPr marL="285750" lvl="0" indent="-285750">
              <a:buFont typeface="Wingdings" pitchFamily="2" charset="2"/>
              <a:buChar char="v"/>
            </a:pPr>
            <a:endParaRPr lang="fr-BF" sz="2000" dirty="0"/>
          </a:p>
          <a:p>
            <a:pPr marL="285750" lvl="0" indent="-285750">
              <a:buFont typeface="Wingdings" pitchFamily="2" charset="2"/>
              <a:buChar char="v"/>
            </a:pPr>
            <a:r>
              <a:rPr lang="fr-BF" sz="2200" dirty="0"/>
              <a:t>Développer des pistes d’actions pour la veille citoyenne et l’investigation journalistique</a:t>
            </a:r>
          </a:p>
          <a:p>
            <a:pPr marL="285750" lvl="0" indent="-285750">
              <a:buFont typeface="Wingdings" pitchFamily="2" charset="2"/>
              <a:buChar char="v"/>
            </a:pPr>
            <a:endParaRPr lang="fr-BF" sz="2000" dirty="0"/>
          </a:p>
        </p:txBody>
      </p:sp>
      <p:sp>
        <p:nvSpPr>
          <p:cNvPr id="23" name="Rectangle 22">
            <a:extLst>
              <a:ext uri="{FF2B5EF4-FFF2-40B4-BE49-F238E27FC236}">
                <a16:creationId xmlns:a16="http://schemas.microsoft.com/office/drawing/2014/main" id="{4636307A-1804-4FBF-AE12-C627E2F22A17}"/>
              </a:ext>
            </a:extLst>
          </p:cNvPr>
          <p:cNvSpPr/>
          <p:nvPr/>
        </p:nvSpPr>
        <p:spPr>
          <a:xfrm>
            <a:off x="236546" y="2592340"/>
            <a:ext cx="5106419" cy="2031325"/>
          </a:xfrm>
          <a:prstGeom prst="rect">
            <a:avLst/>
          </a:prstGeom>
          <a:blipFill>
            <a:blip r:embed="rId6"/>
            <a:tile tx="0" ty="0" sx="100000" sy="100000" flip="none" algn="tl"/>
          </a:blipFill>
          <a:ln w="28575">
            <a:solidFill>
              <a:schemeClr val="tx1"/>
            </a:solidFill>
          </a:ln>
        </p:spPr>
        <p:txBody>
          <a:bodyPr wrap="square">
            <a:spAutoFit/>
          </a:bodyPr>
          <a:lstStyle/>
          <a:p>
            <a:pPr algn="ctr"/>
            <a:r>
              <a:rPr lang="fr-FR" sz="2800" b="1" dirty="0"/>
              <a:t>Objectif Général</a:t>
            </a:r>
          </a:p>
          <a:p>
            <a:pPr algn="ctr"/>
            <a:endParaRPr lang="fr-FR" b="1" dirty="0"/>
          </a:p>
          <a:p>
            <a:pPr algn="just"/>
            <a:r>
              <a:rPr lang="fr-FR" sz="2200" dirty="0"/>
              <a:t>Renforcer les capacités des acteurs </a:t>
            </a:r>
          </a:p>
          <a:p>
            <a:pPr algn="just"/>
            <a:r>
              <a:rPr lang="fr-FR" sz="2000" dirty="0"/>
              <a:t>de la lutte contre la corruption</a:t>
            </a:r>
          </a:p>
          <a:p>
            <a:endParaRPr lang="fr-FR" dirty="0"/>
          </a:p>
          <a:p>
            <a:pPr algn="ctr"/>
            <a:endParaRPr lang="fr-FR" b="1" dirty="0"/>
          </a:p>
        </p:txBody>
      </p:sp>
    </p:spTree>
    <p:extLst>
      <p:ext uri="{BB962C8B-B14F-4D97-AF65-F5344CB8AC3E}">
        <p14:creationId xmlns:p14="http://schemas.microsoft.com/office/powerpoint/2010/main" val="4191292706"/>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35DB221-F9A9-B1D9-D0E3-EF585D2C0AD7}"/>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31C9B3D0-F330-5C07-0107-363734D7952F}"/>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14457AEA-6281-848D-1348-ECD3513A4D4A}"/>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DD1543B6-3A1A-A52A-E3C9-06BED8D4067B}"/>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134F5549-E6D6-FB1D-2A50-7E708FE405FD}"/>
              </a:ext>
            </a:extLst>
          </p:cNvPr>
          <p:cNvSpPr txBox="1"/>
          <p:nvPr/>
        </p:nvSpPr>
        <p:spPr>
          <a:xfrm>
            <a:off x="4640308" y="6638240"/>
            <a:ext cx="2911374"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5D9F69A2-0E03-50E1-BCE9-7D3C819AE290}"/>
              </a:ext>
            </a:extLst>
          </p:cNvPr>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D6A4769F-DF23-D4AB-54D1-C7534EF0D62D}"/>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8BAF86E6-8AA1-3D03-C189-E5873CDE8E72}"/>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7126A9B5-3AF5-BCF7-EF1F-261A65F81AD3}"/>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4</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564B1EC8-5354-5910-23AE-2CA6BA4FE6DA}"/>
              </a:ext>
            </a:extLst>
          </p:cNvPr>
          <p:cNvSpPr/>
          <p:nvPr/>
        </p:nvSpPr>
        <p:spPr>
          <a:xfrm>
            <a:off x="3193211" y="189651"/>
            <a:ext cx="5805578" cy="783128"/>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rgbClr val="1D1D1B"/>
                </a:solidFill>
                <a:latin typeface="Candara" panose="020E0502030303020204" pitchFamily="34" charset="0"/>
                <a:ea typeface="Open Sans" panose="020B0606030504020204" pitchFamily="34" charset="0"/>
                <a:cs typeface="Open Sans" panose="020B0606030504020204" pitchFamily="34" charset="0"/>
              </a:rPr>
              <a:t>INTRODUCTION (1/1)</a:t>
            </a:r>
          </a:p>
        </p:txBody>
      </p:sp>
      <p:pic>
        <p:nvPicPr>
          <p:cNvPr id="2" name="Image 1">
            <a:extLst>
              <a:ext uri="{FF2B5EF4-FFF2-40B4-BE49-F238E27FC236}">
                <a16:creationId xmlns:a16="http://schemas.microsoft.com/office/drawing/2014/main" id="{62436EB8-6BE5-5D87-6C08-63C8459AFE4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ZoneTexte 6">
            <a:extLst>
              <a:ext uri="{FF2B5EF4-FFF2-40B4-BE49-F238E27FC236}">
                <a16:creationId xmlns:a16="http://schemas.microsoft.com/office/drawing/2014/main" id="{BC039F18-5F54-DC11-6979-CE7285013AF0}"/>
              </a:ext>
            </a:extLst>
          </p:cNvPr>
          <p:cNvSpPr txBox="1"/>
          <p:nvPr/>
        </p:nvSpPr>
        <p:spPr>
          <a:xfrm>
            <a:off x="635508" y="1161424"/>
            <a:ext cx="8363281" cy="550962"/>
          </a:xfrm>
          <a:prstGeom prst="foldedCorner">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txBody>
          <a:bodyPr wrap="square" rtlCol="0">
            <a:spAutoFit/>
          </a:bodyPr>
          <a:lstStyle/>
          <a:p>
            <a:r>
              <a:rPr lang="fr-FR" sz="2400" b="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Contexte</a:t>
            </a:r>
            <a:endParaRPr lang="fr-BF" sz="2400" b="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4" name="ZoneTexte 3">
            <a:extLst>
              <a:ext uri="{FF2B5EF4-FFF2-40B4-BE49-F238E27FC236}">
                <a16:creationId xmlns:a16="http://schemas.microsoft.com/office/drawing/2014/main" id="{67C23A11-7953-A18E-25EA-01A9A4DA1265}"/>
              </a:ext>
            </a:extLst>
          </p:cNvPr>
          <p:cNvSpPr txBox="1"/>
          <p:nvPr/>
        </p:nvSpPr>
        <p:spPr>
          <a:xfrm>
            <a:off x="900175" y="2019217"/>
            <a:ext cx="9235441" cy="4154984"/>
          </a:xfrm>
          <a:prstGeom prst="rect">
            <a:avLst/>
          </a:prstGeom>
          <a:noFill/>
        </p:spPr>
        <p:txBody>
          <a:bodyPr wrap="square" rtlCol="0">
            <a:spAutoFit/>
          </a:bodyPr>
          <a:lstStyle/>
          <a:p>
            <a:pPr lvl="0" eaLnBrk="0" fontAlgn="base" hangingPunct="0">
              <a:spcBef>
                <a:spcPct val="0"/>
              </a:spcBef>
              <a:spcAft>
                <a:spcPct val="0"/>
              </a:spcAft>
            </a:pPr>
            <a:r>
              <a:rPr lang="fr-BF" altLang="fr-BF" sz="2200" b="1" dirty="0">
                <a:solidFill>
                  <a:srgbClr val="FF0000"/>
                </a:solidFill>
              </a:rPr>
              <a:t>La corruption dans le secteur de la sécurité : un enjeu majeur pour la stabilité nationale</a:t>
            </a:r>
          </a:p>
          <a:p>
            <a:pPr lvl="0" eaLnBrk="0" fontAlgn="base" hangingPunct="0">
              <a:spcBef>
                <a:spcPct val="0"/>
              </a:spcBef>
              <a:spcAft>
                <a:spcPct val="0"/>
              </a:spcAft>
            </a:pPr>
            <a:endParaRPr lang="fr-BF" altLang="fr-BF" sz="2200" dirty="0"/>
          </a:p>
          <a:p>
            <a:pPr lvl="0" eaLnBrk="0" fontAlgn="base" hangingPunct="0">
              <a:spcBef>
                <a:spcPct val="0"/>
              </a:spcBef>
              <a:spcAft>
                <a:spcPct val="0"/>
              </a:spcAft>
              <a:buFontTx/>
              <a:buChar char="•"/>
            </a:pPr>
            <a:r>
              <a:rPr lang="fr-BF" altLang="fr-BF" sz="2200" dirty="0">
                <a:solidFill>
                  <a:srgbClr val="000000"/>
                </a:solidFill>
              </a:rPr>
              <a:t>Au Burkina Faso, la corruption dans le secteur de la sécurité est </a:t>
            </a:r>
            <a:r>
              <a:rPr lang="fr-BF" altLang="fr-BF" sz="2200" b="1" dirty="0">
                <a:solidFill>
                  <a:srgbClr val="000000"/>
                </a:solidFill>
              </a:rPr>
              <a:t>endémique</a:t>
            </a:r>
            <a:r>
              <a:rPr lang="fr-BF" altLang="fr-BF" sz="2200" dirty="0">
                <a:solidFill>
                  <a:srgbClr val="000000"/>
                </a:solidFill>
              </a:rPr>
              <a:t> et affecte directement l’efficacité des forces de défense et de sécurité (FDS).</a:t>
            </a:r>
          </a:p>
          <a:p>
            <a:pPr lvl="0" eaLnBrk="0" fontAlgn="base" hangingPunct="0">
              <a:spcBef>
                <a:spcPct val="0"/>
              </a:spcBef>
              <a:spcAft>
                <a:spcPct val="0"/>
              </a:spcAft>
              <a:buFontTx/>
              <a:buChar char="•"/>
            </a:pPr>
            <a:endParaRPr lang="fr-BF" altLang="fr-BF" sz="2200" dirty="0">
              <a:solidFill>
                <a:srgbClr val="000000"/>
              </a:solidFill>
            </a:endParaRPr>
          </a:p>
          <a:p>
            <a:pPr lvl="0" eaLnBrk="0" fontAlgn="base" hangingPunct="0">
              <a:spcBef>
                <a:spcPct val="0"/>
              </a:spcBef>
              <a:spcAft>
                <a:spcPct val="0"/>
              </a:spcAft>
              <a:buFontTx/>
              <a:buChar char="•"/>
            </a:pPr>
            <a:r>
              <a:rPr lang="fr-BF" altLang="fr-BF" sz="2200" dirty="0">
                <a:solidFill>
                  <a:srgbClr val="000000"/>
                </a:solidFill>
              </a:rPr>
              <a:t>Les FDS figurent régulièrement parmi les </a:t>
            </a:r>
            <a:r>
              <a:rPr lang="fr-BF" altLang="fr-BF" sz="2200" b="1" dirty="0">
                <a:solidFill>
                  <a:srgbClr val="000000"/>
                </a:solidFill>
              </a:rPr>
              <a:t>institutions perçues comme les plus corrompues</a:t>
            </a:r>
            <a:r>
              <a:rPr lang="fr-BF" altLang="fr-BF" sz="2200" dirty="0">
                <a:solidFill>
                  <a:srgbClr val="000000"/>
                </a:solidFill>
              </a:rPr>
              <a:t> du pays.</a:t>
            </a:r>
          </a:p>
          <a:p>
            <a:pPr lvl="0" eaLnBrk="0" fontAlgn="base" hangingPunct="0">
              <a:spcBef>
                <a:spcPct val="0"/>
              </a:spcBef>
              <a:spcAft>
                <a:spcPct val="0"/>
              </a:spcAft>
              <a:buFontTx/>
              <a:buChar char="•"/>
            </a:pPr>
            <a:endParaRPr lang="fr-BF" altLang="fr-BF" sz="2200" dirty="0">
              <a:solidFill>
                <a:srgbClr val="000000"/>
              </a:solidFill>
            </a:endParaRPr>
          </a:p>
          <a:p>
            <a:pPr lvl="0" eaLnBrk="0" fontAlgn="base" hangingPunct="0">
              <a:spcBef>
                <a:spcPct val="0"/>
              </a:spcBef>
              <a:spcAft>
                <a:spcPct val="0"/>
              </a:spcAft>
              <a:buFontTx/>
              <a:buChar char="•"/>
            </a:pPr>
            <a:r>
              <a:rPr lang="fr-BF" altLang="fr-BF" sz="2200" dirty="0">
                <a:solidFill>
                  <a:srgbClr val="000000"/>
                </a:solidFill>
              </a:rPr>
              <a:t>Exemple : </a:t>
            </a:r>
            <a:r>
              <a:rPr lang="fr-BF" altLang="fr-BF" sz="2200" b="1" dirty="0">
                <a:solidFill>
                  <a:srgbClr val="000000"/>
                </a:solidFill>
              </a:rPr>
              <a:t>21 %</a:t>
            </a:r>
            <a:r>
              <a:rPr lang="fr-BF" altLang="fr-BF" sz="2200" dirty="0">
                <a:solidFill>
                  <a:srgbClr val="000000"/>
                </a:solidFill>
              </a:rPr>
              <a:t> des Burkinabè déclarent avoir versé un pot-de-vin à un policier (Baromètre mondial, 2019).</a:t>
            </a:r>
          </a:p>
          <a:p>
            <a:pPr lvl="0" eaLnBrk="0" fontAlgn="base" hangingPunct="0">
              <a:spcBef>
                <a:spcPct val="0"/>
              </a:spcBef>
              <a:spcAft>
                <a:spcPct val="0"/>
              </a:spcAft>
            </a:pPr>
            <a:endParaRPr lang="fr-BF" altLang="fr-BF" sz="2200" dirty="0"/>
          </a:p>
        </p:txBody>
      </p:sp>
    </p:spTree>
    <p:extLst>
      <p:ext uri="{BB962C8B-B14F-4D97-AF65-F5344CB8AC3E}">
        <p14:creationId xmlns:p14="http://schemas.microsoft.com/office/powerpoint/2010/main" val="2769241485"/>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DB221-F9A9-B1D9-D0E3-EF585D2C0AD7}"/>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31C9B3D0-F330-5C07-0107-363734D7952F}"/>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14457AEA-6281-848D-1348-ECD3513A4D4A}"/>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DD1543B6-3A1A-A52A-E3C9-06BED8D4067B}"/>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134F5549-E6D6-FB1D-2A50-7E708FE405FD}"/>
              </a:ext>
            </a:extLst>
          </p:cNvPr>
          <p:cNvSpPr txBox="1"/>
          <p:nvPr/>
        </p:nvSpPr>
        <p:spPr>
          <a:xfrm>
            <a:off x="4640308" y="6638240"/>
            <a:ext cx="2911374"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5D9F69A2-0E03-50E1-BCE9-7D3C819AE290}"/>
              </a:ext>
            </a:extLst>
          </p:cNvPr>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D6A4769F-DF23-D4AB-54D1-C7534EF0D62D}"/>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8BAF86E6-8AA1-3D03-C189-E5873CDE8E72}"/>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7126A9B5-3AF5-BCF7-EF1F-261A65F81AD3}"/>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5</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564B1EC8-5354-5910-23AE-2CA6BA4FE6DA}"/>
              </a:ext>
            </a:extLst>
          </p:cNvPr>
          <p:cNvSpPr/>
          <p:nvPr/>
        </p:nvSpPr>
        <p:spPr>
          <a:xfrm>
            <a:off x="3193211" y="189651"/>
            <a:ext cx="5805578" cy="783128"/>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rgbClr val="1D1D1B"/>
                </a:solidFill>
                <a:latin typeface="Candara" panose="020E0502030303020204" pitchFamily="34" charset="0"/>
                <a:ea typeface="Open Sans" panose="020B0606030504020204" pitchFamily="34" charset="0"/>
                <a:cs typeface="Open Sans" panose="020B0606030504020204" pitchFamily="34" charset="0"/>
              </a:rPr>
              <a:t>INTRODUCTION (1/2)</a:t>
            </a:r>
          </a:p>
        </p:txBody>
      </p:sp>
      <p:pic>
        <p:nvPicPr>
          <p:cNvPr id="2" name="Image 1">
            <a:extLst>
              <a:ext uri="{FF2B5EF4-FFF2-40B4-BE49-F238E27FC236}">
                <a16:creationId xmlns:a16="http://schemas.microsoft.com/office/drawing/2014/main" id="{62436EB8-6BE5-5D87-6C08-63C8459AFE4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ZoneTexte 3">
            <a:extLst>
              <a:ext uri="{FF2B5EF4-FFF2-40B4-BE49-F238E27FC236}">
                <a16:creationId xmlns:a16="http://schemas.microsoft.com/office/drawing/2014/main" id="{67C23A11-7953-A18E-25EA-01A9A4DA1265}"/>
              </a:ext>
            </a:extLst>
          </p:cNvPr>
          <p:cNvSpPr txBox="1"/>
          <p:nvPr/>
        </p:nvSpPr>
        <p:spPr>
          <a:xfrm>
            <a:off x="900175" y="2019217"/>
            <a:ext cx="9235441" cy="430887"/>
          </a:xfrm>
          <a:prstGeom prst="rect">
            <a:avLst/>
          </a:prstGeom>
          <a:noFill/>
        </p:spPr>
        <p:txBody>
          <a:bodyPr wrap="square" rtlCol="0">
            <a:spAutoFit/>
          </a:bodyPr>
          <a:lstStyle/>
          <a:p>
            <a:pPr lvl="0" eaLnBrk="0" fontAlgn="base" hangingPunct="0">
              <a:spcBef>
                <a:spcPct val="0"/>
              </a:spcBef>
              <a:spcAft>
                <a:spcPct val="0"/>
              </a:spcAft>
            </a:pPr>
            <a:endParaRPr lang="fr-BF" altLang="fr-BF" sz="2200" dirty="0"/>
          </a:p>
        </p:txBody>
      </p:sp>
      <p:graphicFrame>
        <p:nvGraphicFramePr>
          <p:cNvPr id="27" name="Tableau 26">
            <a:extLst>
              <a:ext uri="{FF2B5EF4-FFF2-40B4-BE49-F238E27FC236}">
                <a16:creationId xmlns:a16="http://schemas.microsoft.com/office/drawing/2014/main" id="{0EB96286-A376-467B-B701-C532AD9AD1A1}"/>
              </a:ext>
            </a:extLst>
          </p:cNvPr>
          <p:cNvGraphicFramePr>
            <a:graphicFrameLocks noGrp="1"/>
          </p:cNvGraphicFramePr>
          <p:nvPr>
            <p:extLst>
              <p:ext uri="{D42A27DB-BD31-4B8C-83A1-F6EECF244321}">
                <p14:modId xmlns:p14="http://schemas.microsoft.com/office/powerpoint/2010/main" val="4289154958"/>
              </p:ext>
            </p:extLst>
          </p:nvPr>
        </p:nvGraphicFramePr>
        <p:xfrm>
          <a:off x="356130" y="1398066"/>
          <a:ext cx="3912476" cy="4480560"/>
        </p:xfrm>
        <a:graphic>
          <a:graphicData uri="http://schemas.openxmlformats.org/drawingml/2006/table">
            <a:tbl>
              <a:tblPr firstRow="1" bandRow="1"/>
              <a:tblGrid>
                <a:gridCol w="3912476">
                  <a:extLst>
                    <a:ext uri="{9D8B030D-6E8A-4147-A177-3AD203B41FA5}">
                      <a16:colId xmlns:a16="http://schemas.microsoft.com/office/drawing/2014/main" val="2560586591"/>
                    </a:ext>
                  </a:extLst>
                </a:gridCol>
              </a:tblGrid>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r>
                        <a:rPr lang="fr-FR" sz="1800" b="1" i="0" u="none" strike="noStrike" kern="1200" dirty="0">
                          <a:solidFill>
                            <a:schemeClr val="lt1"/>
                          </a:solidFill>
                          <a:effectLst/>
                          <a:latin typeface="+mn-lt"/>
                          <a:ea typeface="+mn-ea"/>
                          <a:cs typeface="+mn-cs"/>
                        </a:rPr>
                        <a:t>1. Définition du secteur de la sécurité</a:t>
                      </a:r>
                    </a:p>
                    <a:p>
                      <a:r>
                        <a:rPr lang="fr-FR" sz="1800" b="0" i="0" u="none" strike="noStrike" kern="1200" dirty="0">
                          <a:solidFill>
                            <a:schemeClr val="lt1"/>
                          </a:solidFill>
                          <a:effectLst/>
                          <a:latin typeface="+mn-lt"/>
                          <a:ea typeface="+mn-ea"/>
                          <a:cs typeface="+mn-cs"/>
                        </a:rPr>
                        <a:t>Ensemble des institutions et dispositifs chargés de :</a:t>
                      </a:r>
                    </a:p>
                    <a:p>
                      <a:pPr lvl="1"/>
                      <a:r>
                        <a:rPr lang="fr-FR" sz="1800" b="0" i="0" u="none" strike="noStrike" kern="1200" dirty="0">
                          <a:solidFill>
                            <a:schemeClr val="lt1"/>
                          </a:solidFill>
                          <a:effectLst/>
                          <a:latin typeface="+mn-lt"/>
                          <a:ea typeface="+mn-ea"/>
                          <a:cs typeface="+mn-cs"/>
                        </a:rPr>
                        <a:t>la protection de l’État,</a:t>
                      </a:r>
                    </a:p>
                    <a:p>
                      <a:pPr lvl="1"/>
                      <a:r>
                        <a:rPr lang="fr-FR" sz="1800" b="0" i="0" u="none" strike="noStrike" kern="1200" dirty="0">
                          <a:solidFill>
                            <a:schemeClr val="lt1"/>
                          </a:solidFill>
                          <a:effectLst/>
                          <a:latin typeface="+mn-lt"/>
                          <a:ea typeface="+mn-ea"/>
                          <a:cs typeface="+mn-cs"/>
                        </a:rPr>
                        <a:t>la sécurité des populations et des biens,</a:t>
                      </a:r>
                    </a:p>
                    <a:p>
                      <a:pPr lvl="1"/>
                      <a:r>
                        <a:rPr lang="fr-FR" sz="1800" b="0" i="0" u="none" strike="noStrike" kern="1200" dirty="0">
                          <a:solidFill>
                            <a:schemeClr val="lt1"/>
                          </a:solidFill>
                          <a:effectLst/>
                          <a:latin typeface="+mn-lt"/>
                          <a:ea typeface="+mn-ea"/>
                          <a:cs typeface="+mn-cs"/>
                        </a:rPr>
                        <a:t>l’ordre public,</a:t>
                      </a:r>
                    </a:p>
                    <a:p>
                      <a:pPr lvl="1"/>
                      <a:r>
                        <a:rPr lang="fr-FR" sz="1800" b="0" i="0" u="none" strike="noStrike" kern="1200" dirty="0">
                          <a:solidFill>
                            <a:schemeClr val="lt1"/>
                          </a:solidFill>
                          <a:effectLst/>
                          <a:latin typeface="+mn-lt"/>
                          <a:ea typeface="+mn-ea"/>
                          <a:cs typeface="+mn-cs"/>
                        </a:rPr>
                        <a:t>la souveraineté et l’intégrité territoriale.</a:t>
                      </a:r>
                    </a:p>
                    <a:p>
                      <a:r>
                        <a:rPr lang="fr-FR" sz="1800" b="0" i="0" u="none" strike="noStrike" kern="1200" dirty="0">
                          <a:solidFill>
                            <a:schemeClr val="lt1"/>
                          </a:solidFill>
                          <a:effectLst/>
                          <a:latin typeface="+mn-lt"/>
                          <a:ea typeface="+mn-ea"/>
                          <a:cs typeface="+mn-cs"/>
                        </a:rPr>
                        <a:t>Un écosystème comprenant :</a:t>
                      </a:r>
                    </a:p>
                    <a:p>
                      <a:pPr lvl="1"/>
                      <a:r>
                        <a:rPr lang="fr-FR" sz="1800" b="0" i="0" u="none" strike="noStrike" kern="1200" dirty="0">
                          <a:solidFill>
                            <a:schemeClr val="lt1"/>
                          </a:solidFill>
                          <a:effectLst/>
                          <a:latin typeface="+mn-lt"/>
                          <a:ea typeface="+mn-ea"/>
                          <a:cs typeface="+mn-cs"/>
                        </a:rPr>
                        <a:t>Forces armées, police, gendarmerie, renseignement, justice, prisons ;</a:t>
                      </a:r>
                    </a:p>
                    <a:p>
                      <a:pPr lvl="1"/>
                      <a:r>
                        <a:rPr lang="fr-FR" sz="1800" b="0" i="0" u="none" strike="noStrike" kern="1200" dirty="0">
                          <a:solidFill>
                            <a:schemeClr val="lt1"/>
                          </a:solidFill>
                          <a:effectLst/>
                          <a:latin typeface="+mn-lt"/>
                          <a:ea typeface="+mn-ea"/>
                          <a:cs typeface="+mn-cs"/>
                        </a:rPr>
                        <a:t>Organes de contrôle et cadres juridiques / stratégiques.</a:t>
                      </a:r>
                    </a:p>
                    <a:p>
                      <a:endParaRPr lang="fr-BF"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2485069221"/>
                  </a:ext>
                </a:extLst>
              </a:tr>
            </a:tbl>
          </a:graphicData>
        </a:graphic>
      </p:graphicFrame>
      <p:graphicFrame>
        <p:nvGraphicFramePr>
          <p:cNvPr id="29" name="Tableau 28">
            <a:extLst>
              <a:ext uri="{FF2B5EF4-FFF2-40B4-BE49-F238E27FC236}">
                <a16:creationId xmlns:a16="http://schemas.microsoft.com/office/drawing/2014/main" id="{706FDDDA-A6A3-4AD8-8988-45A17F5C9726}"/>
              </a:ext>
            </a:extLst>
          </p:cNvPr>
          <p:cNvGraphicFramePr>
            <a:graphicFrameLocks noGrp="1"/>
          </p:cNvGraphicFramePr>
          <p:nvPr>
            <p:extLst>
              <p:ext uri="{D42A27DB-BD31-4B8C-83A1-F6EECF244321}">
                <p14:modId xmlns:p14="http://schemas.microsoft.com/office/powerpoint/2010/main" val="877565234"/>
              </p:ext>
            </p:extLst>
          </p:nvPr>
        </p:nvGraphicFramePr>
        <p:xfrm>
          <a:off x="4582676" y="1398066"/>
          <a:ext cx="3895834" cy="4480560"/>
        </p:xfrm>
        <a:graphic>
          <a:graphicData uri="http://schemas.openxmlformats.org/drawingml/2006/table">
            <a:tbl>
              <a:tblPr firstRow="1" bandRow="1"/>
              <a:tblGrid>
                <a:gridCol w="3895834">
                  <a:extLst>
                    <a:ext uri="{9D8B030D-6E8A-4147-A177-3AD203B41FA5}">
                      <a16:colId xmlns:a16="http://schemas.microsoft.com/office/drawing/2014/main" val="1469990353"/>
                    </a:ext>
                  </a:extLst>
                </a:gridCol>
              </a:tblGrid>
              <a:tr h="448056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r>
                        <a:rPr lang="fr-FR" sz="1800" b="1" kern="1200" dirty="0">
                          <a:solidFill>
                            <a:schemeClr val="lt1"/>
                          </a:solidFill>
                          <a:effectLst/>
                          <a:latin typeface="+mn-lt"/>
                          <a:ea typeface="+mn-ea"/>
                          <a:cs typeface="+mn-cs"/>
                        </a:rPr>
                        <a:t>2. Spécificités du secteur de la sécurité </a:t>
                      </a:r>
                      <a:endParaRPr lang="fr-BF" sz="1800" b="1" kern="1200" dirty="0">
                        <a:solidFill>
                          <a:schemeClr val="lt1"/>
                        </a:solidFill>
                        <a:effectLst/>
                        <a:latin typeface="+mn-lt"/>
                        <a:ea typeface="+mn-ea"/>
                        <a:cs typeface="+mn-cs"/>
                      </a:endParaRPr>
                    </a:p>
                    <a:p>
                      <a:pPr lvl="0"/>
                      <a:r>
                        <a:rPr lang="fr-FR" sz="1800" b="1" kern="1200" dirty="0">
                          <a:solidFill>
                            <a:schemeClr val="lt1"/>
                          </a:solidFill>
                          <a:effectLst/>
                          <a:latin typeface="+mn-lt"/>
                          <a:ea typeface="+mn-ea"/>
                          <a:cs typeface="+mn-cs"/>
                        </a:rPr>
                        <a:t>Caractère sensible, secret et difficilement accessible</a:t>
                      </a:r>
                      <a:endParaRPr lang="fr-BF" sz="1800" b="1" kern="1200" dirty="0">
                        <a:solidFill>
                          <a:schemeClr val="lt1"/>
                        </a:solidFill>
                        <a:effectLst/>
                        <a:latin typeface="+mn-lt"/>
                        <a:ea typeface="+mn-ea"/>
                        <a:cs typeface="+mn-cs"/>
                      </a:endParaRPr>
                    </a:p>
                    <a:p>
                      <a:pPr lvl="0"/>
                      <a:r>
                        <a:rPr lang="fr-FR" sz="1800" b="1" kern="1200" dirty="0">
                          <a:solidFill>
                            <a:schemeClr val="lt1"/>
                          </a:solidFill>
                          <a:effectLst/>
                          <a:latin typeface="+mn-lt"/>
                          <a:ea typeface="+mn-ea"/>
                          <a:cs typeface="+mn-cs"/>
                        </a:rPr>
                        <a:t>Régime disciplinaire particulier (FDS, armée, renseignements)</a:t>
                      </a:r>
                      <a:endParaRPr lang="fr-BF" sz="1800" b="1" kern="1200" dirty="0">
                        <a:solidFill>
                          <a:schemeClr val="lt1"/>
                        </a:solidFill>
                        <a:effectLst/>
                        <a:latin typeface="+mn-lt"/>
                        <a:ea typeface="+mn-ea"/>
                        <a:cs typeface="+mn-cs"/>
                      </a:endParaRPr>
                    </a:p>
                    <a:p>
                      <a:pPr lvl="0"/>
                      <a:r>
                        <a:rPr lang="fr-FR" sz="1800" b="1" kern="1200" dirty="0">
                          <a:solidFill>
                            <a:schemeClr val="lt1"/>
                          </a:solidFill>
                          <a:effectLst/>
                          <a:latin typeface="+mn-lt"/>
                          <a:ea typeface="+mn-ea"/>
                          <a:cs typeface="+mn-cs"/>
                        </a:rPr>
                        <a:t>Environnements opérationnels à haut risque : urgence, opacité, opérations extérieures</a:t>
                      </a:r>
                      <a:endParaRPr lang="fr-BF" sz="1800" b="1" kern="1200" dirty="0">
                        <a:solidFill>
                          <a:schemeClr val="lt1"/>
                        </a:solidFill>
                        <a:effectLst/>
                        <a:latin typeface="+mn-lt"/>
                        <a:ea typeface="+mn-ea"/>
                        <a:cs typeface="+mn-cs"/>
                      </a:endParaRPr>
                    </a:p>
                    <a:p>
                      <a:pPr lvl="0"/>
                      <a:r>
                        <a:rPr lang="fr-FR" sz="1800" b="1" kern="1200" dirty="0">
                          <a:solidFill>
                            <a:schemeClr val="lt1"/>
                          </a:solidFill>
                          <a:effectLst/>
                          <a:latin typeface="+mn-lt"/>
                          <a:ea typeface="+mn-ea"/>
                          <a:cs typeface="+mn-cs"/>
                        </a:rPr>
                        <a:t>Flux matériels et financiers importants : carburant, logistique, primes, armement</a:t>
                      </a:r>
                      <a:endParaRPr lang="fr-BF" sz="1800" b="1" kern="1200" dirty="0">
                        <a:solidFill>
                          <a:schemeClr val="lt1"/>
                        </a:solidFill>
                        <a:effectLst/>
                        <a:latin typeface="+mn-lt"/>
                        <a:ea typeface="+mn-ea"/>
                        <a:cs typeface="+mn-cs"/>
                      </a:endParaRPr>
                    </a:p>
                    <a:p>
                      <a:endParaRPr lang="fr-BF"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3804587467"/>
                  </a:ext>
                </a:extLst>
              </a:tr>
            </a:tbl>
          </a:graphicData>
        </a:graphic>
      </p:graphicFrame>
      <p:graphicFrame>
        <p:nvGraphicFramePr>
          <p:cNvPr id="31" name="Tableau 30">
            <a:extLst>
              <a:ext uri="{FF2B5EF4-FFF2-40B4-BE49-F238E27FC236}">
                <a16:creationId xmlns:a16="http://schemas.microsoft.com/office/drawing/2014/main" id="{1348B080-2ED3-4967-A0C0-2FABBEEE5FA8}"/>
              </a:ext>
            </a:extLst>
          </p:cNvPr>
          <p:cNvGraphicFramePr>
            <a:graphicFrameLocks noGrp="1"/>
          </p:cNvGraphicFramePr>
          <p:nvPr>
            <p:extLst>
              <p:ext uri="{D42A27DB-BD31-4B8C-83A1-F6EECF244321}">
                <p14:modId xmlns:p14="http://schemas.microsoft.com/office/powerpoint/2010/main" val="1851855998"/>
              </p:ext>
            </p:extLst>
          </p:nvPr>
        </p:nvGraphicFramePr>
        <p:xfrm>
          <a:off x="8590779" y="1398065"/>
          <a:ext cx="3426373" cy="4480560"/>
        </p:xfrm>
        <a:graphic>
          <a:graphicData uri="http://schemas.openxmlformats.org/drawingml/2006/table">
            <a:tbl>
              <a:tblPr firstRow="1" bandRow="1"/>
              <a:tblGrid>
                <a:gridCol w="3426373">
                  <a:extLst>
                    <a:ext uri="{9D8B030D-6E8A-4147-A177-3AD203B41FA5}">
                      <a16:colId xmlns:a16="http://schemas.microsoft.com/office/drawing/2014/main" val="2279191164"/>
                    </a:ext>
                  </a:extLst>
                </a:gridCol>
              </a:tblGrid>
              <a:tr h="448056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r>
                        <a:rPr lang="fr-FR" sz="1800" b="1" kern="1200" dirty="0">
                          <a:solidFill>
                            <a:schemeClr val="lt1"/>
                          </a:solidFill>
                          <a:effectLst/>
                          <a:latin typeface="+mn-lt"/>
                          <a:ea typeface="+mn-ea"/>
                          <a:cs typeface="+mn-cs"/>
                        </a:rPr>
                        <a:t>3. Spécificités du secteur de la sécurité </a:t>
                      </a:r>
                      <a:endParaRPr lang="fr-BF" sz="1800" b="1" kern="1200" dirty="0">
                        <a:solidFill>
                          <a:schemeClr val="lt1"/>
                        </a:solidFill>
                        <a:effectLst/>
                        <a:latin typeface="+mn-lt"/>
                        <a:ea typeface="+mn-ea"/>
                        <a:cs typeface="+mn-cs"/>
                      </a:endParaRPr>
                    </a:p>
                    <a:p>
                      <a:pPr lvl="0"/>
                      <a:r>
                        <a:rPr lang="fr-FR" sz="1800" b="1" kern="1200" dirty="0">
                          <a:solidFill>
                            <a:schemeClr val="lt1"/>
                          </a:solidFill>
                          <a:effectLst/>
                          <a:latin typeface="+mn-lt"/>
                          <a:ea typeface="+mn-ea"/>
                          <a:cs typeface="+mn-cs"/>
                        </a:rPr>
                        <a:t>Caractère sensible, secret et difficilement accessible</a:t>
                      </a:r>
                      <a:endParaRPr lang="fr-BF" sz="1800" b="1" kern="1200" dirty="0">
                        <a:solidFill>
                          <a:schemeClr val="lt1"/>
                        </a:solidFill>
                        <a:effectLst/>
                        <a:latin typeface="+mn-lt"/>
                        <a:ea typeface="+mn-ea"/>
                        <a:cs typeface="+mn-cs"/>
                      </a:endParaRPr>
                    </a:p>
                    <a:p>
                      <a:pPr lvl="0"/>
                      <a:r>
                        <a:rPr lang="fr-FR" sz="1800" b="1" kern="1200" dirty="0">
                          <a:solidFill>
                            <a:schemeClr val="lt1"/>
                          </a:solidFill>
                          <a:effectLst/>
                          <a:latin typeface="+mn-lt"/>
                          <a:ea typeface="+mn-ea"/>
                          <a:cs typeface="+mn-cs"/>
                        </a:rPr>
                        <a:t>Régime disciplinaire particulier (FDS, armée, renseignements)</a:t>
                      </a:r>
                      <a:endParaRPr lang="fr-BF" sz="1800" b="1" kern="1200" dirty="0">
                        <a:solidFill>
                          <a:schemeClr val="lt1"/>
                        </a:solidFill>
                        <a:effectLst/>
                        <a:latin typeface="+mn-lt"/>
                        <a:ea typeface="+mn-ea"/>
                        <a:cs typeface="+mn-cs"/>
                      </a:endParaRPr>
                    </a:p>
                    <a:p>
                      <a:pPr lvl="0"/>
                      <a:r>
                        <a:rPr lang="fr-FR" sz="1800" b="1" kern="1200" dirty="0">
                          <a:solidFill>
                            <a:schemeClr val="lt1"/>
                          </a:solidFill>
                          <a:effectLst/>
                          <a:latin typeface="+mn-lt"/>
                          <a:ea typeface="+mn-ea"/>
                          <a:cs typeface="+mn-cs"/>
                        </a:rPr>
                        <a:t>Environnements opérationnels à haut risque : urgence, opacité, opérations extérieures</a:t>
                      </a:r>
                      <a:endParaRPr lang="fr-BF" sz="1800" b="1" kern="1200" dirty="0">
                        <a:solidFill>
                          <a:schemeClr val="lt1"/>
                        </a:solidFill>
                        <a:effectLst/>
                        <a:latin typeface="+mn-lt"/>
                        <a:ea typeface="+mn-ea"/>
                        <a:cs typeface="+mn-cs"/>
                      </a:endParaRPr>
                    </a:p>
                    <a:p>
                      <a:pPr lvl="0"/>
                      <a:r>
                        <a:rPr lang="fr-FR" sz="1800" b="1" kern="1200" dirty="0">
                          <a:solidFill>
                            <a:schemeClr val="lt1"/>
                          </a:solidFill>
                          <a:effectLst/>
                          <a:latin typeface="+mn-lt"/>
                          <a:ea typeface="+mn-ea"/>
                          <a:cs typeface="+mn-cs"/>
                        </a:rPr>
                        <a:t>Flux matériels et financiers importants : carburant, logistique, primes, armement</a:t>
                      </a:r>
                      <a:endParaRPr lang="fr-BF" sz="1800" b="1" kern="1200" dirty="0">
                        <a:solidFill>
                          <a:schemeClr val="lt1"/>
                        </a:solidFill>
                        <a:effectLst/>
                        <a:latin typeface="+mn-lt"/>
                        <a:ea typeface="+mn-ea"/>
                        <a:cs typeface="+mn-cs"/>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1343004886"/>
                  </a:ext>
                </a:extLst>
              </a:tr>
            </a:tbl>
          </a:graphicData>
        </a:graphic>
      </p:graphicFrame>
    </p:spTree>
    <p:extLst>
      <p:ext uri="{BB962C8B-B14F-4D97-AF65-F5344CB8AC3E}">
        <p14:creationId xmlns:p14="http://schemas.microsoft.com/office/powerpoint/2010/main" val="186319375"/>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6</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1503127" y="431097"/>
            <a:ext cx="9341636"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I.</a:t>
            </a:r>
            <a:r>
              <a:rPr lang="fr-BF" sz="3200" b="1" dirty="0">
                <a:solidFill>
                  <a:prstClr val="black"/>
                </a:solidFill>
                <a:latin typeface="Aptos Display" panose="02110004020202020204"/>
                <a:ea typeface="+mj-ea"/>
                <a:cs typeface="+mj-cs"/>
              </a:rPr>
              <a:t> CADRE JURIDIQUE DE LA LUTTE CONTRE LA CORRUPTION AU BURKINA FASO</a:t>
            </a: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 (1/1)</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ZoneTexte 5">
            <a:extLst>
              <a:ext uri="{FF2B5EF4-FFF2-40B4-BE49-F238E27FC236}">
                <a16:creationId xmlns:a16="http://schemas.microsoft.com/office/drawing/2014/main" id="{9CE3B893-463B-5D82-3C8B-D453095FEEEA}"/>
              </a:ext>
            </a:extLst>
          </p:cNvPr>
          <p:cNvSpPr txBox="1"/>
          <p:nvPr/>
        </p:nvSpPr>
        <p:spPr>
          <a:xfrm>
            <a:off x="2040997" y="2123721"/>
            <a:ext cx="9235441" cy="2123658"/>
          </a:xfrm>
          <a:prstGeom prst="rect">
            <a:avLst/>
          </a:prstGeom>
          <a:noFill/>
        </p:spPr>
        <p:txBody>
          <a:bodyPr wrap="square" rtlCol="0">
            <a:spAutoFit/>
          </a:bodyPr>
          <a:lstStyle/>
          <a:p>
            <a:pPr marL="342900" lvl="0" indent="-342900">
              <a:buFont typeface="Wingdings" panose="05000000000000000000" pitchFamily="2" charset="2"/>
              <a:buChar char="Ø"/>
            </a:pPr>
            <a:r>
              <a:rPr lang="fr-FR" sz="2200" dirty="0"/>
              <a:t>les normes internationales,</a:t>
            </a:r>
          </a:p>
          <a:p>
            <a:pPr marL="342900" lvl="0" indent="-342900">
              <a:buFont typeface="Wingdings" panose="05000000000000000000" pitchFamily="2" charset="2"/>
              <a:buChar char="Ø"/>
            </a:pPr>
            <a:endParaRPr lang="fr-FR" sz="2200" dirty="0"/>
          </a:p>
          <a:p>
            <a:pPr marL="342900" lvl="0" indent="-342900">
              <a:buFont typeface="Wingdings" panose="05000000000000000000" pitchFamily="2" charset="2"/>
              <a:buChar char="Ø"/>
            </a:pPr>
            <a:r>
              <a:rPr lang="fr-FR" sz="2200" dirty="0"/>
              <a:t>le cadre normatif régional et sous-régional,</a:t>
            </a:r>
          </a:p>
          <a:p>
            <a:pPr marL="342900" lvl="0" indent="-342900">
              <a:buFont typeface="Wingdings" panose="05000000000000000000" pitchFamily="2" charset="2"/>
              <a:buChar char="Ø"/>
            </a:pPr>
            <a:endParaRPr lang="fr-FR" sz="2200" dirty="0"/>
          </a:p>
          <a:p>
            <a:pPr marL="342900" lvl="0" indent="-342900">
              <a:buFont typeface="Wingdings" panose="05000000000000000000" pitchFamily="2" charset="2"/>
              <a:buChar char="Ø"/>
            </a:pPr>
            <a:r>
              <a:rPr lang="fr-FR" sz="2200" dirty="0"/>
              <a:t> les textes juridiques de portée nationale.</a:t>
            </a:r>
          </a:p>
          <a:p>
            <a:pPr lvl="0"/>
            <a:endParaRPr lang="fr-FR" sz="2200" dirty="0"/>
          </a:p>
        </p:txBody>
      </p:sp>
    </p:spTree>
    <p:extLst>
      <p:ext uri="{BB962C8B-B14F-4D97-AF65-F5344CB8AC3E}">
        <p14:creationId xmlns:p14="http://schemas.microsoft.com/office/powerpoint/2010/main" val="3035551593"/>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7</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1503127" y="431097"/>
            <a:ext cx="9341636"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I.</a:t>
            </a:r>
            <a:r>
              <a:rPr lang="fr-BF" sz="3200" b="1" dirty="0">
                <a:solidFill>
                  <a:prstClr val="black"/>
                </a:solidFill>
                <a:latin typeface="Aptos Display" panose="02110004020202020204"/>
                <a:ea typeface="+mj-ea"/>
                <a:cs typeface="+mj-cs"/>
              </a:rPr>
              <a:t> CADRE JURIDIQUE DE LA LUTTE CONTRE LA CORRUPTION AU BURKINA FASO</a:t>
            </a: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 (1/2)</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ZoneTexte 5">
            <a:extLst>
              <a:ext uri="{FF2B5EF4-FFF2-40B4-BE49-F238E27FC236}">
                <a16:creationId xmlns:a16="http://schemas.microsoft.com/office/drawing/2014/main" id="{9CE3B893-463B-5D82-3C8B-D453095FEEEA}"/>
              </a:ext>
            </a:extLst>
          </p:cNvPr>
          <p:cNvSpPr txBox="1"/>
          <p:nvPr/>
        </p:nvSpPr>
        <p:spPr>
          <a:xfrm>
            <a:off x="1062446" y="1971697"/>
            <a:ext cx="10544085" cy="4832092"/>
          </a:xfrm>
          <a:prstGeom prst="rect">
            <a:avLst/>
          </a:prstGeom>
          <a:noFill/>
        </p:spPr>
        <p:txBody>
          <a:bodyPr wrap="square" rtlCol="0">
            <a:spAutoFit/>
          </a:bodyPr>
          <a:lstStyle/>
          <a:p>
            <a:r>
              <a:rPr lang="fr-BF" sz="2200" dirty="0"/>
              <a:t> </a:t>
            </a:r>
            <a:br>
              <a:rPr lang="fr-BF" sz="2200" b="1" dirty="0"/>
            </a:br>
            <a:r>
              <a:rPr lang="fr-BF" sz="2200" b="1" dirty="0"/>
              <a:t>- </a:t>
            </a:r>
            <a:r>
              <a:rPr lang="fr-BF" sz="2200" i="1" dirty="0"/>
              <a:t>la résolution de l’Assemblée Générale des Nations Unies </a:t>
            </a:r>
            <a:r>
              <a:rPr lang="fr-BF" sz="2200" dirty="0"/>
              <a:t>sur la corruption et son annexe portant sur le code de conduite pour les agents publics, en date du 12 décembre 1996 ;</a:t>
            </a:r>
          </a:p>
          <a:p>
            <a:pPr lvl="0"/>
            <a:r>
              <a:rPr lang="fr-BF" sz="2200" i="1" dirty="0"/>
              <a:t>- la déclaration de Lima </a:t>
            </a:r>
            <a:r>
              <a:rPr lang="fr-BF" sz="2200" dirty="0"/>
              <a:t>contre la corruption, adoptée lors de la VIIIème conférence internationale contre la corruption (1997) ;</a:t>
            </a:r>
          </a:p>
          <a:p>
            <a:pPr lvl="0"/>
            <a:r>
              <a:rPr lang="fr-BF" sz="2200" i="1" dirty="0"/>
              <a:t>- l’Engagement de Durban </a:t>
            </a:r>
            <a:r>
              <a:rPr lang="fr-BF" sz="2200" dirty="0"/>
              <a:t>pour une action efficace contre la corruption, pris lors de la IXème conférence internationale contre la corruption (1999) ;</a:t>
            </a:r>
          </a:p>
          <a:p>
            <a:pPr lvl="0"/>
            <a:r>
              <a:rPr lang="fr-BF" sz="2200" i="1" dirty="0"/>
              <a:t>- l’Agenda 2063 de l’Union Africaine (UA).</a:t>
            </a:r>
            <a:endParaRPr lang="fr-BF" sz="2200" dirty="0"/>
          </a:p>
          <a:p>
            <a:pPr lvl="0"/>
            <a:r>
              <a:rPr lang="fr-BF" sz="2200" dirty="0"/>
              <a:t>- la convention des Nations Unies contre la criminalité transnationale organisée, dite </a:t>
            </a:r>
            <a:r>
              <a:rPr lang="fr-BF" sz="2200" i="1" dirty="0"/>
              <a:t>« Convention de Palerme »</a:t>
            </a:r>
            <a:r>
              <a:rPr lang="fr-BF" sz="2200" dirty="0"/>
              <a:t> du 15 novembre 2000</a:t>
            </a:r>
            <a:r>
              <a:rPr lang="fr-BF" sz="2200" i="1" dirty="0"/>
              <a:t> </a:t>
            </a:r>
            <a:r>
              <a:rPr lang="fr-BF" sz="2200" dirty="0"/>
              <a:t>(ratifiée par le Burkina Faso le 15 mai 2002) ; </a:t>
            </a:r>
          </a:p>
          <a:p>
            <a:pPr lvl="0"/>
            <a:r>
              <a:rPr lang="fr-BF" sz="2200" dirty="0"/>
              <a:t>- la convention des Nations Unies relative à la lutte contre la corruption, dite </a:t>
            </a:r>
            <a:r>
              <a:rPr lang="fr-BF" sz="2200" i="1" dirty="0"/>
              <a:t>« Convention de Mérida » </a:t>
            </a:r>
            <a:r>
              <a:rPr lang="fr-BF" sz="2200" dirty="0"/>
              <a:t>du 31 octobre 2003 (ratifiée par le Burkina Faso le 31 mars 2005). </a:t>
            </a:r>
          </a:p>
          <a:p>
            <a:endParaRPr lang="fr-BF" sz="2200" dirty="0"/>
          </a:p>
        </p:txBody>
      </p:sp>
      <p:sp>
        <p:nvSpPr>
          <p:cNvPr id="14" name="ZoneTexte 13">
            <a:extLst>
              <a:ext uri="{FF2B5EF4-FFF2-40B4-BE49-F238E27FC236}">
                <a16:creationId xmlns:a16="http://schemas.microsoft.com/office/drawing/2014/main" id="{BA56F50B-F48A-4BC7-AC0E-44919527ABB4}"/>
              </a:ext>
            </a:extLst>
          </p:cNvPr>
          <p:cNvSpPr txBox="1"/>
          <p:nvPr/>
        </p:nvSpPr>
        <p:spPr>
          <a:xfrm>
            <a:off x="1138847" y="1696216"/>
            <a:ext cx="8363281" cy="550962"/>
          </a:xfrm>
          <a:prstGeom prst="foldedCorner">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txBody>
          <a:bodyPr wrap="square" rtlCol="0">
            <a:spAutoFit/>
          </a:bodyPr>
          <a:lstStyle/>
          <a:p>
            <a:r>
              <a:rPr lang="fr-FR" sz="2400" b="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NORMES INTERNATIONALES </a:t>
            </a:r>
            <a:endParaRPr lang="fr-BF" sz="2400" b="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09336369"/>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8</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1503127" y="431097"/>
            <a:ext cx="9341636"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I.</a:t>
            </a:r>
            <a:r>
              <a:rPr lang="fr-BF" sz="3200" b="1" dirty="0">
                <a:solidFill>
                  <a:prstClr val="black"/>
                </a:solidFill>
                <a:latin typeface="Aptos Display" panose="02110004020202020204"/>
                <a:ea typeface="+mj-ea"/>
                <a:cs typeface="+mj-cs"/>
              </a:rPr>
              <a:t> CADRE JURIDIQUE DE LA LUTTE CONTRE LA CORRUPTION AU BURKINA FASO</a:t>
            </a: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 (1/3)</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ZoneTexte 5">
            <a:extLst>
              <a:ext uri="{FF2B5EF4-FFF2-40B4-BE49-F238E27FC236}">
                <a16:creationId xmlns:a16="http://schemas.microsoft.com/office/drawing/2014/main" id="{9CE3B893-463B-5D82-3C8B-D453095FEEEA}"/>
              </a:ext>
            </a:extLst>
          </p:cNvPr>
          <p:cNvSpPr txBox="1"/>
          <p:nvPr/>
        </p:nvSpPr>
        <p:spPr>
          <a:xfrm>
            <a:off x="1062446" y="2362631"/>
            <a:ext cx="10544085" cy="4493538"/>
          </a:xfrm>
          <a:prstGeom prst="rect">
            <a:avLst/>
          </a:prstGeom>
          <a:noFill/>
        </p:spPr>
        <p:txBody>
          <a:bodyPr wrap="square" rtlCol="0">
            <a:spAutoFit/>
          </a:bodyPr>
          <a:lstStyle/>
          <a:p>
            <a:pPr lvl="0"/>
            <a:r>
              <a:rPr lang="fr-BF" sz="2200" dirty="0"/>
              <a:t>- la déclaration des ministres africains sur la lutte contre la corruption, sous l’égide de la Coalition mondiale pour l’Afrique (1999) ;</a:t>
            </a:r>
          </a:p>
          <a:p>
            <a:pPr lvl="0"/>
            <a:r>
              <a:rPr lang="fr-BF" sz="2200" dirty="0"/>
              <a:t>- la déclaration de Dakar en matière de déclarations de patrimoine, adoptée à Dakar le 28 mai 2014 ;</a:t>
            </a:r>
            <a:br>
              <a:rPr lang="fr-BF" sz="2200" dirty="0"/>
            </a:br>
            <a:r>
              <a:rPr lang="fr-BF" sz="2200" dirty="0"/>
              <a:t>- la Directive n°02/2000/CM/UEMOA du 29 juin 2000 portant adoption du code de transparence dans la gestion des Finances publiques au sein de l’UEMOA, modifié en 2009 et internalisée en 2013 (loi 008-2013)</a:t>
            </a:r>
            <a:br>
              <a:rPr lang="fr-BF" sz="2200" dirty="0"/>
            </a:br>
            <a:r>
              <a:rPr lang="fr-BF" sz="2200" dirty="0"/>
              <a:t>-  le Protocole A/P3/12/01 de la CEDEAO du 21 décembre 2001 sur la lutte contre la corruption,</a:t>
            </a:r>
            <a:br>
              <a:rPr lang="fr-BF" sz="2200" dirty="0"/>
            </a:br>
            <a:r>
              <a:rPr lang="fr-BF" sz="2200" dirty="0"/>
              <a:t>-la Convention de l’Union africaine sur la prévention et la lutte contre la corruption, (ratifiée par le Burkina Faso le 29 novembre 2005) ;</a:t>
            </a:r>
          </a:p>
          <a:p>
            <a:pPr lvl="0"/>
            <a:r>
              <a:rPr lang="fr-BF" sz="2200" dirty="0"/>
              <a:t>- Recommandations du GIABA (groupe LCB/FT)</a:t>
            </a:r>
          </a:p>
          <a:p>
            <a:pPr lvl="0"/>
            <a:endParaRPr lang="fr-BF" sz="2200" dirty="0"/>
          </a:p>
        </p:txBody>
      </p:sp>
      <p:sp>
        <p:nvSpPr>
          <p:cNvPr id="14" name="ZoneTexte 13">
            <a:extLst>
              <a:ext uri="{FF2B5EF4-FFF2-40B4-BE49-F238E27FC236}">
                <a16:creationId xmlns:a16="http://schemas.microsoft.com/office/drawing/2014/main" id="{BA56F50B-F48A-4BC7-AC0E-44919527ABB4}"/>
              </a:ext>
            </a:extLst>
          </p:cNvPr>
          <p:cNvSpPr txBox="1"/>
          <p:nvPr/>
        </p:nvSpPr>
        <p:spPr>
          <a:xfrm>
            <a:off x="1062446" y="1598298"/>
            <a:ext cx="8363281" cy="550962"/>
          </a:xfrm>
          <a:prstGeom prst="foldedCorner">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txBody>
          <a:bodyPr wrap="square" rtlCol="0">
            <a:spAutoFit/>
          </a:bodyPr>
          <a:lstStyle/>
          <a:p>
            <a:r>
              <a:rPr lang="fr-FR" sz="2400" b="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CADRE NORMATIF RÉGIONAL ET SOUS-RÉGIONAL</a:t>
            </a:r>
          </a:p>
        </p:txBody>
      </p:sp>
    </p:spTree>
    <p:extLst>
      <p:ext uri="{BB962C8B-B14F-4D97-AF65-F5344CB8AC3E}">
        <p14:creationId xmlns:p14="http://schemas.microsoft.com/office/powerpoint/2010/main" val="2307008691"/>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9</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1503127" y="431097"/>
            <a:ext cx="9341636"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I.</a:t>
            </a:r>
            <a:r>
              <a:rPr lang="fr-BF" sz="3200" b="1" dirty="0">
                <a:solidFill>
                  <a:prstClr val="black"/>
                </a:solidFill>
                <a:latin typeface="Aptos Display" panose="02110004020202020204"/>
                <a:ea typeface="+mj-ea"/>
                <a:cs typeface="+mj-cs"/>
              </a:rPr>
              <a:t> CADRE JURIDIQUE DE LA LUTTE CONTRE LA CORRUPTION AU BURKINA FASO</a:t>
            </a: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 (1/4)</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ZoneTexte 5">
            <a:extLst>
              <a:ext uri="{FF2B5EF4-FFF2-40B4-BE49-F238E27FC236}">
                <a16:creationId xmlns:a16="http://schemas.microsoft.com/office/drawing/2014/main" id="{9CE3B893-463B-5D82-3C8B-D453095FEEEA}"/>
              </a:ext>
            </a:extLst>
          </p:cNvPr>
          <p:cNvSpPr txBox="1"/>
          <p:nvPr/>
        </p:nvSpPr>
        <p:spPr>
          <a:xfrm>
            <a:off x="1062446" y="1971697"/>
            <a:ext cx="10773424" cy="4832092"/>
          </a:xfrm>
          <a:prstGeom prst="rect">
            <a:avLst/>
          </a:prstGeom>
          <a:noFill/>
        </p:spPr>
        <p:txBody>
          <a:bodyPr wrap="square" rtlCol="0">
            <a:spAutoFit/>
          </a:bodyPr>
          <a:lstStyle/>
          <a:p>
            <a:pPr marL="457200" indent="-457200">
              <a:buAutoNum type="arabicPeriod"/>
            </a:pPr>
            <a:r>
              <a:rPr lang="fr-BF" sz="2200" dirty="0"/>
              <a:t>La Constitution du Burkina Faso</a:t>
            </a:r>
            <a:endParaRPr lang="fr-FR" sz="2200" dirty="0"/>
          </a:p>
          <a:p>
            <a:endParaRPr lang="fr-BF" sz="2200" b="1" dirty="0"/>
          </a:p>
          <a:p>
            <a:r>
              <a:rPr lang="fr-BF" sz="2200" dirty="0"/>
              <a:t>2. Les dispositions du code pénal (Loi n°025-2018/AN modifiée)</a:t>
            </a:r>
            <a:br>
              <a:rPr lang="fr-BF" sz="2200" dirty="0"/>
            </a:br>
            <a:endParaRPr lang="fr-BF" sz="2200" dirty="0"/>
          </a:p>
          <a:p>
            <a:r>
              <a:rPr lang="fr-BF" sz="2200" dirty="0"/>
              <a:t>3. La loi 004-2023/alt portant prévention et répression de la corruption</a:t>
            </a:r>
            <a:br>
              <a:rPr lang="fr-BF" sz="2200" dirty="0"/>
            </a:br>
            <a:endParaRPr lang="fr-BF" sz="2200" dirty="0"/>
          </a:p>
          <a:p>
            <a:r>
              <a:rPr lang="fr-BF" sz="2200" dirty="0"/>
              <a:t>4. La loi organique 082-2015/cnt portant attributions de l’asce-lc</a:t>
            </a:r>
            <a:br>
              <a:rPr lang="fr-BF" sz="2200" dirty="0"/>
            </a:br>
            <a:endParaRPr lang="fr-BF" sz="2200" dirty="0"/>
          </a:p>
          <a:p>
            <a:r>
              <a:rPr lang="fr-BF" sz="2200" dirty="0"/>
              <a:t>5. La loi 050-2018/an portant déclaration d’intérêts et de patrimoine</a:t>
            </a:r>
            <a:br>
              <a:rPr lang="fr-BF" sz="2200" dirty="0"/>
            </a:br>
            <a:endParaRPr lang="fr-BF" sz="2200" dirty="0"/>
          </a:p>
          <a:p>
            <a:r>
              <a:rPr lang="fr-BF" sz="2200" dirty="0"/>
              <a:t>6. La loi 046-2024/alt sur le blanchiment de capitaux et le financement du terrorisme (LCB/FT)</a:t>
            </a:r>
            <a:br>
              <a:rPr lang="fr-BF" sz="2200" dirty="0"/>
            </a:br>
            <a:endParaRPr lang="fr-BF" sz="2200" dirty="0"/>
          </a:p>
          <a:p>
            <a:r>
              <a:rPr lang="fr-BF" sz="2200" dirty="0"/>
              <a:t>7. Le code de procédure pénale (CPP)</a:t>
            </a:r>
          </a:p>
        </p:txBody>
      </p:sp>
      <p:sp>
        <p:nvSpPr>
          <p:cNvPr id="14" name="ZoneTexte 13">
            <a:extLst>
              <a:ext uri="{FF2B5EF4-FFF2-40B4-BE49-F238E27FC236}">
                <a16:creationId xmlns:a16="http://schemas.microsoft.com/office/drawing/2014/main" id="{BA56F50B-F48A-4BC7-AC0E-44919527ABB4}"/>
              </a:ext>
            </a:extLst>
          </p:cNvPr>
          <p:cNvSpPr txBox="1"/>
          <p:nvPr/>
        </p:nvSpPr>
        <p:spPr>
          <a:xfrm>
            <a:off x="1138847" y="1485693"/>
            <a:ext cx="9705916" cy="550962"/>
          </a:xfrm>
          <a:prstGeom prst="foldedCorner">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txBody>
          <a:bodyPr wrap="square" rtlCol="0">
            <a:spAutoFit/>
          </a:bodyPr>
          <a:lstStyle/>
          <a:p>
            <a:r>
              <a:rPr lang="fr-FR" sz="2400" b="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TEXTES JURIDIQUES DE PORTÉE NATIONALE (textes législatifs)</a:t>
            </a:r>
          </a:p>
        </p:txBody>
      </p:sp>
    </p:spTree>
    <p:extLst>
      <p:ext uri="{BB962C8B-B14F-4D97-AF65-F5344CB8AC3E}">
        <p14:creationId xmlns:p14="http://schemas.microsoft.com/office/powerpoint/2010/main" val="3680930246"/>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10</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1503127" y="431097"/>
            <a:ext cx="9341636"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I.</a:t>
            </a:r>
            <a:r>
              <a:rPr lang="fr-BF" sz="3200" b="1" dirty="0">
                <a:solidFill>
                  <a:prstClr val="black"/>
                </a:solidFill>
                <a:latin typeface="Aptos Display" panose="02110004020202020204"/>
                <a:ea typeface="+mj-ea"/>
                <a:cs typeface="+mj-cs"/>
              </a:rPr>
              <a:t> CADRE JURIDIQUE DE LA LUTTE CONTRE LA CORRUPTION AU BURKINA FASO</a:t>
            </a: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 (1/5)</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ZoneTexte 5">
            <a:extLst>
              <a:ext uri="{FF2B5EF4-FFF2-40B4-BE49-F238E27FC236}">
                <a16:creationId xmlns:a16="http://schemas.microsoft.com/office/drawing/2014/main" id="{9CE3B893-463B-5D82-3C8B-D453095FEEEA}"/>
              </a:ext>
            </a:extLst>
          </p:cNvPr>
          <p:cNvSpPr txBox="1"/>
          <p:nvPr/>
        </p:nvSpPr>
        <p:spPr>
          <a:xfrm>
            <a:off x="1062446" y="2558467"/>
            <a:ext cx="10544085" cy="3477875"/>
          </a:xfrm>
          <a:prstGeom prst="rect">
            <a:avLst/>
          </a:prstGeom>
          <a:noFill/>
        </p:spPr>
        <p:txBody>
          <a:bodyPr wrap="square" rtlCol="0">
            <a:spAutoFit/>
          </a:bodyPr>
          <a:lstStyle/>
          <a:p>
            <a:pPr lvl="0"/>
            <a:r>
              <a:rPr lang="fr-BF" sz="2200" dirty="0"/>
              <a:t>le décret N°2016-514/PRES/PM/MJDHPC du 14 Juin 2016 (relatif aux don, cadeau ou tout autre avantage supérieur à 35.000 F.CFA)</a:t>
            </a:r>
          </a:p>
          <a:p>
            <a:pPr lvl="0"/>
            <a:r>
              <a:rPr lang="fr-BF" sz="2200" dirty="0"/>
              <a:t>le décret N°2016-465/PRES/PM/MJDHP du 31/05/2016 (seuil relatif au délit d’apparence. 5% des revenus licites</a:t>
            </a:r>
          </a:p>
          <a:p>
            <a:pPr lvl="0"/>
            <a:r>
              <a:rPr lang="fr-BF" sz="2200" dirty="0"/>
              <a:t>le décret N° 2016-470/PRES/PM/MJDHPC du 2 juin 2016 (procédure et délai de transmission des DIP);</a:t>
            </a:r>
          </a:p>
          <a:p>
            <a:pPr lvl="0"/>
            <a:r>
              <a:rPr lang="fr-BF" sz="2200" dirty="0"/>
              <a:t>l’arrêté n° 2024-048 MJDHRI/MEFP du 29 mai 2024 portant adoption de la stratégie nationale de lutte contre la corruption 2024-2028 et son plan d’actions triennal glissant 2024-2026 ;</a:t>
            </a:r>
          </a:p>
          <a:p>
            <a:pPr lvl="0"/>
            <a:endParaRPr lang="fr-BF" sz="2200" dirty="0"/>
          </a:p>
        </p:txBody>
      </p:sp>
      <p:sp>
        <p:nvSpPr>
          <p:cNvPr id="14" name="ZoneTexte 13">
            <a:extLst>
              <a:ext uri="{FF2B5EF4-FFF2-40B4-BE49-F238E27FC236}">
                <a16:creationId xmlns:a16="http://schemas.microsoft.com/office/drawing/2014/main" id="{BA56F50B-F48A-4BC7-AC0E-44919527ABB4}"/>
              </a:ext>
            </a:extLst>
          </p:cNvPr>
          <p:cNvSpPr txBox="1"/>
          <p:nvPr/>
        </p:nvSpPr>
        <p:spPr>
          <a:xfrm>
            <a:off x="1138847" y="1696216"/>
            <a:ext cx="9705916" cy="550962"/>
          </a:xfrm>
          <a:prstGeom prst="foldedCorner">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txBody>
          <a:bodyPr wrap="square" rtlCol="0">
            <a:spAutoFit/>
          </a:bodyPr>
          <a:lstStyle/>
          <a:p>
            <a:r>
              <a:rPr lang="fr-BF" sz="2400" b="1" dirty="0"/>
              <a:t>TEXTES JURIDIQUES DE PORTÉE NATIONALE (textes règlementaires)</a:t>
            </a:r>
            <a:r>
              <a:rPr lang="fr-FR" sz="2400" b="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endParaRPr lang="fr-BF" sz="2400" b="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08118709"/>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11</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1503127" y="431097"/>
            <a:ext cx="9341636"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I.</a:t>
            </a:r>
            <a:r>
              <a:rPr lang="fr-BF" sz="3200" b="1" dirty="0">
                <a:solidFill>
                  <a:prstClr val="black"/>
                </a:solidFill>
                <a:latin typeface="Aptos Display" panose="02110004020202020204"/>
                <a:ea typeface="+mj-ea"/>
                <a:cs typeface="+mj-cs"/>
              </a:rPr>
              <a:t> CADRE JURIDIQUE DE LA LUTTE CONTRE LA CORRUPTION AU BURKINA FASO</a:t>
            </a: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 (1/6)</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ZoneTexte 5">
            <a:extLst>
              <a:ext uri="{FF2B5EF4-FFF2-40B4-BE49-F238E27FC236}">
                <a16:creationId xmlns:a16="http://schemas.microsoft.com/office/drawing/2014/main" id="{9CE3B893-463B-5D82-3C8B-D453095FEEEA}"/>
              </a:ext>
            </a:extLst>
          </p:cNvPr>
          <p:cNvSpPr txBox="1"/>
          <p:nvPr/>
        </p:nvSpPr>
        <p:spPr>
          <a:xfrm>
            <a:off x="1062446" y="2406034"/>
            <a:ext cx="10544085" cy="4154984"/>
          </a:xfrm>
          <a:prstGeom prst="rect">
            <a:avLst/>
          </a:prstGeom>
          <a:noFill/>
        </p:spPr>
        <p:txBody>
          <a:bodyPr wrap="square" rtlCol="0">
            <a:spAutoFit/>
          </a:bodyPr>
          <a:lstStyle/>
          <a:p>
            <a:pPr lvl="0"/>
            <a:r>
              <a:rPr lang="fr-BF" sz="2200" dirty="0"/>
              <a:t>le décret n°2024-0202/PRES-TRANS/PM/MFPTPS/MATDS/MEFP/MJDHRI du 14 mars 2024 (dénonciation des faits de corruptions, des mauvaises pratiques dans les administrations, les récompenses y relatives) ;</a:t>
            </a:r>
          </a:p>
          <a:p>
            <a:pPr lvl="0"/>
            <a:r>
              <a:rPr lang="fr-BF" sz="2200" dirty="0"/>
              <a:t>le décret n°2024-0999/PRES/MDAC/MFPTPS/MATDS/MEFP/MJDHRI/MSHP/MESRI/MEEA du 27 août 2024 portant création, organisation, attributions, composition et fonctionnement d’une CRD ;</a:t>
            </a:r>
          </a:p>
          <a:p>
            <a:pPr lvl="0"/>
            <a:r>
              <a:rPr lang="fr-BF" sz="2200" dirty="0"/>
              <a:t>le décret n°2019-0237 /PRES/PM/MFPTPS/MDENP portant adoption du dispositif d’enregistrement et de traitement des plaintes et suggestions des usagers des ministères et institutions du 29 mars 2019 ;</a:t>
            </a:r>
          </a:p>
          <a:p>
            <a:pPr lvl="0"/>
            <a:r>
              <a:rPr lang="fr-BF" sz="2200" dirty="0"/>
              <a:t>les textes réglementaires des comités anti-corruption des départements ministériels et des institutions.</a:t>
            </a:r>
          </a:p>
          <a:p>
            <a:pPr lvl="0"/>
            <a:r>
              <a:rPr lang="fr-BF" sz="2200" dirty="0"/>
              <a:t>Etc.</a:t>
            </a:r>
          </a:p>
        </p:txBody>
      </p:sp>
      <p:sp>
        <p:nvSpPr>
          <p:cNvPr id="14" name="ZoneTexte 13">
            <a:extLst>
              <a:ext uri="{FF2B5EF4-FFF2-40B4-BE49-F238E27FC236}">
                <a16:creationId xmlns:a16="http://schemas.microsoft.com/office/drawing/2014/main" id="{BA56F50B-F48A-4BC7-AC0E-44919527ABB4}"/>
              </a:ext>
            </a:extLst>
          </p:cNvPr>
          <p:cNvSpPr txBox="1"/>
          <p:nvPr/>
        </p:nvSpPr>
        <p:spPr>
          <a:xfrm>
            <a:off x="1138847" y="1696216"/>
            <a:ext cx="9705916" cy="550962"/>
          </a:xfrm>
          <a:prstGeom prst="foldedCorner">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txBody>
          <a:bodyPr wrap="square" rtlCol="0">
            <a:spAutoFit/>
          </a:bodyPr>
          <a:lstStyle/>
          <a:p>
            <a:r>
              <a:rPr lang="fr-BF" sz="2400" b="1" dirty="0"/>
              <a:t>TEXTES JURIDIQUES DE PORTÉE NATIONALE (textes règlementaires)</a:t>
            </a:r>
            <a:r>
              <a:rPr lang="fr-FR" sz="2400" b="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endParaRPr lang="fr-BF" sz="2400" b="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8772858"/>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12</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1503127" y="431097"/>
            <a:ext cx="9341636"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II. CADRE INSTITUTIONNEL DE LA LUTTE CONTRE LA CORRUPTION AU BURKINA FASO (1/1)</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aphicFrame>
        <p:nvGraphicFramePr>
          <p:cNvPr id="23" name="Tableau 22">
            <a:extLst>
              <a:ext uri="{FF2B5EF4-FFF2-40B4-BE49-F238E27FC236}">
                <a16:creationId xmlns:a16="http://schemas.microsoft.com/office/drawing/2014/main" id="{2045BD8A-3479-4CE7-A44B-2386B681EDDC}"/>
              </a:ext>
            </a:extLst>
          </p:cNvPr>
          <p:cNvGraphicFramePr>
            <a:graphicFrameLocks noGrp="1"/>
          </p:cNvGraphicFramePr>
          <p:nvPr>
            <p:extLst>
              <p:ext uri="{D42A27DB-BD31-4B8C-83A1-F6EECF244321}">
                <p14:modId xmlns:p14="http://schemas.microsoft.com/office/powerpoint/2010/main" val="2225339242"/>
              </p:ext>
            </p:extLst>
          </p:nvPr>
        </p:nvGraphicFramePr>
        <p:xfrm>
          <a:off x="1205226" y="1778628"/>
          <a:ext cx="3912476" cy="3657600"/>
        </p:xfrm>
        <a:graphic>
          <a:graphicData uri="http://schemas.openxmlformats.org/drawingml/2006/table">
            <a:tbl>
              <a:tblPr firstRow="1" bandRow="1"/>
              <a:tblGrid>
                <a:gridCol w="3912476">
                  <a:extLst>
                    <a:ext uri="{9D8B030D-6E8A-4147-A177-3AD203B41FA5}">
                      <a16:colId xmlns:a16="http://schemas.microsoft.com/office/drawing/2014/main" val="2560586591"/>
                    </a:ext>
                  </a:extLst>
                </a:gridCol>
              </a:tblGrid>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r>
                        <a:rPr lang="fr-FR" sz="1800" b="1" i="0" u="none" strike="noStrike" kern="1200" dirty="0">
                          <a:solidFill>
                            <a:schemeClr val="lt1"/>
                          </a:solidFill>
                          <a:effectLst/>
                          <a:latin typeface="+mn-lt"/>
                          <a:ea typeface="+mn-ea"/>
                          <a:cs typeface="+mn-cs"/>
                        </a:rPr>
                        <a:t>LES ORGANES NATIONAUX COMPÉTENTS</a:t>
                      </a:r>
                    </a:p>
                    <a:p>
                      <a:r>
                        <a:rPr lang="fr-FR" sz="1800" b="1" i="0" u="none" strike="noStrike" kern="1200" dirty="0">
                          <a:solidFill>
                            <a:schemeClr val="lt1"/>
                          </a:solidFill>
                          <a:effectLst/>
                          <a:latin typeface="+mn-lt"/>
                          <a:ea typeface="+mn-ea"/>
                          <a:cs typeface="+mn-cs"/>
                        </a:rPr>
                        <a:t>a. ASCE-LC </a:t>
                      </a:r>
                      <a:br>
                        <a:rPr lang="fr-FR" sz="1800" b="1" i="0" u="none" strike="noStrike" kern="1200" dirty="0">
                          <a:solidFill>
                            <a:schemeClr val="lt1"/>
                          </a:solidFill>
                          <a:effectLst/>
                          <a:latin typeface="+mn-lt"/>
                          <a:ea typeface="+mn-ea"/>
                          <a:cs typeface="+mn-cs"/>
                        </a:rPr>
                      </a:br>
                      <a:r>
                        <a:rPr lang="fr-FR" sz="1800" b="1" i="0" u="none" strike="noStrike" kern="1200" dirty="0">
                          <a:solidFill>
                            <a:schemeClr val="lt1"/>
                          </a:solidFill>
                          <a:effectLst/>
                          <a:latin typeface="+mn-lt"/>
                          <a:ea typeface="+mn-ea"/>
                          <a:cs typeface="+mn-cs"/>
                        </a:rPr>
                        <a:t>b. Pôle économique et financier (ECOFI) </a:t>
                      </a:r>
                    </a:p>
                    <a:p>
                      <a:r>
                        <a:rPr lang="fr-FR" sz="1800" b="1" i="0" u="none" strike="noStrike" kern="1200" dirty="0">
                          <a:solidFill>
                            <a:schemeClr val="lt1"/>
                          </a:solidFill>
                          <a:effectLst/>
                          <a:latin typeface="+mn-lt"/>
                          <a:ea typeface="+mn-ea"/>
                          <a:cs typeface="+mn-cs"/>
                        </a:rPr>
                        <a:t>c. Cour des comptes</a:t>
                      </a:r>
                    </a:p>
                    <a:p>
                      <a:r>
                        <a:rPr lang="fr-FR" sz="1800" b="1" i="0" u="none" strike="noStrike" kern="1200" dirty="0">
                          <a:solidFill>
                            <a:schemeClr val="lt1"/>
                          </a:solidFill>
                          <a:effectLst/>
                          <a:latin typeface="+mn-lt"/>
                          <a:ea typeface="+mn-ea"/>
                          <a:cs typeface="+mn-cs"/>
                        </a:rPr>
                        <a:t>d. Juridictions ordinaires</a:t>
                      </a:r>
                    </a:p>
                    <a:p>
                      <a:r>
                        <a:rPr lang="fr-FR" sz="1800" b="1" i="0" u="none" strike="noStrike" kern="1200" dirty="0">
                          <a:solidFill>
                            <a:schemeClr val="lt1"/>
                          </a:solidFill>
                          <a:effectLst/>
                          <a:latin typeface="+mn-lt"/>
                          <a:ea typeface="+mn-ea"/>
                          <a:cs typeface="+mn-cs"/>
                        </a:rPr>
                        <a:t>e. CENTIF (Cellule nationale de traitement des informations financières)</a:t>
                      </a:r>
                    </a:p>
                    <a:p>
                      <a:r>
                        <a:rPr lang="fr-FR" sz="1800" b="1" i="0" u="none" strike="noStrike" kern="1200" dirty="0">
                          <a:solidFill>
                            <a:schemeClr val="lt1"/>
                          </a:solidFill>
                          <a:effectLst/>
                          <a:latin typeface="+mn-lt"/>
                          <a:ea typeface="+mn-ea"/>
                          <a:cs typeface="+mn-cs"/>
                        </a:rPr>
                        <a:t>f. L’IGFAN, l’IGF, les IGS, ITS</a:t>
                      </a:r>
                    </a:p>
                    <a:p>
                      <a:r>
                        <a:rPr lang="fr-FR" sz="1800" b="1" i="0" u="none" strike="noStrike" kern="1200" dirty="0">
                          <a:solidFill>
                            <a:schemeClr val="lt1"/>
                          </a:solidFill>
                          <a:effectLst/>
                          <a:latin typeface="+mn-lt"/>
                          <a:ea typeface="+mn-ea"/>
                          <a:cs typeface="+mn-cs"/>
                        </a:rPr>
                        <a:t>g. Organisations de la société civile (ex : RENLAC</a:t>
                      </a:r>
                      <a:endParaRPr lang="fr-BF"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2485069221"/>
                  </a:ext>
                </a:extLst>
              </a:tr>
            </a:tbl>
          </a:graphicData>
        </a:graphic>
      </p:graphicFrame>
      <p:graphicFrame>
        <p:nvGraphicFramePr>
          <p:cNvPr id="26" name="Tableau 25">
            <a:extLst>
              <a:ext uri="{FF2B5EF4-FFF2-40B4-BE49-F238E27FC236}">
                <a16:creationId xmlns:a16="http://schemas.microsoft.com/office/drawing/2014/main" id="{17B56EED-2BD4-4170-8F72-DB652839164E}"/>
              </a:ext>
            </a:extLst>
          </p:cNvPr>
          <p:cNvGraphicFramePr>
            <a:graphicFrameLocks noGrp="1"/>
          </p:cNvGraphicFramePr>
          <p:nvPr>
            <p:extLst>
              <p:ext uri="{D42A27DB-BD31-4B8C-83A1-F6EECF244321}">
                <p14:modId xmlns:p14="http://schemas.microsoft.com/office/powerpoint/2010/main" val="4212970367"/>
              </p:ext>
            </p:extLst>
          </p:nvPr>
        </p:nvGraphicFramePr>
        <p:xfrm>
          <a:off x="6781025" y="1763979"/>
          <a:ext cx="3912476" cy="3683416"/>
        </p:xfrm>
        <a:graphic>
          <a:graphicData uri="http://schemas.openxmlformats.org/drawingml/2006/table">
            <a:tbl>
              <a:tblPr firstRow="1" bandRow="1"/>
              <a:tblGrid>
                <a:gridCol w="3912476">
                  <a:extLst>
                    <a:ext uri="{9D8B030D-6E8A-4147-A177-3AD203B41FA5}">
                      <a16:colId xmlns:a16="http://schemas.microsoft.com/office/drawing/2014/main" val="2560586591"/>
                    </a:ext>
                  </a:extLst>
                </a:gridCol>
              </a:tblGrid>
              <a:tr h="3683416">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r>
                        <a:rPr lang="fr-BF" sz="1800" b="1" kern="1200" dirty="0">
                          <a:solidFill>
                            <a:schemeClr val="lt1"/>
                          </a:solidFill>
                          <a:effectLst/>
                          <a:latin typeface="+mn-lt"/>
                          <a:ea typeface="+mn-ea"/>
                          <a:cs typeface="+mn-cs"/>
                        </a:rPr>
                        <a:t>LES ORGANES INTERNATIONNAUX ET RÉGIONAUX</a:t>
                      </a:r>
                      <a:br>
                        <a:rPr lang="fr-BF" sz="1800" b="1" i="0" kern="1200" dirty="0">
                          <a:solidFill>
                            <a:schemeClr val="lt1"/>
                          </a:solidFill>
                          <a:effectLst/>
                          <a:latin typeface="+mn-lt"/>
                          <a:ea typeface="+mn-ea"/>
                          <a:cs typeface="+mn-cs"/>
                        </a:rPr>
                      </a:br>
                      <a:r>
                        <a:rPr lang="fr-BF" sz="1800" b="1" kern="1200" dirty="0">
                          <a:solidFill>
                            <a:schemeClr val="lt1"/>
                          </a:solidFill>
                          <a:effectLst/>
                          <a:latin typeface="+mn-lt"/>
                          <a:ea typeface="+mn-ea"/>
                          <a:cs typeface="+mn-cs"/>
                        </a:rPr>
                        <a:t>L’ONUDC ;</a:t>
                      </a:r>
                    </a:p>
                    <a:p>
                      <a:r>
                        <a:rPr lang="fr-BF" sz="1800" b="1" kern="1200" dirty="0">
                          <a:solidFill>
                            <a:schemeClr val="lt1"/>
                          </a:solidFill>
                          <a:effectLst/>
                          <a:latin typeface="+mn-lt"/>
                          <a:ea typeface="+mn-ea"/>
                          <a:cs typeface="+mn-cs"/>
                        </a:rPr>
                        <a:t>Les juridictions pénales internationales ; </a:t>
                      </a:r>
                    </a:p>
                    <a:p>
                      <a:r>
                        <a:rPr lang="fr-FR" sz="1800" b="1" kern="1200" dirty="0">
                          <a:solidFill>
                            <a:schemeClr val="lt1"/>
                          </a:solidFill>
                          <a:effectLst/>
                          <a:latin typeface="+mn-lt"/>
                          <a:ea typeface="+mn-ea"/>
                          <a:cs typeface="+mn-cs"/>
                        </a:rPr>
                        <a:t>L</a:t>
                      </a:r>
                      <a:r>
                        <a:rPr lang="fr-BF" sz="1800" b="1" kern="1200" dirty="0">
                          <a:solidFill>
                            <a:schemeClr val="lt1"/>
                          </a:solidFill>
                          <a:effectLst/>
                          <a:latin typeface="+mn-lt"/>
                          <a:ea typeface="+mn-ea"/>
                          <a:cs typeface="+mn-cs"/>
                        </a:rPr>
                        <a:t>’AFROSAI et l’INTOSAI</a:t>
                      </a:r>
                    </a:p>
                    <a:p>
                      <a:pPr lvl="0"/>
                      <a:r>
                        <a:rPr lang="fr-BF" sz="1800" b="1" kern="1200" dirty="0">
                          <a:solidFill>
                            <a:schemeClr val="lt1"/>
                          </a:solidFill>
                          <a:effectLst/>
                          <a:latin typeface="+mn-lt"/>
                          <a:ea typeface="+mn-ea"/>
                          <a:cs typeface="+mn-cs"/>
                        </a:rPr>
                        <a:t>L’Association des Autorités Anti-corruption d’Afrique (AAACA°) ;</a:t>
                      </a:r>
                    </a:p>
                    <a:p>
                      <a:r>
                        <a:rPr lang="fr-BF" sz="1800" b="1" kern="1200" dirty="0">
                          <a:solidFill>
                            <a:schemeClr val="lt1"/>
                          </a:solidFill>
                          <a:effectLst/>
                          <a:latin typeface="+mn-lt"/>
                          <a:ea typeface="+mn-ea"/>
                          <a:cs typeface="+mn-cs"/>
                        </a:rPr>
                        <a:t>Le RINLCAO </a:t>
                      </a:r>
                      <a:br>
                        <a:rPr lang="fr-BF" sz="1800" b="1" kern="1200" dirty="0">
                          <a:solidFill>
                            <a:schemeClr val="lt1"/>
                          </a:solidFill>
                          <a:effectLst/>
                          <a:latin typeface="+mn-lt"/>
                          <a:ea typeface="+mn-ea"/>
                          <a:cs typeface="+mn-cs"/>
                        </a:rPr>
                      </a:br>
                      <a:r>
                        <a:rPr lang="fr-BF" sz="1800" b="1" kern="1200" dirty="0">
                          <a:solidFill>
                            <a:schemeClr val="lt1"/>
                          </a:solidFill>
                          <a:effectLst/>
                          <a:latin typeface="+mn-lt"/>
                          <a:ea typeface="+mn-ea"/>
                          <a:cs typeface="+mn-cs"/>
                        </a:rPr>
                        <a:t>Transparency international</a:t>
                      </a:r>
                    </a:p>
                    <a:p>
                      <a:r>
                        <a:rPr lang="fr-BF" sz="1800" b="1" kern="1200" dirty="0">
                          <a:solidFill>
                            <a:schemeClr val="lt1"/>
                          </a:solidFill>
                          <a:effectLst/>
                          <a:latin typeface="+mn-lt"/>
                          <a:ea typeface="+mn-ea"/>
                          <a:cs typeface="+mn-cs"/>
                        </a:rPr>
                        <a:t>Indice Mo-Ibrahim</a:t>
                      </a:r>
                    </a:p>
                    <a:p>
                      <a:r>
                        <a:rPr lang="fr-BF" sz="1800" b="1" kern="1200" dirty="0">
                          <a:solidFill>
                            <a:schemeClr val="lt1"/>
                          </a:solidFill>
                          <a:effectLst/>
                          <a:latin typeface="+mn-lt"/>
                          <a:ea typeface="+mn-ea"/>
                          <a:cs typeface="+mn-cs"/>
                        </a:rPr>
                        <a:t>ECSOPTAG</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2485069221"/>
                  </a:ext>
                </a:extLst>
              </a:tr>
            </a:tbl>
          </a:graphicData>
        </a:graphic>
      </p:graphicFrame>
    </p:spTree>
    <p:extLst>
      <p:ext uri="{BB962C8B-B14F-4D97-AF65-F5344CB8AC3E}">
        <p14:creationId xmlns:p14="http://schemas.microsoft.com/office/powerpoint/2010/main" val="2397770482"/>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 calcmode="lin" valueType="num">
                                      <p:cBhvr additive="base">
                                        <p:cTn id="14" dur="500" fill="hold"/>
                                        <p:tgtEl>
                                          <p:spTgt spid="23"/>
                                        </p:tgtEl>
                                        <p:attrNameLst>
                                          <p:attrName>ppt_x</p:attrName>
                                        </p:attrNameLst>
                                      </p:cBhvr>
                                      <p:tavLst>
                                        <p:tav tm="0">
                                          <p:val>
                                            <p:strVal val="#ppt_x"/>
                                          </p:val>
                                        </p:tav>
                                        <p:tav tm="100000">
                                          <p:val>
                                            <p:strVal val="#ppt_x"/>
                                          </p:val>
                                        </p:tav>
                                      </p:tavLst>
                                    </p:anim>
                                    <p:anim calcmode="lin" valueType="num">
                                      <p:cBhvr additive="base">
                                        <p:cTn id="15"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26"/>
                                        </p:tgtEl>
                                        <p:attrNameLst>
                                          <p:attrName>style.visibility</p:attrName>
                                        </p:attrNameLst>
                                      </p:cBhvr>
                                      <p:to>
                                        <p:strVal val="visible"/>
                                      </p:to>
                                    </p:set>
                                    <p:anim calcmode="lin" valueType="num">
                                      <p:cBhvr additive="base">
                                        <p:cTn id="20" dur="500" fill="hold"/>
                                        <p:tgtEl>
                                          <p:spTgt spid="26"/>
                                        </p:tgtEl>
                                        <p:attrNameLst>
                                          <p:attrName>ppt_x</p:attrName>
                                        </p:attrNameLst>
                                      </p:cBhvr>
                                      <p:tavLst>
                                        <p:tav tm="0">
                                          <p:val>
                                            <p:strVal val="#ppt_x"/>
                                          </p:val>
                                        </p:tav>
                                        <p:tav tm="100000">
                                          <p:val>
                                            <p:strVal val="#ppt_x"/>
                                          </p:val>
                                        </p:tav>
                                      </p:tavLst>
                                    </p:anim>
                                    <p:anim calcmode="lin" valueType="num">
                                      <p:cBhvr additive="base">
                                        <p:cTn id="21"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13</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1503127" y="431097"/>
            <a:ext cx="9341636"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III. TYPOLOGIE DES INFRACTIONS DANS LE SECTEUR DE LA SECURITÉ(1/1)</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aphicFrame>
        <p:nvGraphicFramePr>
          <p:cNvPr id="17" name="Tableau 16">
            <a:extLst>
              <a:ext uri="{FF2B5EF4-FFF2-40B4-BE49-F238E27FC236}">
                <a16:creationId xmlns:a16="http://schemas.microsoft.com/office/drawing/2014/main" id="{7A308C07-18EF-41DB-AFA4-62A268B04127}"/>
              </a:ext>
            </a:extLst>
          </p:cNvPr>
          <p:cNvGraphicFramePr>
            <a:graphicFrameLocks noGrp="1"/>
          </p:cNvGraphicFramePr>
          <p:nvPr>
            <p:extLst>
              <p:ext uri="{D42A27DB-BD31-4B8C-83A1-F6EECF244321}">
                <p14:modId xmlns:p14="http://schemas.microsoft.com/office/powerpoint/2010/main" val="2170001170"/>
              </p:ext>
            </p:extLst>
          </p:nvPr>
        </p:nvGraphicFramePr>
        <p:xfrm>
          <a:off x="1627159" y="1636591"/>
          <a:ext cx="3912476" cy="4986303"/>
        </p:xfrm>
        <a:graphic>
          <a:graphicData uri="http://schemas.openxmlformats.org/drawingml/2006/table">
            <a:tbl>
              <a:tblPr firstRow="1" bandRow="1"/>
              <a:tblGrid>
                <a:gridCol w="3912476">
                  <a:extLst>
                    <a:ext uri="{9D8B030D-6E8A-4147-A177-3AD203B41FA5}">
                      <a16:colId xmlns:a16="http://schemas.microsoft.com/office/drawing/2014/main" val="2560586591"/>
                    </a:ext>
                  </a:extLst>
                </a:gridCol>
              </a:tblGrid>
              <a:tr h="4986303">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342900" marR="0" lvl="0" indent="-342900" algn="l" defTabSz="914400" rtl="0" eaLnBrk="0" fontAlgn="base" latinLnBrk="0" hangingPunct="0">
                        <a:lnSpc>
                          <a:spcPct val="100000"/>
                        </a:lnSpc>
                        <a:spcBef>
                          <a:spcPct val="0"/>
                        </a:spcBef>
                        <a:spcAft>
                          <a:spcPct val="0"/>
                        </a:spcAft>
                        <a:buClrTx/>
                        <a:buSzTx/>
                        <a:buFontTx/>
                        <a:buAutoNum type="arabicPeriod"/>
                        <a:tabLst/>
                      </a:pPr>
                      <a:r>
                        <a:rPr kumimoji="0" lang="fr-BF" altLang="fr-BF" sz="1800" b="1" i="0" u="none" strike="noStrike" cap="none" normalizeH="0" baseline="0" dirty="0">
                          <a:ln>
                            <a:noFill/>
                          </a:ln>
                          <a:solidFill>
                            <a:schemeClr val="bg1"/>
                          </a:solidFill>
                          <a:effectLst/>
                          <a:latin typeface="+mn-lt"/>
                        </a:rPr>
                        <a:t>Infractions de corruption et avantages indus</a:t>
                      </a:r>
                      <a:endParaRPr kumimoji="0" lang="fr-FR" altLang="fr-BF" sz="1800" b="1" i="0" u="none" strike="noStrike" cap="none" normalizeH="0" baseline="0" dirty="0">
                        <a:ln>
                          <a:noFill/>
                        </a:ln>
                        <a:solidFill>
                          <a:schemeClr val="bg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BF" altLang="fr-BF" sz="1800" b="0" i="0" u="none" strike="noStrike" cap="none" normalizeH="0" baseline="0" dirty="0">
                        <a:ln>
                          <a:noFill/>
                        </a:ln>
                        <a:solidFill>
                          <a:schemeClr val="bg1"/>
                        </a:solidFill>
                        <a:effectLst/>
                        <a:latin typeface="+mn-lt"/>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fr-BF" altLang="fr-BF" sz="1800" b="0" i="0" u="none" strike="noStrike" cap="none" normalizeH="0" baseline="0" dirty="0">
                          <a:ln>
                            <a:noFill/>
                          </a:ln>
                          <a:solidFill>
                            <a:schemeClr val="bg1"/>
                          </a:solidFill>
                          <a:effectLst/>
                          <a:latin typeface="+mn-lt"/>
                        </a:rPr>
                        <a:t>Corruption d’agents publics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fr-BF" altLang="fr-BF" sz="1800" b="0" i="0" u="none" strike="noStrike" cap="none" normalizeH="0" baseline="0" dirty="0">
                          <a:ln>
                            <a:noFill/>
                          </a:ln>
                          <a:solidFill>
                            <a:schemeClr val="bg1"/>
                          </a:solidFill>
                          <a:effectLst/>
                          <a:latin typeface="+mn-lt"/>
                        </a:rPr>
                        <a:t>Avantages injustifiés et corruption dans la commande publique</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fr-BF" altLang="fr-BF" sz="1800" b="0" i="0" u="none" strike="noStrike" cap="none" normalizeH="0" baseline="0" dirty="0">
                          <a:ln>
                            <a:noFill/>
                          </a:ln>
                          <a:solidFill>
                            <a:schemeClr val="bg1"/>
                          </a:solidFill>
                          <a:effectLst/>
                          <a:latin typeface="+mn-lt"/>
                        </a:rPr>
                        <a:t>Délit d’acceptation de cadeaux indus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fr-BF" altLang="fr-BF" sz="1800" b="0" i="0" u="none" strike="noStrike" cap="none" normalizeH="0" baseline="0" dirty="0">
                          <a:ln>
                            <a:noFill/>
                          </a:ln>
                          <a:solidFill>
                            <a:schemeClr val="bg1"/>
                          </a:solidFill>
                          <a:effectLst/>
                          <a:latin typeface="+mn-lt"/>
                        </a:rPr>
                        <a:t>Trafic d’influence</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fr-BF" altLang="fr-BF" sz="1800" b="0" i="0" u="none" strike="noStrike" cap="none" normalizeH="0" baseline="0" dirty="0">
                          <a:ln>
                            <a:noFill/>
                          </a:ln>
                          <a:solidFill>
                            <a:schemeClr val="bg1"/>
                          </a:solidFill>
                          <a:effectLst/>
                          <a:latin typeface="+mn-lt"/>
                        </a:rPr>
                        <a:t>Concussion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fr-BF" altLang="fr-BF" sz="1800" b="0" i="0" u="none" strike="noStrike" cap="none" normalizeH="0" baseline="0" dirty="0">
                          <a:ln>
                            <a:noFill/>
                          </a:ln>
                          <a:solidFill>
                            <a:schemeClr val="bg1"/>
                          </a:solidFill>
                          <a:effectLst/>
                          <a:latin typeface="+mn-lt"/>
                        </a:rPr>
                        <a:t>Népotisme</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fr-BF" altLang="fr-BF" sz="1800" b="0" i="0" u="none" strike="noStrike" cap="none" normalizeH="0" baseline="0" dirty="0">
                          <a:ln>
                            <a:noFill/>
                          </a:ln>
                          <a:solidFill>
                            <a:schemeClr val="bg1"/>
                          </a:solidFill>
                          <a:effectLst/>
                          <a:latin typeface="+mn-lt"/>
                        </a:rPr>
                        <a:t>Favoritisme</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fr-BF" altLang="fr-BF" sz="1800" b="0" i="0" u="none" strike="noStrike" cap="none" normalizeH="0" baseline="0" dirty="0">
                          <a:ln>
                            <a:noFill/>
                          </a:ln>
                          <a:solidFill>
                            <a:schemeClr val="bg1"/>
                          </a:solidFill>
                          <a:effectLst/>
                          <a:latin typeface="+mn-lt"/>
                        </a:rPr>
                        <a:t>Commerce incompatible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BF" altLang="fr-BF" sz="1800" b="0" i="0" u="none" strike="noStrike" cap="none" normalizeH="0" baseline="0" dirty="0">
                        <a:ln>
                          <a:noFill/>
                        </a:ln>
                        <a:solidFill>
                          <a:schemeClr val="bg1"/>
                        </a:solidFill>
                        <a:effectLst/>
                        <a:latin typeface="+mn-lt"/>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2485069221"/>
                  </a:ext>
                </a:extLst>
              </a:tr>
            </a:tbl>
          </a:graphicData>
        </a:graphic>
      </p:graphicFrame>
      <p:graphicFrame>
        <p:nvGraphicFramePr>
          <p:cNvPr id="18" name="Tableau 17">
            <a:extLst>
              <a:ext uri="{FF2B5EF4-FFF2-40B4-BE49-F238E27FC236}">
                <a16:creationId xmlns:a16="http://schemas.microsoft.com/office/drawing/2014/main" id="{6564F713-EBD4-4CF6-B337-B85DC7B9E6CC}"/>
              </a:ext>
            </a:extLst>
          </p:cNvPr>
          <p:cNvGraphicFramePr>
            <a:graphicFrameLocks noGrp="1"/>
          </p:cNvGraphicFramePr>
          <p:nvPr>
            <p:extLst>
              <p:ext uri="{D42A27DB-BD31-4B8C-83A1-F6EECF244321}">
                <p14:modId xmlns:p14="http://schemas.microsoft.com/office/powerpoint/2010/main" val="1353156319"/>
              </p:ext>
            </p:extLst>
          </p:nvPr>
        </p:nvGraphicFramePr>
        <p:xfrm>
          <a:off x="6438962" y="1618649"/>
          <a:ext cx="3912476" cy="5029200"/>
        </p:xfrm>
        <a:graphic>
          <a:graphicData uri="http://schemas.openxmlformats.org/drawingml/2006/table">
            <a:tbl>
              <a:tblPr firstRow="1" bandRow="1"/>
              <a:tblGrid>
                <a:gridCol w="3912476">
                  <a:extLst>
                    <a:ext uri="{9D8B030D-6E8A-4147-A177-3AD203B41FA5}">
                      <a16:colId xmlns:a16="http://schemas.microsoft.com/office/drawing/2014/main" val="2560586591"/>
                    </a:ext>
                  </a:extLst>
                </a:gridCol>
              </a:tblGrid>
              <a:tr h="489204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BF" sz="1800" b="1" i="0" u="none" strike="noStrike" cap="none" normalizeH="0" baseline="0" dirty="0">
                          <a:ln>
                            <a:noFill/>
                          </a:ln>
                          <a:solidFill>
                            <a:schemeClr val="bg1"/>
                          </a:solidFill>
                          <a:effectLst/>
                          <a:latin typeface="+mn-lt"/>
                        </a:rPr>
                        <a:t>2. Infractions patrimoniales : détournement et mauvaise gestion des biens publics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BF" sz="1800" b="1" i="0" u="none" strike="noStrike" cap="none" normalizeH="0" baseline="0" dirty="0">
                        <a:ln>
                          <a:noFill/>
                        </a:ln>
                        <a:solidFill>
                          <a:schemeClr val="bg1"/>
                        </a:solidFill>
                        <a:effectLst/>
                        <a:latin typeface="+mn-lt"/>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fr-FR" altLang="fr-BF" sz="1800" b="1" i="0" u="none" strike="noStrike" cap="none" normalizeH="0" baseline="0" dirty="0">
                          <a:ln>
                            <a:noFill/>
                          </a:ln>
                          <a:solidFill>
                            <a:schemeClr val="bg1"/>
                          </a:solidFill>
                          <a:effectLst/>
                          <a:latin typeface="+mn-lt"/>
                        </a:rPr>
                        <a:t>Soustraction de biens par un agent public</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fr-FR" altLang="fr-BF" sz="1800" b="1" i="0" u="none" strike="noStrike" cap="none" normalizeH="0" baseline="0" dirty="0">
                        <a:ln>
                          <a:noFill/>
                        </a:ln>
                        <a:solidFill>
                          <a:schemeClr val="bg1"/>
                        </a:solidFill>
                        <a:effectLst/>
                        <a:latin typeface="+mn-lt"/>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fr-FR" altLang="fr-BF" sz="1800" b="1" i="0" u="none" strike="noStrike" cap="none" normalizeH="0" baseline="0" dirty="0">
                          <a:ln>
                            <a:noFill/>
                          </a:ln>
                          <a:solidFill>
                            <a:schemeClr val="bg1"/>
                          </a:solidFill>
                          <a:effectLst/>
                          <a:latin typeface="+mn-lt"/>
                        </a:rPr>
                        <a:t>Usage ou rétention illicites/abusifs de biens publics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fr-FR" altLang="fr-BF" sz="1800" b="1" i="0" u="none" strike="noStrike" cap="none" normalizeH="0" baseline="0" dirty="0">
                        <a:ln>
                          <a:noFill/>
                        </a:ln>
                        <a:solidFill>
                          <a:schemeClr val="bg1"/>
                        </a:solidFill>
                        <a:effectLst/>
                        <a:latin typeface="+mn-lt"/>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fr-FR" altLang="fr-BF" sz="1800" b="1" i="0" u="none" strike="noStrike" cap="none" normalizeH="0" baseline="0" dirty="0">
                          <a:ln>
                            <a:noFill/>
                          </a:ln>
                          <a:solidFill>
                            <a:schemeClr val="bg1"/>
                          </a:solidFill>
                          <a:effectLst/>
                          <a:latin typeface="+mn-lt"/>
                        </a:rPr>
                        <a:t>Détournement de biens publics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fr-FR" altLang="fr-BF" sz="1800" b="1" i="0" u="none" strike="noStrike" cap="none" normalizeH="0" baseline="0" dirty="0">
                        <a:ln>
                          <a:noFill/>
                        </a:ln>
                        <a:solidFill>
                          <a:schemeClr val="bg1"/>
                        </a:solidFill>
                        <a:effectLst/>
                        <a:latin typeface="+mn-lt"/>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fr-FR" altLang="fr-BF" sz="1800" b="1" i="0" u="none" strike="noStrike" cap="none" normalizeH="0" baseline="0" dirty="0">
                          <a:ln>
                            <a:noFill/>
                          </a:ln>
                          <a:solidFill>
                            <a:schemeClr val="bg1"/>
                          </a:solidFill>
                          <a:effectLst/>
                          <a:latin typeface="+mn-lt"/>
                        </a:rPr>
                        <a:t>Exonérations et franchises illégales (avantages matériels injustifiés)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fr-FR" altLang="fr-BF" sz="1800" b="1" i="0" u="none" strike="noStrike" cap="none" normalizeH="0" baseline="0" dirty="0">
                          <a:ln>
                            <a:noFill/>
                          </a:ln>
                          <a:solidFill>
                            <a:schemeClr val="bg1"/>
                          </a:solidFill>
                          <a:effectLst/>
                          <a:latin typeface="+mn-lt"/>
                        </a:rPr>
                        <a:t>Surfacturation</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fr-FR" altLang="fr-BF" sz="1800" b="1" i="0" u="none" strike="noStrike" cap="none" normalizeH="0" baseline="0" dirty="0">
                          <a:ln>
                            <a:noFill/>
                          </a:ln>
                          <a:solidFill>
                            <a:schemeClr val="bg1"/>
                          </a:solidFill>
                          <a:effectLst/>
                          <a:latin typeface="+mn-lt"/>
                        </a:rPr>
                        <a:t>Simulation illicite (fausses prestations, faux marchés)</a:t>
                      </a:r>
                    </a:p>
                    <a:p>
                      <a:pPr marL="342900" marR="0" lvl="0" indent="-342900" algn="l" defTabSz="914400" rtl="0" eaLnBrk="0" fontAlgn="base" latinLnBrk="0" hangingPunct="0">
                        <a:lnSpc>
                          <a:spcPct val="100000"/>
                        </a:lnSpc>
                        <a:spcBef>
                          <a:spcPct val="0"/>
                        </a:spcBef>
                        <a:spcAft>
                          <a:spcPct val="0"/>
                        </a:spcAft>
                        <a:buClrTx/>
                        <a:buSzTx/>
                        <a:buFontTx/>
                        <a:buAutoNum type="arabicPeriod"/>
                        <a:tabLst/>
                      </a:pPr>
                      <a:endParaRPr kumimoji="0" lang="fr-FR" altLang="fr-BF" sz="1800" b="1" i="0" u="none" strike="noStrike" cap="none" normalizeH="0" baseline="0" dirty="0">
                        <a:ln>
                          <a:noFill/>
                        </a:ln>
                        <a:solidFill>
                          <a:schemeClr val="bg1"/>
                        </a:solidFill>
                        <a:effectLst/>
                        <a:latin typeface="+mn-lt"/>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2485069221"/>
                  </a:ext>
                </a:extLst>
              </a:tr>
            </a:tbl>
          </a:graphicData>
        </a:graphic>
      </p:graphicFrame>
    </p:spTree>
    <p:extLst>
      <p:ext uri="{BB962C8B-B14F-4D97-AF65-F5344CB8AC3E}">
        <p14:creationId xmlns:p14="http://schemas.microsoft.com/office/powerpoint/2010/main" val="1870070796"/>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fill="hold"/>
                                        <p:tgtEl>
                                          <p:spTgt spid="17"/>
                                        </p:tgtEl>
                                        <p:attrNameLst>
                                          <p:attrName>ppt_x</p:attrName>
                                        </p:attrNameLst>
                                      </p:cBhvr>
                                      <p:tavLst>
                                        <p:tav tm="0">
                                          <p:val>
                                            <p:strVal val="#ppt_x"/>
                                          </p:val>
                                        </p:tav>
                                        <p:tav tm="100000">
                                          <p:val>
                                            <p:strVal val="#ppt_x"/>
                                          </p:val>
                                        </p:tav>
                                      </p:tavLst>
                                    </p:anim>
                                    <p:anim calcmode="lin" valueType="num">
                                      <p:cBhvr additive="base">
                                        <p:cTn id="15"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 calcmode="lin" valueType="num">
                                      <p:cBhvr additive="base">
                                        <p:cTn id="20" dur="500" fill="hold"/>
                                        <p:tgtEl>
                                          <p:spTgt spid="18"/>
                                        </p:tgtEl>
                                        <p:attrNameLst>
                                          <p:attrName>ppt_x</p:attrName>
                                        </p:attrNameLst>
                                      </p:cBhvr>
                                      <p:tavLst>
                                        <p:tav tm="0">
                                          <p:val>
                                            <p:strVal val="#ppt_x"/>
                                          </p:val>
                                        </p:tav>
                                        <p:tav tm="100000">
                                          <p:val>
                                            <p:strVal val="#ppt_x"/>
                                          </p:val>
                                        </p:tav>
                                      </p:tavLst>
                                    </p:anim>
                                    <p:anim calcmode="lin" valueType="num">
                                      <p:cBhvr additive="base">
                                        <p:cTn id="21"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14</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1503127" y="431097"/>
            <a:ext cx="9341636"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III. TYPOLOGIE DES INFRACTIONS DANS LE SECTEUR DE LA SECURITÉ(1/2)</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aphicFrame>
        <p:nvGraphicFramePr>
          <p:cNvPr id="17" name="Tableau 16">
            <a:extLst>
              <a:ext uri="{FF2B5EF4-FFF2-40B4-BE49-F238E27FC236}">
                <a16:creationId xmlns:a16="http://schemas.microsoft.com/office/drawing/2014/main" id="{7A308C07-18EF-41DB-AFA4-62A268B04127}"/>
              </a:ext>
            </a:extLst>
          </p:cNvPr>
          <p:cNvGraphicFramePr>
            <a:graphicFrameLocks noGrp="1"/>
          </p:cNvGraphicFramePr>
          <p:nvPr>
            <p:extLst>
              <p:ext uri="{D42A27DB-BD31-4B8C-83A1-F6EECF244321}">
                <p14:modId xmlns:p14="http://schemas.microsoft.com/office/powerpoint/2010/main" val="4238639776"/>
              </p:ext>
            </p:extLst>
          </p:nvPr>
        </p:nvGraphicFramePr>
        <p:xfrm>
          <a:off x="1627159" y="1636591"/>
          <a:ext cx="3912476" cy="4986303"/>
        </p:xfrm>
        <a:graphic>
          <a:graphicData uri="http://schemas.openxmlformats.org/drawingml/2006/table">
            <a:tbl>
              <a:tblPr firstRow="1" bandRow="1"/>
              <a:tblGrid>
                <a:gridCol w="3912476">
                  <a:extLst>
                    <a:ext uri="{9D8B030D-6E8A-4147-A177-3AD203B41FA5}">
                      <a16:colId xmlns:a16="http://schemas.microsoft.com/office/drawing/2014/main" val="2560586591"/>
                    </a:ext>
                  </a:extLst>
                </a:gridCol>
              </a:tblGrid>
              <a:tr h="4986303">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BF" sz="1800" b="1" i="0" u="none" strike="noStrike" cap="none" normalizeH="0" baseline="0" dirty="0">
                          <a:ln>
                            <a:noFill/>
                          </a:ln>
                          <a:solidFill>
                            <a:schemeClr val="bg1"/>
                          </a:solidFill>
                          <a:effectLst/>
                          <a:latin typeface="+mn-lt"/>
                        </a:rPr>
                        <a:t>3. Infractions liées aux conflits d’intérêts et à l’intégrité personnelle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BF" sz="1800" b="1" i="0" u="none" strike="noStrike" cap="none" normalizeH="0" baseline="0" dirty="0">
                        <a:ln>
                          <a:noFill/>
                        </a:ln>
                        <a:solidFill>
                          <a:schemeClr val="bg1"/>
                        </a:solidFill>
                        <a:effectLst/>
                        <a:latin typeface="+mn-lt"/>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fr-FR" altLang="fr-BF" sz="1800" b="1" i="0" u="none" strike="noStrike" cap="none" normalizeH="0" baseline="0" dirty="0">
                          <a:ln>
                            <a:noFill/>
                          </a:ln>
                          <a:solidFill>
                            <a:schemeClr val="bg1"/>
                          </a:solidFill>
                          <a:effectLst/>
                          <a:latin typeface="+mn-lt"/>
                        </a:rPr>
                        <a:t>Conflit d’intérêts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fr-FR" altLang="fr-BF" sz="1800" b="1" i="0" u="none" strike="noStrike" cap="none" normalizeH="0" baseline="0" dirty="0">
                          <a:ln>
                            <a:noFill/>
                          </a:ln>
                          <a:solidFill>
                            <a:schemeClr val="bg1"/>
                          </a:solidFill>
                          <a:effectLst/>
                          <a:latin typeface="+mn-lt"/>
                        </a:rPr>
                        <a:t>Prise illégale d’intérêt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fr-FR" altLang="fr-BF" sz="1800" b="1" i="0" u="none" strike="noStrike" cap="none" normalizeH="0" baseline="0" dirty="0" err="1">
                          <a:ln>
                            <a:noFill/>
                          </a:ln>
                          <a:solidFill>
                            <a:schemeClr val="bg1"/>
                          </a:solidFill>
                          <a:effectLst/>
                          <a:latin typeface="+mn-lt"/>
                        </a:rPr>
                        <a:t>Délict</a:t>
                      </a:r>
                      <a:r>
                        <a:rPr kumimoji="0" lang="fr-FR" altLang="fr-BF" sz="1800" b="1" i="0" u="none" strike="noStrike" cap="none" normalizeH="0" baseline="0" dirty="0">
                          <a:ln>
                            <a:noFill/>
                          </a:ln>
                          <a:solidFill>
                            <a:schemeClr val="bg1"/>
                          </a:solidFill>
                          <a:effectLst/>
                          <a:latin typeface="+mn-lt"/>
                        </a:rPr>
                        <a:t> d’apparence</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fr-FR" altLang="fr-BF" sz="1800" b="1" i="0" u="none" strike="noStrike" cap="none" normalizeH="0" baseline="0" dirty="0">
                          <a:ln>
                            <a:noFill/>
                          </a:ln>
                          <a:solidFill>
                            <a:schemeClr val="bg1"/>
                          </a:solidFill>
                          <a:effectLst/>
                          <a:latin typeface="+mn-lt"/>
                        </a:rPr>
                        <a:t>Défaut ou fausse déclaration de patrimoine ou d’intérêt</a:t>
                      </a:r>
                    </a:p>
                    <a:p>
                      <a:pPr marL="342900" marR="0" lvl="0" indent="-342900" algn="l" defTabSz="914400" rtl="0" eaLnBrk="0" fontAlgn="base" latinLnBrk="0" hangingPunct="0">
                        <a:lnSpc>
                          <a:spcPct val="100000"/>
                        </a:lnSpc>
                        <a:spcBef>
                          <a:spcPct val="0"/>
                        </a:spcBef>
                        <a:spcAft>
                          <a:spcPct val="0"/>
                        </a:spcAft>
                        <a:buClrTx/>
                        <a:buSzTx/>
                        <a:buFontTx/>
                        <a:buAutoNum type="arabicPeriod"/>
                        <a:tabLst/>
                      </a:pPr>
                      <a:endParaRPr kumimoji="0" lang="fr-FR" altLang="fr-BF" sz="1800" b="1" i="0" u="none" strike="noStrike" cap="none" normalizeH="0" baseline="0" dirty="0">
                        <a:ln>
                          <a:noFill/>
                        </a:ln>
                        <a:solidFill>
                          <a:schemeClr val="bg1"/>
                        </a:solidFill>
                        <a:effectLst/>
                        <a:latin typeface="+mn-lt"/>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2485069221"/>
                  </a:ext>
                </a:extLst>
              </a:tr>
            </a:tbl>
          </a:graphicData>
        </a:graphic>
      </p:graphicFrame>
      <p:graphicFrame>
        <p:nvGraphicFramePr>
          <p:cNvPr id="18" name="Tableau 17">
            <a:extLst>
              <a:ext uri="{FF2B5EF4-FFF2-40B4-BE49-F238E27FC236}">
                <a16:creationId xmlns:a16="http://schemas.microsoft.com/office/drawing/2014/main" id="{6564F713-EBD4-4CF6-B337-B85DC7B9E6CC}"/>
              </a:ext>
            </a:extLst>
          </p:cNvPr>
          <p:cNvGraphicFramePr>
            <a:graphicFrameLocks noGrp="1"/>
          </p:cNvGraphicFramePr>
          <p:nvPr>
            <p:extLst>
              <p:ext uri="{D42A27DB-BD31-4B8C-83A1-F6EECF244321}">
                <p14:modId xmlns:p14="http://schemas.microsoft.com/office/powerpoint/2010/main" val="2048684093"/>
              </p:ext>
            </p:extLst>
          </p:nvPr>
        </p:nvGraphicFramePr>
        <p:xfrm>
          <a:off x="6438962" y="1618649"/>
          <a:ext cx="3912476" cy="4892040"/>
        </p:xfrm>
        <a:graphic>
          <a:graphicData uri="http://schemas.openxmlformats.org/drawingml/2006/table">
            <a:tbl>
              <a:tblPr firstRow="1" bandRow="1"/>
              <a:tblGrid>
                <a:gridCol w="3912476">
                  <a:extLst>
                    <a:ext uri="{9D8B030D-6E8A-4147-A177-3AD203B41FA5}">
                      <a16:colId xmlns:a16="http://schemas.microsoft.com/office/drawing/2014/main" val="2560586591"/>
                    </a:ext>
                  </a:extLst>
                </a:gridCol>
              </a:tblGrid>
              <a:tr h="489204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BF" sz="1800" b="1" i="0" u="none" strike="noStrike" cap="none" normalizeH="0" baseline="0" dirty="0">
                          <a:ln>
                            <a:noFill/>
                          </a:ln>
                          <a:solidFill>
                            <a:schemeClr val="bg1"/>
                          </a:solidFill>
                          <a:effectLst/>
                          <a:latin typeface="+mn-lt"/>
                        </a:rPr>
                        <a:t>4. Infractions liées à l’abus d’autorité ou de fonction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BF" sz="1800" b="1" i="0" u="none" strike="noStrike" cap="none" normalizeH="0" baseline="0" dirty="0">
                        <a:ln>
                          <a:noFill/>
                        </a:ln>
                        <a:solidFill>
                          <a:schemeClr val="bg1"/>
                        </a:solidFill>
                        <a:effectLst/>
                        <a:latin typeface="+mn-lt"/>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fr-FR" altLang="fr-BF" sz="1800" b="1" i="0" u="none" strike="noStrike" cap="none" normalizeH="0" baseline="0" dirty="0">
                          <a:ln>
                            <a:noFill/>
                          </a:ln>
                          <a:solidFill>
                            <a:schemeClr val="bg1"/>
                          </a:solidFill>
                          <a:effectLst/>
                          <a:latin typeface="+mn-lt"/>
                        </a:rPr>
                        <a:t>Abus de fonction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fr-FR" altLang="fr-BF" sz="1800" b="1" i="0" u="none" strike="noStrike" cap="none" normalizeH="0" baseline="0" dirty="0">
                          <a:ln>
                            <a:noFill/>
                          </a:ln>
                          <a:solidFill>
                            <a:schemeClr val="bg1"/>
                          </a:solidFill>
                          <a:effectLst/>
                          <a:latin typeface="+mn-lt"/>
                        </a:rPr>
                        <a:t>Délit d’initié</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fr-FR" altLang="fr-BF" sz="1800" b="1" i="0" u="none" strike="noStrike" cap="none" normalizeH="0" baseline="0" dirty="0">
                          <a:ln>
                            <a:noFill/>
                          </a:ln>
                          <a:solidFill>
                            <a:schemeClr val="bg1"/>
                          </a:solidFill>
                          <a:effectLst/>
                          <a:latin typeface="+mn-lt"/>
                        </a:rPr>
                        <a:t>Divulgation d’informations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fr-FR" altLang="fr-BF" sz="1800" b="1" i="0" u="none" strike="noStrike" cap="none" normalizeH="0" baseline="0" dirty="0">
                          <a:ln>
                            <a:noFill/>
                          </a:ln>
                          <a:solidFill>
                            <a:schemeClr val="bg1"/>
                          </a:solidFill>
                          <a:effectLst/>
                          <a:latin typeface="+mn-lt"/>
                        </a:rPr>
                        <a:t>Simulation illicite (lorsqu’elle vise à contourner la loi)</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BF" sz="1800" b="1" i="0" u="none" strike="noStrike" cap="none" normalizeH="0" baseline="0" dirty="0">
                        <a:ln>
                          <a:noFill/>
                        </a:ln>
                        <a:solidFill>
                          <a:schemeClr val="bg1"/>
                        </a:solidFill>
                        <a:effectLst/>
                        <a:latin typeface="+mn-lt"/>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2485069221"/>
                  </a:ext>
                </a:extLst>
              </a:tr>
            </a:tbl>
          </a:graphicData>
        </a:graphic>
      </p:graphicFrame>
    </p:spTree>
    <p:extLst>
      <p:ext uri="{BB962C8B-B14F-4D97-AF65-F5344CB8AC3E}">
        <p14:creationId xmlns:p14="http://schemas.microsoft.com/office/powerpoint/2010/main" val="352975706"/>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fill="hold"/>
                                        <p:tgtEl>
                                          <p:spTgt spid="17"/>
                                        </p:tgtEl>
                                        <p:attrNameLst>
                                          <p:attrName>ppt_x</p:attrName>
                                        </p:attrNameLst>
                                      </p:cBhvr>
                                      <p:tavLst>
                                        <p:tav tm="0">
                                          <p:val>
                                            <p:strVal val="#ppt_x"/>
                                          </p:val>
                                        </p:tav>
                                        <p:tav tm="100000">
                                          <p:val>
                                            <p:strVal val="#ppt_x"/>
                                          </p:val>
                                        </p:tav>
                                      </p:tavLst>
                                    </p:anim>
                                    <p:anim calcmode="lin" valueType="num">
                                      <p:cBhvr additive="base">
                                        <p:cTn id="15"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 calcmode="lin" valueType="num">
                                      <p:cBhvr additive="base">
                                        <p:cTn id="20" dur="500" fill="hold"/>
                                        <p:tgtEl>
                                          <p:spTgt spid="18"/>
                                        </p:tgtEl>
                                        <p:attrNameLst>
                                          <p:attrName>ppt_x</p:attrName>
                                        </p:attrNameLst>
                                      </p:cBhvr>
                                      <p:tavLst>
                                        <p:tav tm="0">
                                          <p:val>
                                            <p:strVal val="#ppt_x"/>
                                          </p:val>
                                        </p:tav>
                                        <p:tav tm="100000">
                                          <p:val>
                                            <p:strVal val="#ppt_x"/>
                                          </p:val>
                                        </p:tav>
                                      </p:tavLst>
                                    </p:anim>
                                    <p:anim calcmode="lin" valueType="num">
                                      <p:cBhvr additive="base">
                                        <p:cTn id="21"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15</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1503127" y="431097"/>
            <a:ext cx="9341636"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III. TYPOLOGIE DES INFRACTIONS DANS LE SECTEUR DE LA SECURITÉ(1/3)</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aphicFrame>
        <p:nvGraphicFramePr>
          <p:cNvPr id="17" name="Tableau 16">
            <a:extLst>
              <a:ext uri="{FF2B5EF4-FFF2-40B4-BE49-F238E27FC236}">
                <a16:creationId xmlns:a16="http://schemas.microsoft.com/office/drawing/2014/main" id="{7A308C07-18EF-41DB-AFA4-62A268B04127}"/>
              </a:ext>
            </a:extLst>
          </p:cNvPr>
          <p:cNvGraphicFramePr>
            <a:graphicFrameLocks noGrp="1"/>
          </p:cNvGraphicFramePr>
          <p:nvPr>
            <p:extLst>
              <p:ext uri="{D42A27DB-BD31-4B8C-83A1-F6EECF244321}">
                <p14:modId xmlns:p14="http://schemas.microsoft.com/office/powerpoint/2010/main" val="3767350040"/>
              </p:ext>
            </p:extLst>
          </p:nvPr>
        </p:nvGraphicFramePr>
        <p:xfrm>
          <a:off x="1627159" y="1636591"/>
          <a:ext cx="3912476" cy="4986303"/>
        </p:xfrm>
        <a:graphic>
          <a:graphicData uri="http://schemas.openxmlformats.org/drawingml/2006/table">
            <a:tbl>
              <a:tblPr firstRow="1" bandRow="1"/>
              <a:tblGrid>
                <a:gridCol w="3912476">
                  <a:extLst>
                    <a:ext uri="{9D8B030D-6E8A-4147-A177-3AD203B41FA5}">
                      <a16:colId xmlns:a16="http://schemas.microsoft.com/office/drawing/2014/main" val="2560586591"/>
                    </a:ext>
                  </a:extLst>
                </a:gridCol>
              </a:tblGrid>
              <a:tr h="4986303">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BF" sz="1800" b="1" i="0" u="none" strike="noStrike" cap="none" normalizeH="0" baseline="0" dirty="0">
                          <a:ln>
                            <a:noFill/>
                          </a:ln>
                          <a:solidFill>
                            <a:schemeClr val="bg1"/>
                          </a:solidFill>
                          <a:effectLst/>
                          <a:latin typeface="+mn-lt"/>
                        </a:rPr>
                        <a:t>5. Infractions liées à l’enrichissement illicite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BF" sz="1800" b="1" i="0" u="none" strike="noStrike" cap="none" normalizeH="0" baseline="0" dirty="0">
                        <a:ln>
                          <a:noFill/>
                        </a:ln>
                        <a:solidFill>
                          <a:schemeClr val="bg1"/>
                        </a:solidFill>
                        <a:effectLst/>
                        <a:latin typeface="+mn-lt"/>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fr-FR" altLang="fr-BF" sz="1800" b="1" i="0" u="none" strike="noStrike" cap="none" normalizeH="0" baseline="0" dirty="0">
                          <a:ln>
                            <a:noFill/>
                          </a:ln>
                          <a:solidFill>
                            <a:schemeClr val="bg1"/>
                          </a:solidFill>
                          <a:effectLst/>
                          <a:latin typeface="+mn-lt"/>
                        </a:rPr>
                        <a:t>Enrichissement illicite</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fr-FR" altLang="fr-BF" sz="1800" b="1" i="0" u="none" strike="noStrike" cap="none" normalizeH="0" baseline="0" dirty="0">
                          <a:ln>
                            <a:noFill/>
                          </a:ln>
                          <a:solidFill>
                            <a:schemeClr val="bg1"/>
                          </a:solidFill>
                          <a:effectLst/>
                          <a:latin typeface="+mn-lt"/>
                        </a:rPr>
                        <a:t>Avantages injustifiés </a:t>
                      </a:r>
                    </a:p>
                    <a:p>
                      <a:pPr marL="0" marR="0" lvl="0" indent="0" algn="l" defTabSz="914400" rtl="0" eaLnBrk="0" fontAlgn="base" latinLnBrk="0" hangingPunct="0">
                        <a:lnSpc>
                          <a:spcPct val="150000"/>
                        </a:lnSpc>
                        <a:spcBef>
                          <a:spcPct val="0"/>
                        </a:spcBef>
                        <a:spcAft>
                          <a:spcPct val="0"/>
                        </a:spcAft>
                        <a:buClrTx/>
                        <a:buSzTx/>
                        <a:buFont typeface="Wingdings" panose="05000000000000000000" pitchFamily="2" charset="2"/>
                        <a:buNone/>
                        <a:tabLst/>
                      </a:pPr>
                      <a:r>
                        <a:rPr kumimoji="0" lang="fr-FR" altLang="fr-BF" sz="1800" b="1" i="0" u="none" strike="noStrike" cap="none" normalizeH="0" baseline="0" dirty="0">
                          <a:ln>
                            <a:noFill/>
                          </a:ln>
                          <a:solidFill>
                            <a:schemeClr val="bg1"/>
                          </a:solidFill>
                          <a:effectLst/>
                          <a:latin typeface="+mn-lt"/>
                        </a:rPr>
                        <a:t>(lorsqu’ils mènent à un patrimoine disproportionné)</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BF" sz="1800" b="1" i="0" u="none" strike="noStrike" cap="none" normalizeH="0" baseline="0" dirty="0">
                        <a:ln>
                          <a:noFill/>
                        </a:ln>
                        <a:solidFill>
                          <a:schemeClr val="bg1"/>
                        </a:solidFill>
                        <a:effectLst/>
                        <a:latin typeface="+mn-lt"/>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2485069221"/>
                  </a:ext>
                </a:extLst>
              </a:tr>
            </a:tbl>
          </a:graphicData>
        </a:graphic>
      </p:graphicFrame>
      <p:graphicFrame>
        <p:nvGraphicFramePr>
          <p:cNvPr id="18" name="Tableau 17">
            <a:extLst>
              <a:ext uri="{FF2B5EF4-FFF2-40B4-BE49-F238E27FC236}">
                <a16:creationId xmlns:a16="http://schemas.microsoft.com/office/drawing/2014/main" id="{6564F713-EBD4-4CF6-B337-B85DC7B9E6CC}"/>
              </a:ext>
            </a:extLst>
          </p:cNvPr>
          <p:cNvGraphicFramePr>
            <a:graphicFrameLocks noGrp="1"/>
          </p:cNvGraphicFramePr>
          <p:nvPr>
            <p:extLst>
              <p:ext uri="{D42A27DB-BD31-4B8C-83A1-F6EECF244321}">
                <p14:modId xmlns:p14="http://schemas.microsoft.com/office/powerpoint/2010/main" val="3144807312"/>
              </p:ext>
            </p:extLst>
          </p:nvPr>
        </p:nvGraphicFramePr>
        <p:xfrm>
          <a:off x="6438962" y="1618649"/>
          <a:ext cx="3912476" cy="4892040"/>
        </p:xfrm>
        <a:graphic>
          <a:graphicData uri="http://schemas.openxmlformats.org/drawingml/2006/table">
            <a:tbl>
              <a:tblPr firstRow="1" bandRow="1"/>
              <a:tblGrid>
                <a:gridCol w="3912476">
                  <a:extLst>
                    <a:ext uri="{9D8B030D-6E8A-4147-A177-3AD203B41FA5}">
                      <a16:colId xmlns:a16="http://schemas.microsoft.com/office/drawing/2014/main" val="2560586591"/>
                    </a:ext>
                  </a:extLst>
                </a:gridCol>
              </a:tblGrid>
              <a:tr h="489204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BF" sz="1800" b="1" i="0" u="none" strike="noStrike" cap="none" normalizeH="0" baseline="0" dirty="0">
                          <a:ln>
                            <a:noFill/>
                          </a:ln>
                          <a:solidFill>
                            <a:schemeClr val="bg1"/>
                          </a:solidFill>
                          <a:effectLst/>
                          <a:latin typeface="+mn-lt"/>
                        </a:rPr>
                        <a:t>6. Infractions liées à l’abus d’autorité ou de fonction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BF" sz="1800" b="1" i="0" u="none" strike="noStrike" cap="none" normalizeH="0" baseline="0" dirty="0">
                        <a:ln>
                          <a:noFill/>
                        </a:ln>
                        <a:solidFill>
                          <a:schemeClr val="bg1"/>
                        </a:solidFill>
                        <a:effectLst/>
                        <a:latin typeface="+mn-lt"/>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fr-FR" altLang="fr-BF" sz="1800" b="1" i="0" u="none" strike="noStrike" cap="none" normalizeH="0" baseline="0" dirty="0">
                          <a:ln>
                            <a:noFill/>
                          </a:ln>
                          <a:solidFill>
                            <a:schemeClr val="bg1"/>
                          </a:solidFill>
                          <a:effectLst/>
                          <a:latin typeface="+mn-lt"/>
                        </a:rPr>
                        <a:t>Blanchiment du produit du crime</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fr-FR" altLang="fr-BF" sz="1800" b="1" i="0" u="none" strike="noStrike" cap="none" normalizeH="0" baseline="0" dirty="0">
                          <a:ln>
                            <a:noFill/>
                          </a:ln>
                          <a:solidFill>
                            <a:schemeClr val="bg1"/>
                          </a:solidFill>
                          <a:effectLst/>
                          <a:latin typeface="+mn-lt"/>
                        </a:rPr>
                        <a:t>Recel des produits de la corruption et des infractions assimilées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BF" sz="1800" b="1" i="0" u="none" strike="noStrike" cap="none" normalizeH="0" baseline="0" dirty="0">
                        <a:ln>
                          <a:noFill/>
                        </a:ln>
                        <a:solidFill>
                          <a:schemeClr val="bg1"/>
                        </a:solidFill>
                        <a:effectLst/>
                        <a:latin typeface="+mn-lt"/>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2485069221"/>
                  </a:ext>
                </a:extLst>
              </a:tr>
            </a:tbl>
          </a:graphicData>
        </a:graphic>
      </p:graphicFrame>
    </p:spTree>
    <p:extLst>
      <p:ext uri="{BB962C8B-B14F-4D97-AF65-F5344CB8AC3E}">
        <p14:creationId xmlns:p14="http://schemas.microsoft.com/office/powerpoint/2010/main" val="426548488"/>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fill="hold"/>
                                        <p:tgtEl>
                                          <p:spTgt spid="17"/>
                                        </p:tgtEl>
                                        <p:attrNameLst>
                                          <p:attrName>ppt_x</p:attrName>
                                        </p:attrNameLst>
                                      </p:cBhvr>
                                      <p:tavLst>
                                        <p:tav tm="0">
                                          <p:val>
                                            <p:strVal val="#ppt_x"/>
                                          </p:val>
                                        </p:tav>
                                        <p:tav tm="100000">
                                          <p:val>
                                            <p:strVal val="#ppt_x"/>
                                          </p:val>
                                        </p:tav>
                                      </p:tavLst>
                                    </p:anim>
                                    <p:anim calcmode="lin" valueType="num">
                                      <p:cBhvr additive="base">
                                        <p:cTn id="15"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 calcmode="lin" valueType="num">
                                      <p:cBhvr additive="base">
                                        <p:cTn id="20" dur="500" fill="hold"/>
                                        <p:tgtEl>
                                          <p:spTgt spid="18"/>
                                        </p:tgtEl>
                                        <p:attrNameLst>
                                          <p:attrName>ppt_x</p:attrName>
                                        </p:attrNameLst>
                                      </p:cBhvr>
                                      <p:tavLst>
                                        <p:tav tm="0">
                                          <p:val>
                                            <p:strVal val="#ppt_x"/>
                                          </p:val>
                                        </p:tav>
                                        <p:tav tm="100000">
                                          <p:val>
                                            <p:strVal val="#ppt_x"/>
                                          </p:val>
                                        </p:tav>
                                      </p:tavLst>
                                    </p:anim>
                                    <p:anim calcmode="lin" valueType="num">
                                      <p:cBhvr additive="base">
                                        <p:cTn id="21"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16</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1503127" y="431097"/>
            <a:ext cx="9341636"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III.</a:t>
            </a:r>
            <a:r>
              <a:rPr lang="fr-BF" sz="3200" b="1" dirty="0">
                <a:solidFill>
                  <a:prstClr val="black"/>
                </a:solidFill>
                <a:latin typeface="Aptos Display" panose="02110004020202020204"/>
                <a:ea typeface="+mj-ea"/>
                <a:cs typeface="+mj-cs"/>
              </a:rPr>
              <a:t> </a:t>
            </a: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TYPOLOGIE DES INFRACTIONS DANS LE SECTEUR DE LA SECURITÉ (1/4)</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ZoneTexte 5">
            <a:extLst>
              <a:ext uri="{FF2B5EF4-FFF2-40B4-BE49-F238E27FC236}">
                <a16:creationId xmlns:a16="http://schemas.microsoft.com/office/drawing/2014/main" id="{9CE3B893-463B-5D82-3C8B-D453095FEEEA}"/>
              </a:ext>
            </a:extLst>
          </p:cNvPr>
          <p:cNvSpPr txBox="1"/>
          <p:nvPr/>
        </p:nvSpPr>
        <p:spPr>
          <a:xfrm>
            <a:off x="1101628" y="2386515"/>
            <a:ext cx="9914306" cy="4893647"/>
          </a:xfrm>
          <a:prstGeom prst="rect">
            <a:avLst/>
          </a:prstGeom>
          <a:noFill/>
        </p:spPr>
        <p:txBody>
          <a:bodyPr wrap="square" rtlCol="0">
            <a:spAutoFit/>
          </a:bodyPr>
          <a:lstStyle/>
          <a:p>
            <a:pPr marL="342900" lvl="0" indent="-342900">
              <a:buFont typeface="Wingdings" panose="05000000000000000000" pitchFamily="2" charset="2"/>
              <a:buChar char="Ø"/>
            </a:pPr>
            <a:r>
              <a:rPr lang="fr-FR" sz="2200" dirty="0"/>
              <a:t>Corruption d’agents publics</a:t>
            </a:r>
          </a:p>
          <a:p>
            <a:pPr marL="342900" lvl="0" indent="-342900">
              <a:buFont typeface="Wingdings" panose="05000000000000000000" pitchFamily="2" charset="2"/>
              <a:buChar char="Ø"/>
            </a:pPr>
            <a:r>
              <a:rPr lang="fr-FR" sz="2200" dirty="0"/>
              <a:t>Des avantages injustifiés et de la corruption dans la commande publique</a:t>
            </a:r>
          </a:p>
          <a:p>
            <a:pPr marL="342900" lvl="0" indent="-342900">
              <a:buFont typeface="Wingdings" panose="05000000000000000000" pitchFamily="2" charset="2"/>
              <a:buChar char="Ø"/>
            </a:pPr>
            <a:r>
              <a:rPr lang="fr-FR" sz="2200" dirty="0"/>
              <a:t>De la concussion</a:t>
            </a:r>
          </a:p>
          <a:p>
            <a:pPr marL="342900" indent="-342900">
              <a:buFont typeface="Wingdings" panose="05000000000000000000" pitchFamily="2" charset="2"/>
              <a:buChar char="Ø"/>
            </a:pPr>
            <a:r>
              <a:rPr lang="fr-BF" altLang="fr-BF" sz="2400" dirty="0">
                <a:solidFill>
                  <a:srgbClr val="000000"/>
                </a:solidFill>
              </a:rPr>
              <a:t>Du trafic d’influence</a:t>
            </a:r>
            <a:endParaRPr lang="fr-FR" sz="2200" dirty="0"/>
          </a:p>
          <a:p>
            <a:pPr marL="342900" indent="-342900">
              <a:buFont typeface="Wingdings" panose="05000000000000000000" pitchFamily="2" charset="2"/>
              <a:buChar char="Ø"/>
            </a:pPr>
            <a:r>
              <a:rPr lang="fr-BF" altLang="fr-BF" sz="2400" dirty="0">
                <a:solidFill>
                  <a:srgbClr val="000000"/>
                </a:solidFill>
              </a:rPr>
              <a:t>De la surfacturation</a:t>
            </a:r>
            <a:endParaRPr lang="fr-FR" sz="2200" dirty="0"/>
          </a:p>
          <a:p>
            <a:pPr marL="342900" lvl="0" indent="-342900">
              <a:buFont typeface="Wingdings" panose="05000000000000000000" pitchFamily="2" charset="2"/>
              <a:buChar char="Ø"/>
            </a:pPr>
            <a:r>
              <a:rPr lang="fr-FR" sz="2200" dirty="0"/>
              <a:t>Du délit d’acceptation de cadeaux indus</a:t>
            </a:r>
          </a:p>
          <a:p>
            <a:pPr marL="342900" lvl="0" indent="-342900">
              <a:buFont typeface="Wingdings" panose="05000000000000000000" pitchFamily="2" charset="2"/>
              <a:buChar char="Ø"/>
            </a:pPr>
            <a:r>
              <a:rPr lang="fr-FR" sz="2200" dirty="0"/>
              <a:t>De l’usage et de la rétention illicites et abusifs de biens publics par un agent public</a:t>
            </a:r>
          </a:p>
          <a:p>
            <a:pPr marL="342900" lvl="0" indent="-342900">
              <a:buFont typeface="Wingdings" panose="05000000000000000000" pitchFamily="2" charset="2"/>
              <a:buChar char="Ø"/>
            </a:pPr>
            <a:r>
              <a:rPr lang="fr-FR" sz="2200" dirty="0"/>
              <a:t>Du détournement de biens publics</a:t>
            </a:r>
          </a:p>
          <a:p>
            <a:pPr marL="342900" lvl="0" indent="-342900" eaLnBrk="0" fontAlgn="base" hangingPunct="0">
              <a:spcBef>
                <a:spcPct val="0"/>
              </a:spcBef>
              <a:spcAft>
                <a:spcPct val="0"/>
              </a:spcAft>
              <a:buFont typeface="Wingdings" panose="05000000000000000000" pitchFamily="2" charset="2"/>
              <a:buChar char="Ø"/>
            </a:pPr>
            <a:r>
              <a:rPr lang="fr-BF" altLang="fr-BF" sz="2200" dirty="0">
                <a:solidFill>
                  <a:srgbClr val="000000"/>
                </a:solidFill>
              </a:rPr>
              <a:t>Des exonérations et franchises illégales</a:t>
            </a:r>
          </a:p>
          <a:p>
            <a:pPr marL="342900" lvl="0" indent="-342900" eaLnBrk="0" fontAlgn="base" hangingPunct="0">
              <a:spcBef>
                <a:spcPct val="0"/>
              </a:spcBef>
              <a:spcAft>
                <a:spcPct val="0"/>
              </a:spcAft>
              <a:buFont typeface="Wingdings" panose="05000000000000000000" pitchFamily="2" charset="2"/>
              <a:buChar char="Ø"/>
            </a:pPr>
            <a:r>
              <a:rPr lang="fr-BF" altLang="fr-BF" sz="2200" dirty="0">
                <a:solidFill>
                  <a:srgbClr val="000000"/>
                </a:solidFill>
              </a:rPr>
              <a:t> Du délit d’initié</a:t>
            </a:r>
          </a:p>
          <a:p>
            <a:pPr marL="342900" lvl="0" indent="-342900" eaLnBrk="0" fontAlgn="base" hangingPunct="0">
              <a:spcBef>
                <a:spcPct val="0"/>
              </a:spcBef>
              <a:spcAft>
                <a:spcPct val="0"/>
              </a:spcAft>
              <a:buFont typeface="Wingdings" panose="05000000000000000000" pitchFamily="2" charset="2"/>
              <a:buChar char="Ø"/>
            </a:pPr>
            <a:r>
              <a:rPr lang="fr-BF" altLang="fr-BF" sz="2200" dirty="0">
                <a:solidFill>
                  <a:srgbClr val="000000"/>
                </a:solidFill>
              </a:rPr>
              <a:t>De l’enrichissement illicite</a:t>
            </a:r>
          </a:p>
          <a:p>
            <a:pPr marL="342900" lvl="0" indent="-342900" eaLnBrk="0" fontAlgn="base" hangingPunct="0">
              <a:spcBef>
                <a:spcPct val="0"/>
              </a:spcBef>
              <a:spcAft>
                <a:spcPct val="0"/>
              </a:spcAft>
              <a:buFont typeface="Wingdings" panose="05000000000000000000" pitchFamily="2" charset="2"/>
              <a:buChar char="Ø"/>
            </a:pPr>
            <a:r>
              <a:rPr lang="fr-BF" altLang="fr-BF" sz="2200" dirty="0">
                <a:solidFill>
                  <a:srgbClr val="000000"/>
                </a:solidFill>
              </a:rPr>
              <a:t>Du défaut ou de la fausse déclaration d’intérêt ou de patrimoine</a:t>
            </a:r>
          </a:p>
          <a:p>
            <a:pPr marL="342900" lvl="0" indent="-342900">
              <a:buFont typeface="Wingdings" panose="05000000000000000000" pitchFamily="2" charset="2"/>
              <a:buChar char="Ø"/>
            </a:pPr>
            <a:endParaRPr lang="fr-FR" sz="2200" dirty="0"/>
          </a:p>
          <a:p>
            <a:pPr marL="342900" lvl="0" indent="-342900">
              <a:buFont typeface="Wingdings" panose="05000000000000000000" pitchFamily="2" charset="2"/>
              <a:buChar char="Ø"/>
            </a:pPr>
            <a:endParaRPr lang="fr-BF" sz="2200" dirty="0"/>
          </a:p>
        </p:txBody>
      </p:sp>
      <p:sp>
        <p:nvSpPr>
          <p:cNvPr id="14" name="ZoneTexte 13">
            <a:extLst>
              <a:ext uri="{FF2B5EF4-FFF2-40B4-BE49-F238E27FC236}">
                <a16:creationId xmlns:a16="http://schemas.microsoft.com/office/drawing/2014/main" id="{BA56F50B-F48A-4BC7-AC0E-44919527ABB4}"/>
              </a:ext>
            </a:extLst>
          </p:cNvPr>
          <p:cNvSpPr txBox="1"/>
          <p:nvPr/>
        </p:nvSpPr>
        <p:spPr>
          <a:xfrm>
            <a:off x="1138847" y="1696216"/>
            <a:ext cx="9705916" cy="550962"/>
          </a:xfrm>
          <a:prstGeom prst="foldedCorner">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txBody>
          <a:bodyPr wrap="square" rtlCol="0">
            <a:spAutoFit/>
          </a:bodyPr>
          <a:lstStyle/>
          <a:p>
            <a:r>
              <a:rPr lang="fr-FR" sz="2400" b="1" dirty="0"/>
              <a:t>INFRACTIONS ÉCONOMIQUES ET FINANCIÈRES</a:t>
            </a:r>
          </a:p>
        </p:txBody>
      </p:sp>
    </p:spTree>
    <p:extLst>
      <p:ext uri="{BB962C8B-B14F-4D97-AF65-F5344CB8AC3E}">
        <p14:creationId xmlns:p14="http://schemas.microsoft.com/office/powerpoint/2010/main" val="4034400768"/>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17</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1503127" y="431097"/>
            <a:ext cx="9341636"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III.</a:t>
            </a:r>
            <a:r>
              <a:rPr lang="fr-BF" sz="3200" b="1" dirty="0">
                <a:solidFill>
                  <a:prstClr val="black"/>
                </a:solidFill>
                <a:latin typeface="Aptos Display" panose="02110004020202020204"/>
                <a:ea typeface="+mj-ea"/>
                <a:cs typeface="+mj-cs"/>
              </a:rPr>
              <a:t> </a:t>
            </a: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TYPOLOGIE DES INFRACTIONS DANS LE SECTEUR DE LA SECURITÉ (1/5)</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ZoneTexte 5">
            <a:extLst>
              <a:ext uri="{FF2B5EF4-FFF2-40B4-BE49-F238E27FC236}">
                <a16:creationId xmlns:a16="http://schemas.microsoft.com/office/drawing/2014/main" id="{9CE3B893-463B-5D82-3C8B-D453095FEEEA}"/>
              </a:ext>
            </a:extLst>
          </p:cNvPr>
          <p:cNvSpPr txBox="1"/>
          <p:nvPr/>
        </p:nvSpPr>
        <p:spPr>
          <a:xfrm>
            <a:off x="1091848" y="2669159"/>
            <a:ext cx="9914306" cy="3594702"/>
          </a:xfrm>
          <a:prstGeom prst="rect">
            <a:avLst/>
          </a:prstGeom>
          <a:noFill/>
        </p:spPr>
        <p:txBody>
          <a:bodyPr wrap="square" rtlCol="0">
            <a:spAutoFit/>
          </a:bodyPr>
          <a:lstStyle/>
          <a:p>
            <a:pPr marL="342900" lvl="0" indent="-342900">
              <a:lnSpc>
                <a:spcPct val="150000"/>
              </a:lnSpc>
              <a:buFont typeface="Wingdings" panose="05000000000000000000" pitchFamily="2" charset="2"/>
              <a:buChar char="Ø"/>
            </a:pPr>
            <a:r>
              <a:rPr lang="fr-FR" sz="2200" dirty="0"/>
              <a:t>Du népotisme</a:t>
            </a:r>
          </a:p>
          <a:p>
            <a:pPr marL="342900" lvl="0" indent="-342900">
              <a:lnSpc>
                <a:spcPct val="150000"/>
              </a:lnSpc>
              <a:buFont typeface="Wingdings" panose="05000000000000000000" pitchFamily="2" charset="2"/>
              <a:buChar char="Ø"/>
            </a:pPr>
            <a:r>
              <a:rPr lang="fr-FR" sz="2200" dirty="0"/>
              <a:t>Du favoritisme</a:t>
            </a:r>
          </a:p>
          <a:p>
            <a:pPr marL="342900" lvl="0" indent="-342900">
              <a:lnSpc>
                <a:spcPct val="150000"/>
              </a:lnSpc>
              <a:buFont typeface="Wingdings" panose="05000000000000000000" pitchFamily="2" charset="2"/>
              <a:buChar char="Ø"/>
            </a:pPr>
            <a:r>
              <a:rPr lang="fr-FR" sz="2200" dirty="0"/>
              <a:t>Du commerce incompatible</a:t>
            </a:r>
          </a:p>
          <a:p>
            <a:pPr marL="342900" lvl="0" indent="-342900">
              <a:lnSpc>
                <a:spcPct val="150000"/>
              </a:lnSpc>
              <a:buFont typeface="Wingdings" panose="05000000000000000000" pitchFamily="2" charset="2"/>
              <a:buChar char="Ø"/>
            </a:pPr>
            <a:r>
              <a:rPr lang="fr-FR" sz="2200" dirty="0"/>
              <a:t>De la prise illégale d’intérêt (lorsqu’elle vise des décisions RH)</a:t>
            </a:r>
          </a:p>
          <a:p>
            <a:pPr marL="342900" lvl="0" indent="-342900">
              <a:lnSpc>
                <a:spcPct val="150000"/>
              </a:lnSpc>
              <a:buFont typeface="Wingdings" panose="05000000000000000000" pitchFamily="2" charset="2"/>
              <a:buChar char="Ø"/>
            </a:pPr>
            <a:r>
              <a:rPr lang="fr-FR" sz="2200" dirty="0"/>
              <a:t>Du conflit d’intérêts (lorsqu’il porte sur des décisions concernant des agents)</a:t>
            </a:r>
          </a:p>
          <a:p>
            <a:pPr marL="342900" lvl="0" indent="-342900">
              <a:lnSpc>
                <a:spcPct val="150000"/>
              </a:lnSpc>
              <a:buFont typeface="Wingdings" panose="05000000000000000000" pitchFamily="2" charset="2"/>
              <a:buChar char="Ø"/>
            </a:pPr>
            <a:r>
              <a:rPr lang="fr-FR" sz="2200" dirty="0"/>
              <a:t>De la divulgation d’informations (liée à des décisions RH ou dossiers personnels)</a:t>
            </a:r>
          </a:p>
          <a:p>
            <a:pPr marL="342900" lvl="0" indent="-342900">
              <a:lnSpc>
                <a:spcPct val="150000"/>
              </a:lnSpc>
              <a:buFont typeface="Wingdings" panose="05000000000000000000" pitchFamily="2" charset="2"/>
              <a:buChar char="Ø"/>
            </a:pPr>
            <a:endParaRPr lang="fr-BF" sz="2200" dirty="0"/>
          </a:p>
        </p:txBody>
      </p:sp>
      <p:sp>
        <p:nvSpPr>
          <p:cNvPr id="14" name="ZoneTexte 13">
            <a:extLst>
              <a:ext uri="{FF2B5EF4-FFF2-40B4-BE49-F238E27FC236}">
                <a16:creationId xmlns:a16="http://schemas.microsoft.com/office/drawing/2014/main" id="{BA56F50B-F48A-4BC7-AC0E-44919527ABB4}"/>
              </a:ext>
            </a:extLst>
          </p:cNvPr>
          <p:cNvSpPr txBox="1"/>
          <p:nvPr/>
        </p:nvSpPr>
        <p:spPr>
          <a:xfrm>
            <a:off x="1138847" y="1696216"/>
            <a:ext cx="10298407" cy="955000"/>
          </a:xfrm>
          <a:prstGeom prst="foldedCorner">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txBody>
          <a:bodyPr wrap="square" rtlCol="0">
            <a:spAutoFit/>
          </a:bodyPr>
          <a:lstStyle/>
          <a:p>
            <a:r>
              <a:rPr lang="fr-FR" sz="2400" b="1" dirty="0"/>
              <a:t>INFRACTIONS LIÉES À LA GESTION DES RESSOURCES HUMAINES</a:t>
            </a:r>
          </a:p>
          <a:p>
            <a:r>
              <a:rPr lang="fr-BF" altLang="fr-BF" sz="2200" i="1" dirty="0">
                <a:solidFill>
                  <a:srgbClr val="FF0000"/>
                </a:solidFill>
              </a:rPr>
              <a:t>(</a:t>
            </a:r>
            <a:r>
              <a:rPr lang="fr-BF" altLang="fr-BF" sz="2100" i="1" dirty="0">
                <a:solidFill>
                  <a:srgbClr val="FF0000"/>
                </a:solidFill>
              </a:rPr>
              <a:t>Infractions</a:t>
            </a:r>
            <a:r>
              <a:rPr lang="fr-BF" altLang="fr-BF" sz="2200" i="1" dirty="0">
                <a:solidFill>
                  <a:srgbClr val="FF0000"/>
                </a:solidFill>
              </a:rPr>
              <a:t> touchant aux affectations, promotions, recrutement, traitement des agents)</a:t>
            </a:r>
            <a:endParaRPr lang="fr-BF" altLang="fr-BF" sz="2200" dirty="0">
              <a:solidFill>
                <a:srgbClr val="FF0000"/>
              </a:solidFill>
            </a:endParaRPr>
          </a:p>
        </p:txBody>
      </p:sp>
    </p:spTree>
    <p:extLst>
      <p:ext uri="{BB962C8B-B14F-4D97-AF65-F5344CB8AC3E}">
        <p14:creationId xmlns:p14="http://schemas.microsoft.com/office/powerpoint/2010/main" val="3967563641"/>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18</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1503127" y="431097"/>
            <a:ext cx="9341636"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III.</a:t>
            </a:r>
            <a:r>
              <a:rPr lang="fr-BF" sz="3200" b="1" dirty="0">
                <a:solidFill>
                  <a:prstClr val="black"/>
                </a:solidFill>
                <a:latin typeface="Aptos Display" panose="02110004020202020204"/>
                <a:ea typeface="+mj-ea"/>
                <a:cs typeface="+mj-cs"/>
              </a:rPr>
              <a:t> </a:t>
            </a: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TYPOLOGIE DES INFRACTIONS DANS LE SECTEUR DE LA SECURITÉ (1/6)</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ZoneTexte 5">
            <a:extLst>
              <a:ext uri="{FF2B5EF4-FFF2-40B4-BE49-F238E27FC236}">
                <a16:creationId xmlns:a16="http://schemas.microsoft.com/office/drawing/2014/main" id="{9CE3B893-463B-5D82-3C8B-D453095FEEEA}"/>
              </a:ext>
            </a:extLst>
          </p:cNvPr>
          <p:cNvSpPr txBox="1"/>
          <p:nvPr/>
        </p:nvSpPr>
        <p:spPr>
          <a:xfrm>
            <a:off x="1034652" y="3182402"/>
            <a:ext cx="9914306" cy="3086871"/>
          </a:xfrm>
          <a:prstGeom prst="rect">
            <a:avLst/>
          </a:prstGeom>
          <a:noFill/>
        </p:spPr>
        <p:txBody>
          <a:bodyPr wrap="square" rtlCol="0">
            <a:spAutoFit/>
          </a:bodyPr>
          <a:lstStyle/>
          <a:p>
            <a:pPr marL="800100" lvl="1" indent="-342900">
              <a:lnSpc>
                <a:spcPct val="150000"/>
              </a:lnSpc>
              <a:buFont typeface="Wingdings" panose="05000000000000000000" pitchFamily="2" charset="2"/>
              <a:buChar char="Ø"/>
            </a:pPr>
            <a:r>
              <a:rPr lang="fr-FR" sz="2200" dirty="0"/>
              <a:t>De l’abus de fonction</a:t>
            </a:r>
          </a:p>
          <a:p>
            <a:pPr marL="800100" lvl="1" indent="-342900">
              <a:lnSpc>
                <a:spcPct val="150000"/>
              </a:lnSpc>
              <a:buFont typeface="Wingdings" panose="05000000000000000000" pitchFamily="2" charset="2"/>
              <a:buChar char="Ø"/>
            </a:pPr>
            <a:r>
              <a:rPr lang="fr-FR" sz="2200" dirty="0"/>
              <a:t>De la simulation illicite (ex : faux contrôles, fausses opérations)</a:t>
            </a:r>
          </a:p>
          <a:p>
            <a:pPr marL="800100" lvl="1" indent="-342900">
              <a:lnSpc>
                <a:spcPct val="150000"/>
              </a:lnSpc>
              <a:buFont typeface="Wingdings" panose="05000000000000000000" pitchFamily="2" charset="2"/>
              <a:buChar char="Ø"/>
            </a:pPr>
            <a:r>
              <a:rPr lang="fr-FR" sz="2200" dirty="0"/>
              <a:t>Du trafic d’influence (dans une opération)</a:t>
            </a:r>
          </a:p>
          <a:p>
            <a:pPr marL="800100" lvl="1" indent="-342900">
              <a:lnSpc>
                <a:spcPct val="150000"/>
              </a:lnSpc>
              <a:buFont typeface="Wingdings" panose="05000000000000000000" pitchFamily="2" charset="2"/>
              <a:buChar char="Ø"/>
            </a:pPr>
            <a:r>
              <a:rPr lang="fr-FR" sz="2200" dirty="0"/>
              <a:t>De la divulgation d’informations (renseignement, opérations, dispositifs)</a:t>
            </a:r>
          </a:p>
          <a:p>
            <a:pPr marL="800100" lvl="1" indent="-342900">
              <a:lnSpc>
                <a:spcPct val="150000"/>
              </a:lnSpc>
              <a:buFont typeface="Wingdings" panose="05000000000000000000" pitchFamily="2" charset="2"/>
              <a:buChar char="Ø"/>
            </a:pPr>
            <a:r>
              <a:rPr lang="fr-FR" sz="2200" dirty="0"/>
              <a:t>Du délit d’initié (lié à une opération imminente)</a:t>
            </a:r>
          </a:p>
          <a:p>
            <a:pPr marL="800100" lvl="1" indent="-342900">
              <a:lnSpc>
                <a:spcPct val="150000"/>
              </a:lnSpc>
              <a:buFont typeface="Wingdings" panose="05000000000000000000" pitchFamily="2" charset="2"/>
              <a:buChar char="Ø"/>
            </a:pPr>
            <a:endParaRPr lang="fr-BF" sz="2200" dirty="0"/>
          </a:p>
        </p:txBody>
      </p:sp>
      <p:sp>
        <p:nvSpPr>
          <p:cNvPr id="14" name="ZoneTexte 13">
            <a:extLst>
              <a:ext uri="{FF2B5EF4-FFF2-40B4-BE49-F238E27FC236}">
                <a16:creationId xmlns:a16="http://schemas.microsoft.com/office/drawing/2014/main" id="{BA56F50B-F48A-4BC7-AC0E-44919527ABB4}"/>
              </a:ext>
            </a:extLst>
          </p:cNvPr>
          <p:cNvSpPr txBox="1"/>
          <p:nvPr/>
        </p:nvSpPr>
        <p:spPr>
          <a:xfrm>
            <a:off x="1138847" y="1696216"/>
            <a:ext cx="9705916" cy="1377404"/>
          </a:xfrm>
          <a:prstGeom prst="foldedCorner">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txBody>
          <a:bodyPr wrap="square" rtlCol="0">
            <a:spAutoFit/>
          </a:bodyPr>
          <a:lstStyle/>
          <a:p>
            <a:r>
              <a:rPr lang="fr-FR" sz="2400" b="1" dirty="0"/>
              <a:t>INFRACTIONS LIÉES AUX OPÉRATIONS DE SÉCURITÉ</a:t>
            </a:r>
          </a:p>
          <a:p>
            <a:r>
              <a:rPr lang="fr-BF" altLang="fr-BF" sz="2400" i="1" dirty="0">
                <a:solidFill>
                  <a:srgbClr val="FF0000"/>
                </a:solidFill>
                <a:latin typeface="Arial" panose="020B0604020202020204" pitchFamily="34" charset="0"/>
              </a:rPr>
              <a:t>(</a:t>
            </a:r>
            <a:r>
              <a:rPr lang="fr-BF" altLang="fr-BF" sz="2100" i="1" dirty="0">
                <a:solidFill>
                  <a:srgbClr val="FF0000"/>
                </a:solidFill>
              </a:rPr>
              <a:t>Infractions commises lors des missions, opérations de terrain, contrôles, interventions, renseignement)</a:t>
            </a:r>
            <a:endParaRPr lang="fr-BF" altLang="fr-BF" sz="2100" dirty="0">
              <a:solidFill>
                <a:srgbClr val="FF0000"/>
              </a:solidFill>
            </a:endParaRPr>
          </a:p>
        </p:txBody>
      </p:sp>
    </p:spTree>
    <p:extLst>
      <p:ext uri="{BB962C8B-B14F-4D97-AF65-F5344CB8AC3E}">
        <p14:creationId xmlns:p14="http://schemas.microsoft.com/office/powerpoint/2010/main" val="717821150"/>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a:cxnSpLocks/>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19</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1503127" y="431097"/>
            <a:ext cx="9341636"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IV. Typologie</a:t>
            </a:r>
            <a:r>
              <a:rPr lang="fr-FR" sz="3200" b="1" dirty="0">
                <a:solidFill>
                  <a:prstClr val="black"/>
                </a:solidFill>
                <a:latin typeface="Aptos Display" panose="02110004020202020204"/>
                <a:ea typeface="+mj-ea"/>
                <a:cs typeface="+mj-cs"/>
              </a:rPr>
              <a:t> d’infractions et manifestation de la corruption dans les Forces armées nationales </a:t>
            </a: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(1/1)</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aphicFrame>
        <p:nvGraphicFramePr>
          <p:cNvPr id="10" name="Tableau 9">
            <a:extLst>
              <a:ext uri="{FF2B5EF4-FFF2-40B4-BE49-F238E27FC236}">
                <a16:creationId xmlns:a16="http://schemas.microsoft.com/office/drawing/2014/main" id="{4B437500-8E05-4CF2-8054-C1D2D5353825}"/>
              </a:ext>
            </a:extLst>
          </p:cNvPr>
          <p:cNvGraphicFramePr>
            <a:graphicFrameLocks noGrp="1"/>
          </p:cNvGraphicFramePr>
          <p:nvPr>
            <p:extLst>
              <p:ext uri="{D42A27DB-BD31-4B8C-83A1-F6EECF244321}">
                <p14:modId xmlns:p14="http://schemas.microsoft.com/office/powerpoint/2010/main" val="4236915966"/>
              </p:ext>
            </p:extLst>
          </p:nvPr>
        </p:nvGraphicFramePr>
        <p:xfrm>
          <a:off x="531223" y="1728411"/>
          <a:ext cx="1987836" cy="4395717"/>
        </p:xfrm>
        <a:graphic>
          <a:graphicData uri="http://schemas.openxmlformats.org/drawingml/2006/table">
            <a:tbl>
              <a:tblPr firstRow="1" firstCol="1" bandRow="1">
                <a:tableStyleId>{5C22544A-7EE6-4342-B048-85BDC9FD1C3A}</a:tableStyleId>
              </a:tblPr>
              <a:tblGrid>
                <a:gridCol w="1987836">
                  <a:extLst>
                    <a:ext uri="{9D8B030D-6E8A-4147-A177-3AD203B41FA5}">
                      <a16:colId xmlns:a16="http://schemas.microsoft.com/office/drawing/2014/main" val="691620424"/>
                    </a:ext>
                  </a:extLst>
                </a:gridCol>
              </a:tblGrid>
              <a:tr h="400762">
                <a:tc>
                  <a:txBody>
                    <a:bodyPr/>
                    <a:lstStyle/>
                    <a:p>
                      <a:pPr algn="ctr">
                        <a:lnSpc>
                          <a:spcPct val="115000"/>
                        </a:lnSpc>
                        <a:spcAft>
                          <a:spcPts val="0"/>
                        </a:spcAft>
                      </a:pPr>
                      <a:r>
                        <a:rPr lang="fr-FR" sz="1700" kern="100" dirty="0">
                          <a:solidFill>
                            <a:schemeClr val="tx1"/>
                          </a:solidFill>
                          <a:effectLst/>
                        </a:rPr>
                        <a:t>Typologie </a:t>
                      </a:r>
                      <a:endParaRPr lang="fr-FR" sz="1700" kern="1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nchor="ctr">
                    <a:solidFill>
                      <a:schemeClr val="accent2"/>
                    </a:solidFill>
                  </a:tcPr>
                </a:tc>
                <a:extLst>
                  <a:ext uri="{0D108BD9-81ED-4DB2-BD59-A6C34878D82A}">
                    <a16:rowId xmlns:a16="http://schemas.microsoft.com/office/drawing/2014/main" val="3830030949"/>
                  </a:ext>
                </a:extLst>
              </a:tr>
              <a:tr h="2539536">
                <a:tc>
                  <a:txBody>
                    <a:bodyPr/>
                    <a:lstStyle/>
                    <a:p>
                      <a:pPr>
                        <a:lnSpc>
                          <a:spcPct val="115000"/>
                        </a:lnSpc>
                        <a:spcAft>
                          <a:spcPts val="0"/>
                        </a:spcAft>
                      </a:pPr>
                      <a:r>
                        <a:rPr lang="fr-FR" sz="1700" kern="100" dirty="0">
                          <a:effectLst/>
                        </a:rPr>
                        <a:t>Soustraction de biens </a:t>
                      </a:r>
                      <a:endParaRPr lang="fr-FR" sz="1700" kern="100" dirty="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2824940398"/>
                  </a:ext>
                </a:extLst>
              </a:tr>
              <a:tr h="1455419">
                <a:tc>
                  <a:txBody>
                    <a:bodyPr/>
                    <a:lstStyle/>
                    <a:p>
                      <a:pPr>
                        <a:lnSpc>
                          <a:spcPct val="115000"/>
                        </a:lnSpc>
                        <a:spcAft>
                          <a:spcPts val="0"/>
                        </a:spcAft>
                      </a:pPr>
                      <a:r>
                        <a:rPr lang="fr-FR" sz="1700" kern="100" dirty="0">
                          <a:effectLst/>
                        </a:rPr>
                        <a:t>détournement de biens publics </a:t>
                      </a:r>
                      <a:endParaRPr lang="fr-FR" sz="1700" kern="100" dirty="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809749683"/>
                  </a:ext>
                </a:extLst>
              </a:tr>
            </a:tbl>
          </a:graphicData>
        </a:graphic>
      </p:graphicFrame>
      <p:graphicFrame>
        <p:nvGraphicFramePr>
          <p:cNvPr id="17" name="Tableau 16">
            <a:extLst>
              <a:ext uri="{FF2B5EF4-FFF2-40B4-BE49-F238E27FC236}">
                <a16:creationId xmlns:a16="http://schemas.microsoft.com/office/drawing/2014/main" id="{C85DA70D-ECE6-4427-BAD8-ADD869E4AA78}"/>
              </a:ext>
            </a:extLst>
          </p:cNvPr>
          <p:cNvGraphicFramePr>
            <a:graphicFrameLocks noGrp="1"/>
          </p:cNvGraphicFramePr>
          <p:nvPr>
            <p:extLst>
              <p:ext uri="{D42A27DB-BD31-4B8C-83A1-F6EECF244321}">
                <p14:modId xmlns:p14="http://schemas.microsoft.com/office/powerpoint/2010/main" val="98077779"/>
              </p:ext>
            </p:extLst>
          </p:nvPr>
        </p:nvGraphicFramePr>
        <p:xfrm>
          <a:off x="2528684" y="1728411"/>
          <a:ext cx="8918195" cy="4395717"/>
        </p:xfrm>
        <a:graphic>
          <a:graphicData uri="http://schemas.openxmlformats.org/drawingml/2006/table">
            <a:tbl>
              <a:tblPr firstRow="1" firstCol="1" bandRow="1">
                <a:tableStyleId>{5C22544A-7EE6-4342-B048-85BDC9FD1C3A}</a:tableStyleId>
              </a:tblPr>
              <a:tblGrid>
                <a:gridCol w="8918195">
                  <a:extLst>
                    <a:ext uri="{9D8B030D-6E8A-4147-A177-3AD203B41FA5}">
                      <a16:colId xmlns:a16="http://schemas.microsoft.com/office/drawing/2014/main" val="1943656449"/>
                    </a:ext>
                  </a:extLst>
                </a:gridCol>
              </a:tblGrid>
              <a:tr h="400762">
                <a:tc>
                  <a:txBody>
                    <a:bodyPr/>
                    <a:lstStyle/>
                    <a:p>
                      <a:pPr>
                        <a:lnSpc>
                          <a:spcPct val="150000"/>
                        </a:lnSpc>
                        <a:spcAft>
                          <a:spcPts val="0"/>
                        </a:spcAft>
                      </a:pPr>
                      <a:r>
                        <a:rPr lang="fr-FR" sz="1700" kern="100" dirty="0">
                          <a:solidFill>
                            <a:schemeClr val="tx1"/>
                          </a:solidFill>
                          <a:effectLst/>
                        </a:rPr>
                        <a:t>Manifestations opérationnelles dans les Forces armées nationales (FAN</a:t>
                      </a:r>
                      <a:endParaRPr lang="fr-FR" sz="1700" kern="100" dirty="0">
                        <a:solidFill>
                          <a:schemeClr val="tx1"/>
                        </a:solidFill>
                        <a:effectLst/>
                        <a:latin typeface="Helvetica" panose="020B0604020202020204" pitchFamily="34" charset="0"/>
                        <a:ea typeface="Times New Roman" panose="02020603050405020304" pitchFamily="18" charset="0"/>
                        <a:cs typeface="Times New Roman" panose="02020603050405020304" pitchFamily="18" charset="0"/>
                      </a:endParaRPr>
                    </a:p>
                  </a:txBody>
                  <a:tcPr marL="9525" marR="9525" marT="9525" marB="9525" anchor="ctr">
                    <a:solidFill>
                      <a:schemeClr val="accent2"/>
                    </a:solidFill>
                  </a:tcPr>
                </a:tc>
                <a:extLst>
                  <a:ext uri="{0D108BD9-81ED-4DB2-BD59-A6C34878D82A}">
                    <a16:rowId xmlns:a16="http://schemas.microsoft.com/office/drawing/2014/main" val="3379938207"/>
                  </a:ext>
                </a:extLst>
              </a:tr>
              <a:tr h="2539536">
                <a:tc>
                  <a:txBody>
                    <a:bodyPr/>
                    <a:lstStyle/>
                    <a:p>
                      <a:pPr>
                        <a:lnSpc>
                          <a:spcPct val="115000"/>
                        </a:lnSpc>
                        <a:spcAft>
                          <a:spcPts val="0"/>
                        </a:spcAft>
                      </a:pPr>
                      <a:r>
                        <a:rPr lang="fr-FR" sz="1700" kern="100" dirty="0">
                          <a:solidFill>
                            <a:schemeClr val="tx1"/>
                          </a:solidFill>
                          <a:effectLst/>
                        </a:rPr>
                        <a:t>Prélèvement de fonds, carburant, matériels confiés;</a:t>
                      </a:r>
                      <a:br>
                        <a:rPr lang="fr-FR" sz="1700" kern="100" dirty="0">
                          <a:solidFill>
                            <a:schemeClr val="tx1"/>
                          </a:solidFill>
                          <a:effectLst/>
                        </a:rPr>
                      </a:br>
                      <a:r>
                        <a:rPr lang="fr-FR" sz="1700" kern="100" dirty="0">
                          <a:solidFill>
                            <a:schemeClr val="tx1"/>
                          </a:solidFill>
                          <a:effectLst/>
                        </a:rPr>
                        <a:t>Ponctions répétées, retraits fractionnés;</a:t>
                      </a:r>
                      <a:br>
                        <a:rPr lang="fr-FR" sz="1700" kern="100" dirty="0">
                          <a:solidFill>
                            <a:schemeClr val="tx1"/>
                          </a:solidFill>
                          <a:effectLst/>
                        </a:rPr>
                      </a:br>
                      <a:r>
                        <a:rPr lang="fr-FR" sz="1700" kern="100" dirty="0">
                          <a:solidFill>
                            <a:schemeClr val="tx1"/>
                          </a:solidFill>
                          <a:effectLst/>
                        </a:rPr>
                        <a:t>Véhicules saisis utilisés, carburant consommé pour des besoins privés</a:t>
                      </a:r>
                      <a:br>
                        <a:rPr lang="fr-FR" sz="1700" kern="100" dirty="0">
                          <a:solidFill>
                            <a:schemeClr val="tx1"/>
                          </a:solidFill>
                          <a:effectLst/>
                        </a:rPr>
                      </a:br>
                      <a:r>
                        <a:rPr lang="fr-FR" sz="1700" kern="100" dirty="0">
                          <a:solidFill>
                            <a:schemeClr val="tx1"/>
                          </a:solidFill>
                          <a:effectLst/>
                        </a:rPr>
                        <a:t>Manipulation de registres, falsification de PV de remise;</a:t>
                      </a:r>
                      <a:br>
                        <a:rPr lang="fr-FR" sz="1700" kern="100" dirty="0">
                          <a:solidFill>
                            <a:schemeClr val="tx1"/>
                          </a:solidFill>
                          <a:effectLst/>
                        </a:rPr>
                      </a:br>
                      <a:r>
                        <a:rPr lang="fr-FR" sz="1700" kern="100" dirty="0">
                          <a:solidFill>
                            <a:schemeClr val="tx1"/>
                          </a:solidFill>
                          <a:effectLst/>
                        </a:rPr>
                        <a:t>Remise non autorisée de biens à des tiers;</a:t>
                      </a:r>
                      <a:br>
                        <a:rPr lang="fr-FR" sz="1700" kern="100" dirty="0">
                          <a:solidFill>
                            <a:schemeClr val="tx1"/>
                          </a:solidFill>
                          <a:effectLst/>
                        </a:rPr>
                      </a:br>
                      <a:r>
                        <a:rPr lang="fr-FR" sz="1700" kern="100" dirty="0">
                          <a:solidFill>
                            <a:schemeClr val="tx1"/>
                          </a:solidFill>
                          <a:effectLst/>
                        </a:rPr>
                        <a:t>Recettes collectées mais non versées au Trésor;</a:t>
                      </a:r>
                      <a:br>
                        <a:rPr lang="fr-FR" sz="1700" kern="100" dirty="0">
                          <a:solidFill>
                            <a:schemeClr val="tx1"/>
                          </a:solidFill>
                          <a:effectLst/>
                        </a:rPr>
                      </a:br>
                      <a:r>
                        <a:rPr lang="fr-FR" sz="1700" kern="100" dirty="0">
                          <a:solidFill>
                            <a:schemeClr val="tx1"/>
                          </a:solidFill>
                          <a:effectLst/>
                        </a:rPr>
                        <a:t>Dégradation ou disparition de biens pour cacher la soustraction</a:t>
                      </a:r>
                      <a:endParaRPr lang="fr-FR" sz="1700" kern="1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nchor="ctr">
                    <a:solidFill>
                      <a:schemeClr val="tx2">
                        <a:lumMod val="40000"/>
                        <a:lumOff val="60000"/>
                      </a:schemeClr>
                    </a:solidFill>
                  </a:tcPr>
                </a:tc>
                <a:extLst>
                  <a:ext uri="{0D108BD9-81ED-4DB2-BD59-A6C34878D82A}">
                    <a16:rowId xmlns:a16="http://schemas.microsoft.com/office/drawing/2014/main" val="3885380579"/>
                  </a:ext>
                </a:extLst>
              </a:tr>
              <a:tr h="1455419">
                <a:tc>
                  <a:txBody>
                    <a:bodyPr/>
                    <a:lstStyle/>
                    <a:p>
                      <a:pPr>
                        <a:lnSpc>
                          <a:spcPct val="115000"/>
                        </a:lnSpc>
                        <a:spcAft>
                          <a:spcPts val="0"/>
                        </a:spcAft>
                      </a:pPr>
                      <a:r>
                        <a:rPr lang="fr-FR" sz="1700" kern="100" dirty="0">
                          <a:solidFill>
                            <a:schemeClr val="tx1"/>
                          </a:solidFill>
                          <a:effectLst/>
                        </a:rPr>
                        <a:t>Détournement de carburant;</a:t>
                      </a:r>
                      <a:br>
                        <a:rPr lang="fr-FR" sz="1700" kern="100" dirty="0">
                          <a:solidFill>
                            <a:schemeClr val="tx1"/>
                          </a:solidFill>
                          <a:effectLst/>
                        </a:rPr>
                      </a:br>
                      <a:r>
                        <a:rPr lang="fr-FR" sz="1700" kern="100" dirty="0">
                          <a:solidFill>
                            <a:schemeClr val="tx1"/>
                          </a:solidFill>
                          <a:effectLst/>
                        </a:rPr>
                        <a:t>Détournement de rations alimentaires;</a:t>
                      </a:r>
                      <a:br>
                        <a:rPr lang="fr-FR" sz="1700" kern="100" dirty="0">
                          <a:solidFill>
                            <a:schemeClr val="tx1"/>
                          </a:solidFill>
                          <a:effectLst/>
                        </a:rPr>
                      </a:br>
                      <a:r>
                        <a:rPr lang="fr-FR" sz="1700" kern="100" dirty="0">
                          <a:solidFill>
                            <a:schemeClr val="tx1"/>
                          </a:solidFill>
                          <a:effectLst/>
                        </a:rPr>
                        <a:t>Détournement de matériels militaires;</a:t>
                      </a:r>
                    </a:p>
                    <a:p>
                      <a:pPr>
                        <a:lnSpc>
                          <a:spcPct val="115000"/>
                        </a:lnSpc>
                        <a:spcAft>
                          <a:spcPts val="0"/>
                        </a:spcAft>
                      </a:pPr>
                      <a:r>
                        <a:rPr lang="fr-FR" sz="1700" kern="100" dirty="0">
                          <a:solidFill>
                            <a:schemeClr val="tx1"/>
                          </a:solidFill>
                          <a:effectLst/>
                        </a:rPr>
                        <a:t>Détournement dans la logistique des opérations</a:t>
                      </a:r>
                      <a:endParaRPr lang="fr-FR" sz="1700" kern="1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nchor="ctr">
                    <a:solidFill>
                      <a:schemeClr val="tx2">
                        <a:lumMod val="40000"/>
                        <a:lumOff val="60000"/>
                      </a:schemeClr>
                    </a:solidFill>
                  </a:tcPr>
                </a:tc>
                <a:extLst>
                  <a:ext uri="{0D108BD9-81ED-4DB2-BD59-A6C34878D82A}">
                    <a16:rowId xmlns:a16="http://schemas.microsoft.com/office/drawing/2014/main" val="1232734602"/>
                  </a:ext>
                </a:extLst>
              </a:tr>
            </a:tbl>
          </a:graphicData>
        </a:graphic>
      </p:graphicFrame>
    </p:spTree>
    <p:extLst>
      <p:ext uri="{BB962C8B-B14F-4D97-AF65-F5344CB8AC3E}">
        <p14:creationId xmlns:p14="http://schemas.microsoft.com/office/powerpoint/2010/main" val="1668903496"/>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1000"/>
                                        <p:tgtEl>
                                          <p:spTgt spid="17"/>
                                        </p:tgtEl>
                                      </p:cBhvr>
                                    </p:animEffect>
                                    <p:anim calcmode="lin" valueType="num">
                                      <p:cBhvr>
                                        <p:cTn id="22" dur="1000" fill="hold"/>
                                        <p:tgtEl>
                                          <p:spTgt spid="17"/>
                                        </p:tgtEl>
                                        <p:attrNameLst>
                                          <p:attrName>ppt_x</p:attrName>
                                        </p:attrNameLst>
                                      </p:cBhvr>
                                      <p:tavLst>
                                        <p:tav tm="0">
                                          <p:val>
                                            <p:strVal val="#ppt_x"/>
                                          </p:val>
                                        </p:tav>
                                        <p:tav tm="100000">
                                          <p:val>
                                            <p:strVal val="#ppt_x"/>
                                          </p:val>
                                        </p:tav>
                                      </p:tavLst>
                                    </p:anim>
                                    <p:anim calcmode="lin" valueType="num">
                                      <p:cBhvr>
                                        <p:cTn id="23"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a:cxnSpLocks/>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20</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1503127" y="431097"/>
            <a:ext cx="9341636"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IV. Typologie</a:t>
            </a:r>
            <a:r>
              <a:rPr lang="fr-FR" sz="3200" b="1" dirty="0">
                <a:solidFill>
                  <a:prstClr val="black"/>
                </a:solidFill>
                <a:latin typeface="Aptos Display" panose="02110004020202020204"/>
                <a:ea typeface="+mj-ea"/>
                <a:cs typeface="+mj-cs"/>
              </a:rPr>
              <a:t> d’infractions et manifestation de la corruption dans les Forces armées nationales </a:t>
            </a: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(1/2)</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aphicFrame>
        <p:nvGraphicFramePr>
          <p:cNvPr id="10" name="Tableau 9">
            <a:extLst>
              <a:ext uri="{FF2B5EF4-FFF2-40B4-BE49-F238E27FC236}">
                <a16:creationId xmlns:a16="http://schemas.microsoft.com/office/drawing/2014/main" id="{4B437500-8E05-4CF2-8054-C1D2D5353825}"/>
              </a:ext>
            </a:extLst>
          </p:cNvPr>
          <p:cNvGraphicFramePr>
            <a:graphicFrameLocks noGrp="1"/>
          </p:cNvGraphicFramePr>
          <p:nvPr>
            <p:extLst>
              <p:ext uri="{D42A27DB-BD31-4B8C-83A1-F6EECF244321}">
                <p14:modId xmlns:p14="http://schemas.microsoft.com/office/powerpoint/2010/main" val="4251240725"/>
              </p:ext>
            </p:extLst>
          </p:nvPr>
        </p:nvGraphicFramePr>
        <p:xfrm>
          <a:off x="356130" y="1583167"/>
          <a:ext cx="2140499" cy="4843735"/>
        </p:xfrm>
        <a:graphic>
          <a:graphicData uri="http://schemas.openxmlformats.org/drawingml/2006/table">
            <a:tbl>
              <a:tblPr firstRow="1" firstCol="1" bandRow="1">
                <a:tableStyleId>{5C22544A-7EE6-4342-B048-85BDC9FD1C3A}</a:tableStyleId>
              </a:tblPr>
              <a:tblGrid>
                <a:gridCol w="2140499">
                  <a:extLst>
                    <a:ext uri="{9D8B030D-6E8A-4147-A177-3AD203B41FA5}">
                      <a16:colId xmlns:a16="http://schemas.microsoft.com/office/drawing/2014/main" val="691620424"/>
                    </a:ext>
                  </a:extLst>
                </a:gridCol>
              </a:tblGrid>
              <a:tr h="660200">
                <a:tc>
                  <a:txBody>
                    <a:bodyPr/>
                    <a:lstStyle/>
                    <a:p>
                      <a:pPr algn="ctr">
                        <a:lnSpc>
                          <a:spcPct val="115000"/>
                        </a:lnSpc>
                        <a:spcAft>
                          <a:spcPts val="0"/>
                        </a:spcAft>
                      </a:pPr>
                      <a:r>
                        <a:rPr lang="fr-FR" sz="1700" kern="100" dirty="0">
                          <a:solidFill>
                            <a:schemeClr val="tx1"/>
                          </a:solidFill>
                          <a:effectLst/>
                        </a:rPr>
                        <a:t>Typologie </a:t>
                      </a:r>
                      <a:endParaRPr lang="fr-FR" sz="1700" kern="1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nchor="ctr">
                    <a:solidFill>
                      <a:schemeClr val="accent2"/>
                    </a:solidFill>
                  </a:tcPr>
                </a:tc>
                <a:extLst>
                  <a:ext uri="{0D108BD9-81ED-4DB2-BD59-A6C34878D82A}">
                    <a16:rowId xmlns:a16="http://schemas.microsoft.com/office/drawing/2014/main" val="3830030949"/>
                  </a:ext>
                </a:extLst>
              </a:tr>
              <a:tr h="4183535">
                <a:tc>
                  <a:txBody>
                    <a:bodyPr/>
                    <a:lstStyle/>
                    <a:p>
                      <a:pPr>
                        <a:lnSpc>
                          <a:spcPct val="115000"/>
                        </a:lnSpc>
                        <a:spcAft>
                          <a:spcPts val="0"/>
                        </a:spcAft>
                      </a:pPr>
                      <a:r>
                        <a:rPr lang="fr-FR" sz="1700" kern="100" dirty="0">
                          <a:effectLst/>
                        </a:rPr>
                        <a:t>Des avantages injustifiés et de la corruption dans la</a:t>
                      </a:r>
                    </a:p>
                    <a:p>
                      <a:pPr>
                        <a:lnSpc>
                          <a:spcPct val="115000"/>
                        </a:lnSpc>
                        <a:spcAft>
                          <a:spcPts val="0"/>
                        </a:spcAft>
                      </a:pPr>
                      <a:r>
                        <a:rPr lang="fr-FR" sz="1700" kern="100" dirty="0">
                          <a:effectLst/>
                        </a:rPr>
                        <a:t>commande publique</a:t>
                      </a:r>
                      <a:endParaRPr lang="fr-FR" sz="1700" kern="100" dirty="0">
                        <a:solidFill>
                          <a:srgbClr val="000000"/>
                        </a:solidFill>
                        <a:effectLst/>
                        <a:latin typeface="Helvetica" panose="020B060402020202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824940398"/>
                  </a:ext>
                </a:extLst>
              </a:tr>
            </a:tbl>
          </a:graphicData>
        </a:graphic>
      </p:graphicFrame>
      <p:graphicFrame>
        <p:nvGraphicFramePr>
          <p:cNvPr id="14" name="Tableau 13">
            <a:extLst>
              <a:ext uri="{FF2B5EF4-FFF2-40B4-BE49-F238E27FC236}">
                <a16:creationId xmlns:a16="http://schemas.microsoft.com/office/drawing/2014/main" id="{B7F8A045-21FA-4F53-996D-619B4E892D34}"/>
              </a:ext>
            </a:extLst>
          </p:cNvPr>
          <p:cNvGraphicFramePr>
            <a:graphicFrameLocks noGrp="1"/>
          </p:cNvGraphicFramePr>
          <p:nvPr>
            <p:extLst>
              <p:ext uri="{D42A27DB-BD31-4B8C-83A1-F6EECF244321}">
                <p14:modId xmlns:p14="http://schemas.microsoft.com/office/powerpoint/2010/main" val="331748621"/>
              </p:ext>
            </p:extLst>
          </p:nvPr>
        </p:nvGraphicFramePr>
        <p:xfrm>
          <a:off x="2516130" y="1594804"/>
          <a:ext cx="9464161" cy="4871480"/>
        </p:xfrm>
        <a:graphic>
          <a:graphicData uri="http://schemas.openxmlformats.org/drawingml/2006/table">
            <a:tbl>
              <a:tblPr firstRow="1" firstCol="1" bandRow="1">
                <a:tableStyleId>{5C22544A-7EE6-4342-B048-85BDC9FD1C3A}</a:tableStyleId>
              </a:tblPr>
              <a:tblGrid>
                <a:gridCol w="9464161">
                  <a:extLst>
                    <a:ext uri="{9D8B030D-6E8A-4147-A177-3AD203B41FA5}">
                      <a16:colId xmlns:a16="http://schemas.microsoft.com/office/drawing/2014/main" val="2722857156"/>
                    </a:ext>
                  </a:extLst>
                </a:gridCol>
              </a:tblGrid>
              <a:tr h="400762">
                <a:tc>
                  <a:txBody>
                    <a:bodyPr/>
                    <a:lstStyle/>
                    <a:p>
                      <a:pPr>
                        <a:lnSpc>
                          <a:spcPct val="150000"/>
                        </a:lnSpc>
                        <a:spcAft>
                          <a:spcPts val="0"/>
                        </a:spcAft>
                      </a:pPr>
                      <a:r>
                        <a:rPr lang="fr-FR" sz="1700" kern="100" dirty="0">
                          <a:solidFill>
                            <a:schemeClr val="tx1"/>
                          </a:solidFill>
                          <a:effectLst/>
                        </a:rPr>
                        <a:t>Manifestations opérationnelles dans les Forces armées nationales (FAN</a:t>
                      </a:r>
                      <a:endParaRPr lang="fr-FR" sz="1700" kern="100" dirty="0">
                        <a:solidFill>
                          <a:schemeClr val="tx1"/>
                        </a:solidFill>
                        <a:effectLst/>
                        <a:latin typeface="Helvetica" panose="020B0604020202020204" pitchFamily="34" charset="0"/>
                        <a:ea typeface="Times New Roman" panose="02020603050405020304" pitchFamily="18" charset="0"/>
                        <a:cs typeface="Times New Roman" panose="02020603050405020304" pitchFamily="18" charset="0"/>
                      </a:endParaRPr>
                    </a:p>
                  </a:txBody>
                  <a:tcPr marL="9525" marR="9525" marT="9525" marB="9525" anchor="ctr">
                    <a:solidFill>
                      <a:schemeClr val="accent2"/>
                    </a:solidFill>
                  </a:tcPr>
                </a:tc>
                <a:extLst>
                  <a:ext uri="{0D108BD9-81ED-4DB2-BD59-A6C34878D82A}">
                    <a16:rowId xmlns:a16="http://schemas.microsoft.com/office/drawing/2014/main" val="3830030949"/>
                  </a:ext>
                </a:extLst>
              </a:tr>
              <a:tr h="2539536">
                <a:tc>
                  <a:txBody>
                    <a:bodyPr/>
                    <a:lstStyle/>
                    <a:p>
                      <a:pPr>
                        <a:lnSpc>
                          <a:spcPct val="115000"/>
                        </a:lnSpc>
                        <a:spcAft>
                          <a:spcPts val="0"/>
                        </a:spcAft>
                      </a:pPr>
                      <a:r>
                        <a:rPr lang="fr-FR" sz="1700" kern="100" dirty="0">
                          <a:solidFill>
                            <a:schemeClr val="tx1"/>
                          </a:solidFill>
                          <a:effectLst/>
                        </a:rPr>
                        <a:t>Attribution de marchés d’équipements militaires à une société “imposée”.</a:t>
                      </a:r>
                    </a:p>
                    <a:p>
                      <a:pPr>
                        <a:lnSpc>
                          <a:spcPct val="115000"/>
                        </a:lnSpc>
                        <a:spcAft>
                          <a:spcPts val="0"/>
                        </a:spcAft>
                      </a:pPr>
                      <a:r>
                        <a:rPr lang="fr-FR" sz="1700" kern="100" dirty="0">
                          <a:solidFill>
                            <a:schemeClr val="tx1"/>
                          </a:solidFill>
                          <a:effectLst/>
                        </a:rPr>
                        <a:t>Sélection d’un fournisseur de carburant ou de vivres proche de la hiérarchie.</a:t>
                      </a:r>
                    </a:p>
                    <a:p>
                      <a:pPr>
                        <a:lnSpc>
                          <a:spcPct val="115000"/>
                        </a:lnSpc>
                        <a:spcAft>
                          <a:spcPts val="0"/>
                        </a:spcAft>
                      </a:pPr>
                      <a:r>
                        <a:rPr lang="fr-FR" sz="1700" kern="100" dirty="0">
                          <a:solidFill>
                            <a:schemeClr val="tx1"/>
                          </a:solidFill>
                          <a:effectLst/>
                        </a:rPr>
                        <a:t>Marchés d’uniformes, de pièces détachées, de blindés, de radios, confiés à la même société malgré des prix anormaux.</a:t>
                      </a:r>
                      <a:br>
                        <a:rPr lang="fr-FR" sz="1700" kern="100" dirty="0">
                          <a:solidFill>
                            <a:schemeClr val="tx1"/>
                          </a:solidFill>
                          <a:effectLst/>
                        </a:rPr>
                      </a:br>
                      <a:r>
                        <a:rPr lang="fr-FR" sz="1700" kern="100" dirty="0">
                          <a:solidFill>
                            <a:schemeClr val="tx1"/>
                          </a:solidFill>
                          <a:effectLst/>
                        </a:rPr>
                        <a:t>Avenant sur un marché de rations K après contrôle interne révélant des écarts.</a:t>
                      </a:r>
                    </a:p>
                    <a:p>
                      <a:pPr>
                        <a:lnSpc>
                          <a:spcPct val="115000"/>
                        </a:lnSpc>
                        <a:spcAft>
                          <a:spcPts val="0"/>
                        </a:spcAft>
                      </a:pPr>
                      <a:r>
                        <a:rPr lang="fr-FR" sz="1700" kern="100" dirty="0">
                          <a:solidFill>
                            <a:schemeClr val="tx1"/>
                          </a:solidFill>
                          <a:effectLst/>
                        </a:rPr>
                        <a:t>Modification d’un contrat de maintenance des véhicules pour augmenter la marge du fournisseur.</a:t>
                      </a:r>
                      <a:br>
                        <a:rPr lang="fr-FR" sz="1700" kern="100" dirty="0">
                          <a:solidFill>
                            <a:schemeClr val="tx1"/>
                          </a:solidFill>
                          <a:effectLst/>
                        </a:rPr>
                      </a:br>
                      <a:r>
                        <a:rPr lang="fr-FR" sz="1700" kern="100" dirty="0">
                          <a:solidFill>
                            <a:schemeClr val="tx1"/>
                          </a:solidFill>
                          <a:effectLst/>
                        </a:rPr>
                        <a:t>Gilets pare-balles achetés au triple du prix réel.</a:t>
                      </a:r>
                    </a:p>
                    <a:p>
                      <a:pPr>
                        <a:lnSpc>
                          <a:spcPct val="115000"/>
                        </a:lnSpc>
                        <a:spcAft>
                          <a:spcPts val="0"/>
                        </a:spcAft>
                      </a:pPr>
                      <a:r>
                        <a:rPr lang="fr-FR" sz="1700" kern="100" dirty="0">
                          <a:solidFill>
                            <a:schemeClr val="tx1"/>
                          </a:solidFill>
                          <a:effectLst/>
                        </a:rPr>
                        <a:t>Achat de carburant gonflé par des indexations non prévues.</a:t>
                      </a:r>
                      <a:br>
                        <a:rPr lang="fr-FR" sz="1700" kern="100" dirty="0">
                          <a:solidFill>
                            <a:schemeClr val="tx1"/>
                          </a:solidFill>
                          <a:effectLst/>
                        </a:rPr>
                      </a:br>
                      <a:r>
                        <a:rPr lang="fr-FR" sz="1700" kern="100" dirty="0">
                          <a:solidFill>
                            <a:schemeClr val="tx1"/>
                          </a:solidFill>
                          <a:effectLst/>
                        </a:rPr>
                        <a:t>Fournisseur offrant des smartphones, carburant, armes “de démonstration” ou bons d'essence aux décideurs.</a:t>
                      </a:r>
                      <a:br>
                        <a:rPr lang="fr-FR" sz="1700" kern="100" dirty="0">
                          <a:solidFill>
                            <a:schemeClr val="tx1"/>
                          </a:solidFill>
                          <a:effectLst/>
                        </a:rPr>
                      </a:br>
                      <a:r>
                        <a:rPr lang="fr-FR" sz="1700" kern="100" dirty="0">
                          <a:solidFill>
                            <a:schemeClr val="tx1"/>
                          </a:solidFill>
                          <a:effectLst/>
                        </a:rPr>
                        <a:t>Chef logistique recevant des “commissions” d’un fournisseur de carburant.</a:t>
                      </a:r>
                      <a:br>
                        <a:rPr lang="fr-FR" sz="1700" kern="100" dirty="0">
                          <a:solidFill>
                            <a:schemeClr val="tx1"/>
                          </a:solidFill>
                          <a:effectLst/>
                        </a:rPr>
                      </a:br>
                      <a:r>
                        <a:rPr lang="fr-FR" sz="1700" kern="100" dirty="0">
                          <a:solidFill>
                            <a:schemeClr val="tx1"/>
                          </a:solidFill>
                          <a:effectLst/>
                        </a:rPr>
                        <a:t>Entreprise de fourniture de munitions versant une “commission d’accès” pour un contrat cadre.</a:t>
                      </a:r>
                    </a:p>
                    <a:p>
                      <a:pPr>
                        <a:lnSpc>
                          <a:spcPct val="115000"/>
                        </a:lnSpc>
                      </a:pPr>
                      <a:r>
                        <a:rPr lang="fr-FR" sz="1700" kern="100" dirty="0">
                          <a:solidFill>
                            <a:schemeClr val="tx1"/>
                          </a:solidFill>
                          <a:effectLst/>
                        </a:rPr>
                        <a:t>Société de BTP finançant des séminaires à l’étranger pour obtenir un chantier d’infrastructure militaire.</a:t>
                      </a:r>
                      <a:br>
                        <a:rPr lang="fr-FR" sz="1700" kern="100" dirty="0">
                          <a:solidFill>
                            <a:schemeClr val="tx1"/>
                          </a:solidFill>
                          <a:effectLst/>
                        </a:rPr>
                      </a:br>
                      <a:r>
                        <a:rPr lang="fr-FR" sz="1700" kern="100" dirty="0">
                          <a:solidFill>
                            <a:schemeClr val="tx1"/>
                          </a:solidFill>
                          <a:effectLst/>
                        </a:rPr>
                        <a:t>Marchés d'achat de carburant passés en urgence “sécuritaire” mais sans fondement réel.</a:t>
                      </a:r>
                    </a:p>
                    <a:p>
                      <a:pPr>
                        <a:lnSpc>
                          <a:spcPct val="115000"/>
                        </a:lnSpc>
                      </a:pPr>
                      <a:r>
                        <a:rPr lang="fr-FR" sz="1700" kern="100" dirty="0">
                          <a:solidFill>
                            <a:schemeClr val="tx1"/>
                          </a:solidFill>
                          <a:effectLst/>
                        </a:rPr>
                        <a:t>Achat de pièces détachées en entente directe alors que les besoins étaient connus de longue date.</a:t>
                      </a:r>
                      <a:endParaRPr lang="fr-FR" sz="1700" kern="100" dirty="0">
                        <a:solidFill>
                          <a:schemeClr val="tx1"/>
                        </a:solidFill>
                        <a:effectLst/>
                        <a:latin typeface="Aptos"/>
                        <a:ea typeface="Times New Roman" panose="02020603050405020304" pitchFamily="18" charset="0"/>
                      </a:endParaRPr>
                    </a:p>
                  </a:txBody>
                  <a:tcPr marL="9525" marR="9525" marT="9525" marB="9525" anchor="ctr">
                    <a:solidFill>
                      <a:schemeClr val="tx2">
                        <a:lumMod val="40000"/>
                        <a:lumOff val="60000"/>
                      </a:schemeClr>
                    </a:solidFill>
                  </a:tcPr>
                </a:tc>
                <a:extLst>
                  <a:ext uri="{0D108BD9-81ED-4DB2-BD59-A6C34878D82A}">
                    <a16:rowId xmlns:a16="http://schemas.microsoft.com/office/drawing/2014/main" val="2824940398"/>
                  </a:ext>
                </a:extLst>
              </a:tr>
            </a:tbl>
          </a:graphicData>
        </a:graphic>
      </p:graphicFrame>
    </p:spTree>
    <p:extLst>
      <p:ext uri="{BB962C8B-B14F-4D97-AF65-F5344CB8AC3E}">
        <p14:creationId xmlns:p14="http://schemas.microsoft.com/office/powerpoint/2010/main" val="78491427"/>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a:cxnSpLocks/>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21</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1503127" y="431097"/>
            <a:ext cx="9341636"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IV. Typologie</a:t>
            </a:r>
            <a:r>
              <a:rPr lang="fr-FR" sz="3200" b="1" dirty="0">
                <a:solidFill>
                  <a:prstClr val="black"/>
                </a:solidFill>
                <a:latin typeface="Aptos Display" panose="02110004020202020204"/>
                <a:ea typeface="+mj-ea"/>
                <a:cs typeface="+mj-cs"/>
              </a:rPr>
              <a:t> d’infractions et manifestation de la corruption dans les Forces armées nationales </a:t>
            </a: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(1/3)</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aphicFrame>
        <p:nvGraphicFramePr>
          <p:cNvPr id="10" name="Tableau 9">
            <a:extLst>
              <a:ext uri="{FF2B5EF4-FFF2-40B4-BE49-F238E27FC236}">
                <a16:creationId xmlns:a16="http://schemas.microsoft.com/office/drawing/2014/main" id="{4B437500-8E05-4CF2-8054-C1D2D5353825}"/>
              </a:ext>
            </a:extLst>
          </p:cNvPr>
          <p:cNvGraphicFramePr>
            <a:graphicFrameLocks noGrp="1"/>
          </p:cNvGraphicFramePr>
          <p:nvPr>
            <p:extLst>
              <p:ext uri="{D42A27DB-BD31-4B8C-83A1-F6EECF244321}">
                <p14:modId xmlns:p14="http://schemas.microsoft.com/office/powerpoint/2010/main" val="3616018447"/>
              </p:ext>
            </p:extLst>
          </p:nvPr>
        </p:nvGraphicFramePr>
        <p:xfrm>
          <a:off x="540848" y="1610065"/>
          <a:ext cx="1987836" cy="4921033"/>
        </p:xfrm>
        <a:graphic>
          <a:graphicData uri="http://schemas.openxmlformats.org/drawingml/2006/table">
            <a:tbl>
              <a:tblPr firstRow="1" firstCol="1" bandRow="1">
                <a:tableStyleId>{5C22544A-7EE6-4342-B048-85BDC9FD1C3A}</a:tableStyleId>
              </a:tblPr>
              <a:tblGrid>
                <a:gridCol w="1987836">
                  <a:extLst>
                    <a:ext uri="{9D8B030D-6E8A-4147-A177-3AD203B41FA5}">
                      <a16:colId xmlns:a16="http://schemas.microsoft.com/office/drawing/2014/main" val="691620424"/>
                    </a:ext>
                  </a:extLst>
                </a:gridCol>
              </a:tblGrid>
              <a:tr h="392277">
                <a:tc>
                  <a:txBody>
                    <a:bodyPr/>
                    <a:lstStyle/>
                    <a:p>
                      <a:pPr algn="ctr">
                        <a:lnSpc>
                          <a:spcPct val="115000"/>
                        </a:lnSpc>
                        <a:spcAft>
                          <a:spcPts val="0"/>
                        </a:spcAft>
                      </a:pPr>
                      <a:r>
                        <a:rPr lang="fr-FR" sz="1700" kern="100" dirty="0">
                          <a:solidFill>
                            <a:schemeClr val="tx1"/>
                          </a:solidFill>
                          <a:effectLst/>
                        </a:rPr>
                        <a:t>Typologie</a:t>
                      </a:r>
                      <a:r>
                        <a:rPr lang="fr-FR" sz="1700" kern="100" dirty="0">
                          <a:effectLst/>
                        </a:rPr>
                        <a:t> </a:t>
                      </a:r>
                      <a:endParaRPr lang="fr-FR" sz="1700" kern="100" dirty="0">
                        <a:effectLst/>
                        <a:latin typeface="Times New Roman" panose="02020603050405020304" pitchFamily="18" charset="0"/>
                        <a:ea typeface="Times New Roman" panose="02020603050405020304" pitchFamily="18" charset="0"/>
                      </a:endParaRPr>
                    </a:p>
                  </a:txBody>
                  <a:tcPr marL="9525" marR="9525" marT="9525" marB="9525" anchor="ctr">
                    <a:solidFill>
                      <a:schemeClr val="accent2"/>
                    </a:solidFill>
                  </a:tcPr>
                </a:tc>
                <a:extLst>
                  <a:ext uri="{0D108BD9-81ED-4DB2-BD59-A6C34878D82A}">
                    <a16:rowId xmlns:a16="http://schemas.microsoft.com/office/drawing/2014/main" val="3830030949"/>
                  </a:ext>
                </a:extLst>
              </a:tr>
              <a:tr h="2485766">
                <a:tc>
                  <a:txBody>
                    <a:bodyPr/>
                    <a:lstStyle/>
                    <a:p>
                      <a:pPr>
                        <a:lnSpc>
                          <a:spcPct val="115000"/>
                        </a:lnSpc>
                        <a:spcAft>
                          <a:spcPts val="0"/>
                        </a:spcAft>
                      </a:pPr>
                      <a:r>
                        <a:rPr lang="fr-FR" sz="1700" kern="100" dirty="0">
                          <a:effectLst/>
                          <a:latin typeface="+mn-lt"/>
                          <a:ea typeface="Times New Roman" panose="02020603050405020304" pitchFamily="18" charset="0"/>
                        </a:rPr>
                        <a:t>Favoritisme / népotisme (Art. 332-14, 332-15)</a:t>
                      </a:r>
                    </a:p>
                  </a:txBody>
                  <a:tcPr marL="9525" marR="9525" marT="9525" marB="9525" anchor="ctr"/>
                </a:tc>
                <a:extLst>
                  <a:ext uri="{0D108BD9-81ED-4DB2-BD59-A6C34878D82A}">
                    <a16:rowId xmlns:a16="http://schemas.microsoft.com/office/drawing/2014/main" val="2824940398"/>
                  </a:ext>
                </a:extLst>
              </a:tr>
              <a:tr h="2042990">
                <a:tc>
                  <a:txBody>
                    <a:bodyPr/>
                    <a:lstStyle/>
                    <a:p>
                      <a:pPr>
                        <a:lnSpc>
                          <a:spcPct val="115000"/>
                        </a:lnSpc>
                        <a:spcAft>
                          <a:spcPts val="0"/>
                        </a:spcAft>
                      </a:pPr>
                      <a:r>
                        <a:rPr lang="fr-FR" sz="1700" kern="100" dirty="0">
                          <a:effectLst/>
                          <a:latin typeface="+mn-lt"/>
                          <a:ea typeface="Times New Roman" panose="02020603050405020304" pitchFamily="18" charset="0"/>
                        </a:rPr>
                        <a:t>Délit d’initié / divulgation </a:t>
                      </a:r>
                    </a:p>
                  </a:txBody>
                  <a:tcPr marL="9525" marR="9525" marT="9525" marB="9525" anchor="ctr"/>
                </a:tc>
                <a:extLst>
                  <a:ext uri="{0D108BD9-81ED-4DB2-BD59-A6C34878D82A}">
                    <a16:rowId xmlns:a16="http://schemas.microsoft.com/office/drawing/2014/main" val="809749683"/>
                  </a:ext>
                </a:extLst>
              </a:tr>
            </a:tbl>
          </a:graphicData>
        </a:graphic>
      </p:graphicFrame>
      <p:graphicFrame>
        <p:nvGraphicFramePr>
          <p:cNvPr id="4" name="Tableau 3">
            <a:extLst>
              <a:ext uri="{FF2B5EF4-FFF2-40B4-BE49-F238E27FC236}">
                <a16:creationId xmlns:a16="http://schemas.microsoft.com/office/drawing/2014/main" id="{B23597F9-BDC5-4674-A55F-0BFE472FB98A}"/>
              </a:ext>
            </a:extLst>
          </p:cNvPr>
          <p:cNvGraphicFramePr>
            <a:graphicFrameLocks noGrp="1"/>
          </p:cNvGraphicFramePr>
          <p:nvPr>
            <p:extLst>
              <p:ext uri="{D42A27DB-BD31-4B8C-83A1-F6EECF244321}">
                <p14:modId xmlns:p14="http://schemas.microsoft.com/office/powerpoint/2010/main" val="3871087863"/>
              </p:ext>
            </p:extLst>
          </p:nvPr>
        </p:nvGraphicFramePr>
        <p:xfrm>
          <a:off x="2528684" y="1618624"/>
          <a:ext cx="8918195" cy="4965225"/>
        </p:xfrm>
        <a:graphic>
          <a:graphicData uri="http://schemas.openxmlformats.org/drawingml/2006/table">
            <a:tbl>
              <a:tblPr firstRow="1" firstCol="1" bandRow="1">
                <a:tableStyleId>{5C22544A-7EE6-4342-B048-85BDC9FD1C3A}</a:tableStyleId>
              </a:tblPr>
              <a:tblGrid>
                <a:gridCol w="8918195">
                  <a:extLst>
                    <a:ext uri="{9D8B030D-6E8A-4147-A177-3AD203B41FA5}">
                      <a16:colId xmlns:a16="http://schemas.microsoft.com/office/drawing/2014/main" val="4240378480"/>
                    </a:ext>
                  </a:extLst>
                </a:gridCol>
              </a:tblGrid>
              <a:tr h="392277">
                <a:tc>
                  <a:txBody>
                    <a:bodyPr/>
                    <a:lstStyle/>
                    <a:p>
                      <a:pPr>
                        <a:lnSpc>
                          <a:spcPct val="150000"/>
                        </a:lnSpc>
                        <a:spcAft>
                          <a:spcPts val="0"/>
                        </a:spcAft>
                      </a:pPr>
                      <a:r>
                        <a:rPr lang="fr-FR" sz="1700" kern="100" dirty="0">
                          <a:solidFill>
                            <a:schemeClr val="tx1"/>
                          </a:solidFill>
                          <a:effectLst/>
                        </a:rPr>
                        <a:t>Manifestations opérationnelles dans les Forces armées nationales (FAN</a:t>
                      </a:r>
                      <a:endParaRPr lang="fr-FR" sz="1700" kern="100" dirty="0">
                        <a:solidFill>
                          <a:schemeClr val="tx1"/>
                        </a:solidFill>
                        <a:effectLst/>
                        <a:latin typeface="Helvetica" panose="020B0604020202020204" pitchFamily="34" charset="0"/>
                        <a:ea typeface="Times New Roman" panose="02020603050405020304" pitchFamily="18" charset="0"/>
                        <a:cs typeface="Times New Roman" panose="02020603050405020304" pitchFamily="18" charset="0"/>
                      </a:endParaRPr>
                    </a:p>
                  </a:txBody>
                  <a:tcPr marL="9525" marR="9525" marT="9525" marB="9525" anchor="ctr">
                    <a:solidFill>
                      <a:schemeClr val="accent2"/>
                    </a:solidFill>
                  </a:tcPr>
                </a:tc>
                <a:extLst>
                  <a:ext uri="{0D108BD9-81ED-4DB2-BD59-A6C34878D82A}">
                    <a16:rowId xmlns:a16="http://schemas.microsoft.com/office/drawing/2014/main" val="955484937"/>
                  </a:ext>
                </a:extLst>
              </a:tr>
              <a:tr h="2485766">
                <a:tc>
                  <a:txBody>
                    <a:bodyPr/>
                    <a:lstStyle/>
                    <a:p>
                      <a:pPr>
                        <a:lnSpc>
                          <a:spcPct val="115000"/>
                        </a:lnSpc>
                        <a:spcAft>
                          <a:spcPts val="0"/>
                        </a:spcAft>
                      </a:pPr>
                      <a:r>
                        <a:rPr lang="fr-FR" sz="1700" kern="100" dirty="0">
                          <a:solidFill>
                            <a:schemeClr val="tx1"/>
                          </a:solidFill>
                          <a:effectLst/>
                          <a:latin typeface="+mn-lt"/>
                          <a:ea typeface="Times New Roman" panose="02020603050405020304" pitchFamily="18" charset="0"/>
                        </a:rPr>
                        <a:t>Népotisme et favoritisme dans le recrutement et les concours, les affectations et nominations, formations spécialisées, marchés de prestations et fournitures, les procédures disciplinaires, etc.</a:t>
                      </a:r>
                    </a:p>
                  </a:txBody>
                  <a:tcPr marL="9525" marR="9525" marT="9525" marB="9525" anchor="ctr">
                    <a:solidFill>
                      <a:schemeClr val="tx2">
                        <a:lumMod val="40000"/>
                        <a:lumOff val="60000"/>
                      </a:schemeClr>
                    </a:solidFill>
                  </a:tcPr>
                </a:tc>
                <a:extLst>
                  <a:ext uri="{0D108BD9-81ED-4DB2-BD59-A6C34878D82A}">
                    <a16:rowId xmlns:a16="http://schemas.microsoft.com/office/drawing/2014/main" val="625103560"/>
                  </a:ext>
                </a:extLst>
              </a:tr>
              <a:tr h="2042990">
                <a:tc>
                  <a:txBody>
                    <a:bodyPr/>
                    <a:lstStyle/>
                    <a:p>
                      <a:pPr>
                        <a:lnSpc>
                          <a:spcPct val="115000"/>
                        </a:lnSpc>
                        <a:spcAft>
                          <a:spcPts val="0"/>
                        </a:spcAft>
                      </a:pPr>
                      <a:r>
                        <a:rPr lang="fr-FR" sz="1700" kern="100" dirty="0">
                          <a:solidFill>
                            <a:schemeClr val="tx1"/>
                          </a:solidFill>
                          <a:effectLst/>
                          <a:latin typeface="+mn-lt"/>
                          <a:ea typeface="Times New Roman" panose="02020603050405020304" pitchFamily="18" charset="0"/>
                        </a:rPr>
                        <a:t>Utilisation d’une </a:t>
                      </a:r>
                      <a:r>
                        <a:rPr lang="fr-FR" sz="1700" b="1" kern="100" dirty="0">
                          <a:solidFill>
                            <a:schemeClr val="tx1"/>
                          </a:solidFill>
                          <a:effectLst/>
                          <a:latin typeface="+mn-lt"/>
                          <a:ea typeface="Times New Roman" panose="02020603050405020304" pitchFamily="18" charset="0"/>
                        </a:rPr>
                        <a:t>information classifiée, sensible ou stratégique</a:t>
                      </a:r>
                      <a:r>
                        <a:rPr lang="fr-FR" sz="1700" kern="100" dirty="0">
                          <a:solidFill>
                            <a:schemeClr val="tx1"/>
                          </a:solidFill>
                          <a:effectLst/>
                          <a:latin typeface="+mn-lt"/>
                          <a:ea typeface="Times New Roman" panose="02020603050405020304" pitchFamily="18" charset="0"/>
                        </a:rPr>
                        <a:t>, obtenue du fait des fonctions </a:t>
                      </a:r>
                      <a:br>
                        <a:rPr lang="fr-FR" sz="1700" kern="100" dirty="0">
                          <a:solidFill>
                            <a:schemeClr val="tx1"/>
                          </a:solidFill>
                          <a:effectLst/>
                          <a:latin typeface="+mn-lt"/>
                          <a:ea typeface="Times New Roman" panose="02020603050405020304" pitchFamily="18" charset="0"/>
                        </a:rPr>
                      </a:br>
                      <a:r>
                        <a:rPr lang="fr-FR" sz="1700" kern="100" dirty="0">
                          <a:solidFill>
                            <a:schemeClr val="tx1"/>
                          </a:solidFill>
                          <a:effectLst/>
                          <a:latin typeface="+mn-lt"/>
                          <a:ea typeface="Times New Roman" panose="02020603050405020304" pitchFamily="18" charset="0"/>
                        </a:rPr>
                        <a:t>Vente de plans, divulgation mouvements troupes</a:t>
                      </a:r>
                      <a:br>
                        <a:rPr lang="fr-FR" sz="1700" kern="100" dirty="0">
                          <a:solidFill>
                            <a:schemeClr val="tx1"/>
                          </a:solidFill>
                          <a:effectLst/>
                          <a:latin typeface="+mn-lt"/>
                          <a:ea typeface="Times New Roman" panose="02020603050405020304" pitchFamily="18" charset="0"/>
                        </a:rPr>
                      </a:br>
                      <a:r>
                        <a:rPr lang="fr-FR" sz="1700" b="1" kern="100" dirty="0">
                          <a:solidFill>
                            <a:schemeClr val="tx1"/>
                          </a:solidFill>
                          <a:effectLst/>
                          <a:latin typeface="+mn-lt"/>
                          <a:ea typeface="Times New Roman" panose="02020603050405020304" pitchFamily="18" charset="0"/>
                        </a:rPr>
                        <a:t>Divulgation = fuite ou transmission non autorisée d’une information sensible.</a:t>
                      </a:r>
                      <a:endParaRPr lang="fr-FR" sz="1700" kern="100" dirty="0">
                        <a:solidFill>
                          <a:schemeClr val="tx1"/>
                        </a:solidFill>
                        <a:effectLst/>
                        <a:latin typeface="+mn-lt"/>
                        <a:ea typeface="Times New Roman" panose="02020603050405020304" pitchFamily="18" charset="0"/>
                      </a:endParaRPr>
                    </a:p>
                    <a:p>
                      <a:pPr>
                        <a:lnSpc>
                          <a:spcPct val="115000"/>
                        </a:lnSpc>
                        <a:spcAft>
                          <a:spcPts val="0"/>
                        </a:spcAft>
                      </a:pPr>
                      <a:r>
                        <a:rPr lang="fr-FR" sz="1700" kern="100" dirty="0">
                          <a:solidFill>
                            <a:schemeClr val="tx1"/>
                          </a:solidFill>
                          <a:effectLst/>
                          <a:latin typeface="+mn-lt"/>
                          <a:ea typeface="Times New Roman" panose="02020603050405020304" pitchFamily="18" charset="0"/>
                        </a:rPr>
                        <a:t>Dans les FDS, elles se manifestent surtout autour des </a:t>
                      </a:r>
                      <a:r>
                        <a:rPr lang="fr-FR" sz="1700" b="1" kern="100" dirty="0">
                          <a:solidFill>
                            <a:schemeClr val="tx1"/>
                          </a:solidFill>
                          <a:effectLst/>
                          <a:latin typeface="+mn-lt"/>
                          <a:ea typeface="Times New Roman" panose="02020603050405020304" pitchFamily="18" charset="0"/>
                        </a:rPr>
                        <a:t>opérations</a:t>
                      </a:r>
                      <a:r>
                        <a:rPr lang="fr-FR" sz="1700" kern="100" dirty="0">
                          <a:solidFill>
                            <a:schemeClr val="tx1"/>
                          </a:solidFill>
                          <a:effectLst/>
                          <a:latin typeface="+mn-lt"/>
                          <a:ea typeface="Times New Roman" panose="02020603050405020304" pitchFamily="18" charset="0"/>
                        </a:rPr>
                        <a:t>, </a:t>
                      </a:r>
                      <a:r>
                        <a:rPr lang="fr-FR" sz="1700" b="1" kern="100" dirty="0">
                          <a:solidFill>
                            <a:schemeClr val="tx1"/>
                          </a:solidFill>
                          <a:effectLst/>
                          <a:latin typeface="+mn-lt"/>
                          <a:ea typeface="Times New Roman" panose="02020603050405020304" pitchFamily="18" charset="0"/>
                        </a:rPr>
                        <a:t>logistique</a:t>
                      </a:r>
                      <a:r>
                        <a:rPr lang="fr-FR" sz="1700" kern="100" dirty="0">
                          <a:solidFill>
                            <a:schemeClr val="tx1"/>
                          </a:solidFill>
                          <a:effectLst/>
                          <a:latin typeface="+mn-lt"/>
                          <a:ea typeface="Times New Roman" panose="02020603050405020304" pitchFamily="18" charset="0"/>
                        </a:rPr>
                        <a:t>, </a:t>
                      </a:r>
                      <a:r>
                        <a:rPr lang="fr-FR" sz="1700" b="1" kern="100" dirty="0">
                          <a:solidFill>
                            <a:schemeClr val="tx1"/>
                          </a:solidFill>
                          <a:effectLst/>
                          <a:latin typeface="+mn-lt"/>
                          <a:ea typeface="Times New Roman" panose="02020603050405020304" pitchFamily="18" charset="0"/>
                        </a:rPr>
                        <a:t>marchés</a:t>
                      </a:r>
                      <a:r>
                        <a:rPr lang="fr-FR" sz="1700" kern="100" dirty="0">
                          <a:solidFill>
                            <a:schemeClr val="tx1"/>
                          </a:solidFill>
                          <a:effectLst/>
                          <a:latin typeface="+mn-lt"/>
                          <a:ea typeface="Times New Roman" panose="02020603050405020304" pitchFamily="18" charset="0"/>
                        </a:rPr>
                        <a:t>, </a:t>
                      </a:r>
                      <a:r>
                        <a:rPr lang="fr-FR" sz="1700" b="1" kern="100" dirty="0">
                          <a:solidFill>
                            <a:schemeClr val="tx1"/>
                          </a:solidFill>
                          <a:effectLst/>
                          <a:latin typeface="+mn-lt"/>
                          <a:ea typeface="Times New Roman" panose="02020603050405020304" pitchFamily="18" charset="0"/>
                        </a:rPr>
                        <a:t>affectations</a:t>
                      </a:r>
                      <a:r>
                        <a:rPr lang="fr-FR" sz="1700" kern="100" dirty="0">
                          <a:solidFill>
                            <a:schemeClr val="tx1"/>
                          </a:solidFill>
                          <a:effectLst/>
                          <a:latin typeface="+mn-lt"/>
                          <a:ea typeface="Times New Roman" panose="02020603050405020304" pitchFamily="18" charset="0"/>
                        </a:rPr>
                        <a:t> et </a:t>
                      </a:r>
                      <a:r>
                        <a:rPr lang="fr-FR" sz="1700" b="1" kern="100" dirty="0">
                          <a:solidFill>
                            <a:schemeClr val="tx1"/>
                          </a:solidFill>
                          <a:effectLst/>
                          <a:latin typeface="+mn-lt"/>
                          <a:ea typeface="Times New Roman" panose="02020603050405020304" pitchFamily="18" charset="0"/>
                        </a:rPr>
                        <a:t>renseignement</a:t>
                      </a:r>
                      <a:r>
                        <a:rPr lang="fr-FR" sz="1700" kern="100" dirty="0">
                          <a:solidFill>
                            <a:schemeClr val="tx1"/>
                          </a:solidFill>
                          <a:effectLst/>
                          <a:latin typeface="+mn-lt"/>
                          <a:ea typeface="Times New Roman" panose="02020603050405020304" pitchFamily="18" charset="0"/>
                        </a:rPr>
                        <a:t>.</a:t>
                      </a:r>
                    </a:p>
                    <a:p>
                      <a:pPr>
                        <a:lnSpc>
                          <a:spcPct val="115000"/>
                        </a:lnSpc>
                        <a:spcAft>
                          <a:spcPts val="0"/>
                        </a:spcAft>
                      </a:pPr>
                      <a:br>
                        <a:rPr lang="fr-FR" sz="1700" kern="100" dirty="0">
                          <a:solidFill>
                            <a:schemeClr val="tx1"/>
                          </a:solidFill>
                          <a:effectLst/>
                          <a:latin typeface="+mn-lt"/>
                          <a:ea typeface="Times New Roman" panose="02020603050405020304" pitchFamily="18" charset="0"/>
                        </a:rPr>
                      </a:br>
                      <a:endParaRPr lang="fr-FR" sz="1700" kern="100" dirty="0">
                        <a:solidFill>
                          <a:schemeClr val="tx1"/>
                        </a:solidFill>
                        <a:effectLst/>
                        <a:latin typeface="+mn-lt"/>
                        <a:ea typeface="Times New Roman" panose="02020603050405020304" pitchFamily="18" charset="0"/>
                      </a:endParaRPr>
                    </a:p>
                  </a:txBody>
                  <a:tcPr marL="9525" marR="9525" marT="9525" marB="9525" anchor="ctr">
                    <a:solidFill>
                      <a:schemeClr val="tx2">
                        <a:lumMod val="40000"/>
                        <a:lumOff val="60000"/>
                      </a:schemeClr>
                    </a:solidFill>
                  </a:tcPr>
                </a:tc>
                <a:extLst>
                  <a:ext uri="{0D108BD9-81ED-4DB2-BD59-A6C34878D82A}">
                    <a16:rowId xmlns:a16="http://schemas.microsoft.com/office/drawing/2014/main" val="483134316"/>
                  </a:ext>
                </a:extLst>
              </a:tr>
            </a:tbl>
          </a:graphicData>
        </a:graphic>
      </p:graphicFrame>
    </p:spTree>
    <p:extLst>
      <p:ext uri="{BB962C8B-B14F-4D97-AF65-F5344CB8AC3E}">
        <p14:creationId xmlns:p14="http://schemas.microsoft.com/office/powerpoint/2010/main" val="4117414462"/>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a:cxnSpLocks/>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22</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1503127" y="431097"/>
            <a:ext cx="9341636"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IV. Typologie</a:t>
            </a:r>
            <a:r>
              <a:rPr lang="fr-FR" sz="3200" b="1" dirty="0">
                <a:solidFill>
                  <a:prstClr val="black"/>
                </a:solidFill>
                <a:latin typeface="Aptos Display" panose="02110004020202020204"/>
                <a:ea typeface="+mj-ea"/>
                <a:cs typeface="+mj-cs"/>
              </a:rPr>
              <a:t> d’infractions et manifestation de la corruption dans les Forces armées nationales </a:t>
            </a: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(1/4)</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aphicFrame>
        <p:nvGraphicFramePr>
          <p:cNvPr id="10" name="Tableau 9">
            <a:extLst>
              <a:ext uri="{FF2B5EF4-FFF2-40B4-BE49-F238E27FC236}">
                <a16:creationId xmlns:a16="http://schemas.microsoft.com/office/drawing/2014/main" id="{4B437500-8E05-4CF2-8054-C1D2D5353825}"/>
              </a:ext>
            </a:extLst>
          </p:cNvPr>
          <p:cNvGraphicFramePr>
            <a:graphicFrameLocks noGrp="1"/>
          </p:cNvGraphicFramePr>
          <p:nvPr>
            <p:extLst>
              <p:ext uri="{D42A27DB-BD31-4B8C-83A1-F6EECF244321}">
                <p14:modId xmlns:p14="http://schemas.microsoft.com/office/powerpoint/2010/main" val="4232622358"/>
              </p:ext>
            </p:extLst>
          </p:nvPr>
        </p:nvGraphicFramePr>
        <p:xfrm>
          <a:off x="461554" y="2068046"/>
          <a:ext cx="1987836" cy="2940298"/>
        </p:xfrm>
        <a:graphic>
          <a:graphicData uri="http://schemas.openxmlformats.org/drawingml/2006/table">
            <a:tbl>
              <a:tblPr firstRow="1" firstCol="1" bandRow="1">
                <a:tableStyleId>{5C22544A-7EE6-4342-B048-85BDC9FD1C3A}</a:tableStyleId>
              </a:tblPr>
              <a:tblGrid>
                <a:gridCol w="1987836">
                  <a:extLst>
                    <a:ext uri="{9D8B030D-6E8A-4147-A177-3AD203B41FA5}">
                      <a16:colId xmlns:a16="http://schemas.microsoft.com/office/drawing/2014/main" val="691620424"/>
                    </a:ext>
                  </a:extLst>
                </a:gridCol>
              </a:tblGrid>
              <a:tr h="400762">
                <a:tc>
                  <a:txBody>
                    <a:bodyPr/>
                    <a:lstStyle/>
                    <a:p>
                      <a:pPr algn="ctr">
                        <a:lnSpc>
                          <a:spcPct val="115000"/>
                        </a:lnSpc>
                        <a:spcAft>
                          <a:spcPts val="0"/>
                        </a:spcAft>
                      </a:pPr>
                      <a:r>
                        <a:rPr lang="fr-FR" sz="1700" kern="100" dirty="0">
                          <a:solidFill>
                            <a:schemeClr val="tx1"/>
                          </a:solidFill>
                          <a:effectLst/>
                          <a:latin typeface="+mn-lt"/>
                        </a:rPr>
                        <a:t>Typologie </a:t>
                      </a:r>
                      <a:endParaRPr lang="fr-FR" sz="1700" kern="100" dirty="0">
                        <a:solidFill>
                          <a:schemeClr val="tx1"/>
                        </a:solidFill>
                        <a:effectLst/>
                        <a:latin typeface="+mn-lt"/>
                        <a:ea typeface="Times New Roman" panose="02020603050405020304" pitchFamily="18" charset="0"/>
                      </a:endParaRPr>
                    </a:p>
                  </a:txBody>
                  <a:tcPr marL="9525" marR="9525" marT="9525" marB="9525" anchor="ctr">
                    <a:solidFill>
                      <a:schemeClr val="accent2"/>
                    </a:solidFill>
                  </a:tcPr>
                </a:tc>
                <a:extLst>
                  <a:ext uri="{0D108BD9-81ED-4DB2-BD59-A6C34878D82A}">
                    <a16:rowId xmlns:a16="http://schemas.microsoft.com/office/drawing/2014/main" val="3830030949"/>
                  </a:ext>
                </a:extLst>
              </a:tr>
              <a:tr h="2539536">
                <a:tc>
                  <a:txBody>
                    <a:bodyPr/>
                    <a:lstStyle/>
                    <a:p>
                      <a:pPr>
                        <a:lnSpc>
                          <a:spcPct val="115000"/>
                        </a:lnSpc>
                        <a:spcAft>
                          <a:spcPts val="0"/>
                        </a:spcAft>
                      </a:pPr>
                      <a:r>
                        <a:rPr lang="fr-FR" sz="1700" kern="100" dirty="0">
                          <a:effectLst/>
                          <a:latin typeface="+mn-lt"/>
                          <a:ea typeface="Times New Roman" panose="02020603050405020304" pitchFamily="18" charset="0"/>
                        </a:rPr>
                        <a:t>Abus de fonction </a:t>
                      </a:r>
                    </a:p>
                  </a:txBody>
                  <a:tcPr marL="9525" marR="9525" marT="9525" marB="9525" anchor="ctr"/>
                </a:tc>
                <a:extLst>
                  <a:ext uri="{0D108BD9-81ED-4DB2-BD59-A6C34878D82A}">
                    <a16:rowId xmlns:a16="http://schemas.microsoft.com/office/drawing/2014/main" val="2824940398"/>
                  </a:ext>
                </a:extLst>
              </a:tr>
            </a:tbl>
          </a:graphicData>
        </a:graphic>
      </p:graphicFrame>
      <p:graphicFrame>
        <p:nvGraphicFramePr>
          <p:cNvPr id="4" name="Tableau 3">
            <a:extLst>
              <a:ext uri="{FF2B5EF4-FFF2-40B4-BE49-F238E27FC236}">
                <a16:creationId xmlns:a16="http://schemas.microsoft.com/office/drawing/2014/main" id="{CB33CB07-17CB-42D4-80A6-8FACE76E1B36}"/>
              </a:ext>
            </a:extLst>
          </p:cNvPr>
          <p:cNvGraphicFramePr>
            <a:graphicFrameLocks noGrp="1"/>
          </p:cNvGraphicFramePr>
          <p:nvPr>
            <p:extLst>
              <p:ext uri="{D42A27DB-BD31-4B8C-83A1-F6EECF244321}">
                <p14:modId xmlns:p14="http://schemas.microsoft.com/office/powerpoint/2010/main" val="472114150"/>
              </p:ext>
            </p:extLst>
          </p:nvPr>
        </p:nvGraphicFramePr>
        <p:xfrm>
          <a:off x="2455167" y="2068046"/>
          <a:ext cx="8918195" cy="2940298"/>
        </p:xfrm>
        <a:graphic>
          <a:graphicData uri="http://schemas.openxmlformats.org/drawingml/2006/table">
            <a:tbl>
              <a:tblPr firstRow="1" firstCol="1" bandRow="1">
                <a:tableStyleId>{5C22544A-7EE6-4342-B048-85BDC9FD1C3A}</a:tableStyleId>
              </a:tblPr>
              <a:tblGrid>
                <a:gridCol w="8918195">
                  <a:extLst>
                    <a:ext uri="{9D8B030D-6E8A-4147-A177-3AD203B41FA5}">
                      <a16:colId xmlns:a16="http://schemas.microsoft.com/office/drawing/2014/main" val="2997125951"/>
                    </a:ext>
                  </a:extLst>
                </a:gridCol>
              </a:tblGrid>
              <a:tr h="400762">
                <a:tc>
                  <a:txBody>
                    <a:bodyPr/>
                    <a:lstStyle/>
                    <a:p>
                      <a:pPr>
                        <a:lnSpc>
                          <a:spcPct val="150000"/>
                        </a:lnSpc>
                        <a:spcAft>
                          <a:spcPts val="0"/>
                        </a:spcAft>
                      </a:pPr>
                      <a:r>
                        <a:rPr lang="fr-FR" sz="1700" kern="100" dirty="0">
                          <a:solidFill>
                            <a:schemeClr val="tx1"/>
                          </a:solidFill>
                          <a:effectLst/>
                          <a:latin typeface="+mn-lt"/>
                        </a:rPr>
                        <a:t>Manifestations opérationnelles dans les Forces armées nationales (FAN</a:t>
                      </a:r>
                      <a:endParaRPr lang="fr-FR" sz="1700" kern="100" dirty="0">
                        <a:solidFill>
                          <a:schemeClr val="tx1"/>
                        </a:solidFill>
                        <a:effectLst/>
                        <a:latin typeface="+mn-lt"/>
                        <a:ea typeface="Times New Roman" panose="02020603050405020304" pitchFamily="18" charset="0"/>
                        <a:cs typeface="Times New Roman" panose="02020603050405020304" pitchFamily="18" charset="0"/>
                      </a:endParaRPr>
                    </a:p>
                  </a:txBody>
                  <a:tcPr marL="9525" marR="9525" marT="9525" marB="9525" anchor="ctr">
                    <a:solidFill>
                      <a:schemeClr val="accent2"/>
                    </a:solidFill>
                  </a:tcPr>
                </a:tc>
                <a:extLst>
                  <a:ext uri="{0D108BD9-81ED-4DB2-BD59-A6C34878D82A}">
                    <a16:rowId xmlns:a16="http://schemas.microsoft.com/office/drawing/2014/main" val="1410633826"/>
                  </a:ext>
                </a:extLst>
              </a:tr>
              <a:tr h="2539536">
                <a:tc>
                  <a:txBody>
                    <a:bodyPr/>
                    <a:lstStyle/>
                    <a:p>
                      <a:pPr>
                        <a:lnSpc>
                          <a:spcPct val="115000"/>
                        </a:lnSpc>
                      </a:pPr>
                      <a:r>
                        <a:rPr lang="fr-FR" sz="1700" kern="100" dirty="0">
                          <a:solidFill>
                            <a:schemeClr val="tx1"/>
                          </a:solidFill>
                          <a:effectLst/>
                          <a:latin typeface="+mn-lt"/>
                          <a:ea typeface="Times New Roman" panose="02020603050405020304" pitchFamily="18" charset="0"/>
                        </a:rPr>
                        <a:t>Affecter un agent à un poste stratégique (logistique, finances, frontières, renseignements) pour servir des intérêts privés ou claniques. </a:t>
                      </a:r>
                      <a:br>
                        <a:rPr lang="fr-FR" sz="1700" kern="100" dirty="0">
                          <a:solidFill>
                            <a:schemeClr val="tx1"/>
                          </a:solidFill>
                          <a:effectLst/>
                          <a:latin typeface="+mn-lt"/>
                          <a:ea typeface="Times New Roman" panose="02020603050405020304" pitchFamily="18" charset="0"/>
                        </a:rPr>
                      </a:br>
                      <a:r>
                        <a:rPr lang="fr-FR" sz="1700" kern="100" dirty="0">
                          <a:solidFill>
                            <a:schemeClr val="tx1"/>
                          </a:solidFill>
                          <a:effectLst/>
                          <a:latin typeface="+mn-lt"/>
                          <a:ea typeface="Times New Roman" panose="02020603050405020304" pitchFamily="18" charset="0"/>
                        </a:rPr>
                        <a:t>Usage de moyens militaires pour activité privée (escorte, transport)</a:t>
                      </a:r>
                      <a:br>
                        <a:rPr lang="fr-FR" sz="1700" kern="100" dirty="0">
                          <a:solidFill>
                            <a:schemeClr val="tx1"/>
                          </a:solidFill>
                          <a:effectLst/>
                          <a:latin typeface="+mn-lt"/>
                          <a:ea typeface="Times New Roman" panose="02020603050405020304" pitchFamily="18" charset="0"/>
                        </a:rPr>
                      </a:br>
                      <a:r>
                        <a:rPr lang="fr-FR" sz="1700" kern="100" dirty="0">
                          <a:solidFill>
                            <a:schemeClr val="tx1"/>
                          </a:solidFill>
                          <a:effectLst/>
                          <a:latin typeface="+mn-lt"/>
                          <a:ea typeface="Times New Roman" panose="02020603050405020304" pitchFamily="18" charset="0"/>
                        </a:rPr>
                        <a:t>Établir des ordres de mission fictifs ou redondants pour gonfler les </a:t>
                      </a:r>
                      <a:r>
                        <a:rPr lang="fr-FR" sz="1700" kern="100" dirty="0" err="1">
                          <a:solidFill>
                            <a:schemeClr val="tx1"/>
                          </a:solidFill>
                          <a:effectLst/>
                          <a:latin typeface="+mn-lt"/>
                          <a:ea typeface="Times New Roman" panose="02020603050405020304" pitchFamily="18" charset="0"/>
                        </a:rPr>
                        <a:t>indemnités.Inscrire</a:t>
                      </a:r>
                      <a:r>
                        <a:rPr lang="fr-FR" sz="1700" kern="100" dirty="0">
                          <a:solidFill>
                            <a:schemeClr val="tx1"/>
                          </a:solidFill>
                          <a:effectLst/>
                          <a:latin typeface="+mn-lt"/>
                          <a:ea typeface="Times New Roman" panose="02020603050405020304" pitchFamily="18" charset="0"/>
                        </a:rPr>
                        <a:t> des agents non participants sur les listes de paiement.</a:t>
                      </a:r>
                      <a:br>
                        <a:rPr lang="fr-FR" sz="1700" kern="100" dirty="0">
                          <a:solidFill>
                            <a:schemeClr val="tx1"/>
                          </a:solidFill>
                          <a:effectLst/>
                          <a:latin typeface="+mn-lt"/>
                          <a:ea typeface="Times New Roman" panose="02020603050405020304" pitchFamily="18" charset="0"/>
                        </a:rPr>
                      </a:br>
                      <a:r>
                        <a:rPr lang="fr-FR" sz="1700" kern="100" dirty="0">
                          <a:solidFill>
                            <a:schemeClr val="tx1"/>
                          </a:solidFill>
                          <a:effectLst/>
                          <a:latin typeface="+mn-lt"/>
                          <a:ea typeface="Times New Roman" panose="02020603050405020304" pitchFamily="18" charset="0"/>
                        </a:rPr>
                        <a:t>Soustraire du matériel opérationnel pour l’utiliser dans un business privé (sites miniers, gardiennage, convoyage privé).</a:t>
                      </a:r>
                      <a:br>
                        <a:rPr lang="fr-FR" sz="1700" kern="100" dirty="0">
                          <a:solidFill>
                            <a:schemeClr val="tx1"/>
                          </a:solidFill>
                          <a:effectLst/>
                          <a:latin typeface="+mn-lt"/>
                          <a:ea typeface="Times New Roman" panose="02020603050405020304" pitchFamily="18" charset="0"/>
                        </a:rPr>
                      </a:br>
                      <a:r>
                        <a:rPr lang="fr-FR" sz="1700" kern="100" dirty="0">
                          <a:solidFill>
                            <a:schemeClr val="tx1"/>
                          </a:solidFill>
                          <a:effectLst/>
                          <a:latin typeface="+mn-lt"/>
                          <a:ea typeface="Times New Roman" panose="02020603050405020304" pitchFamily="18" charset="0"/>
                        </a:rPr>
                        <a:t>Validation de marchés fictifs pour extraction de fonds.</a:t>
                      </a:r>
                    </a:p>
                  </a:txBody>
                  <a:tcPr marL="9525" marR="9525" marT="9525" marB="9525" anchor="ctr">
                    <a:solidFill>
                      <a:schemeClr val="tx2">
                        <a:lumMod val="40000"/>
                        <a:lumOff val="60000"/>
                      </a:schemeClr>
                    </a:solidFill>
                  </a:tcPr>
                </a:tc>
                <a:extLst>
                  <a:ext uri="{0D108BD9-81ED-4DB2-BD59-A6C34878D82A}">
                    <a16:rowId xmlns:a16="http://schemas.microsoft.com/office/drawing/2014/main" val="3295534661"/>
                  </a:ext>
                </a:extLst>
              </a:tr>
            </a:tbl>
          </a:graphicData>
        </a:graphic>
      </p:graphicFrame>
    </p:spTree>
    <p:extLst>
      <p:ext uri="{BB962C8B-B14F-4D97-AF65-F5344CB8AC3E}">
        <p14:creationId xmlns:p14="http://schemas.microsoft.com/office/powerpoint/2010/main" val="1508952963"/>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a:cxnSpLocks/>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23</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653143" y="330331"/>
            <a:ext cx="11154227"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V. Typologie d’infractions et manifestation de la corruption dans les services de Police et de Gendarmerie(1/1)</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aphicFrame>
        <p:nvGraphicFramePr>
          <p:cNvPr id="10" name="Tableau 9">
            <a:extLst>
              <a:ext uri="{FF2B5EF4-FFF2-40B4-BE49-F238E27FC236}">
                <a16:creationId xmlns:a16="http://schemas.microsoft.com/office/drawing/2014/main" id="{4B437500-8E05-4CF2-8054-C1D2D5353825}"/>
              </a:ext>
            </a:extLst>
          </p:cNvPr>
          <p:cNvGraphicFramePr>
            <a:graphicFrameLocks noGrp="1"/>
          </p:cNvGraphicFramePr>
          <p:nvPr>
            <p:extLst>
              <p:ext uri="{D42A27DB-BD31-4B8C-83A1-F6EECF244321}">
                <p14:modId xmlns:p14="http://schemas.microsoft.com/office/powerpoint/2010/main" val="184711936"/>
              </p:ext>
            </p:extLst>
          </p:nvPr>
        </p:nvGraphicFramePr>
        <p:xfrm>
          <a:off x="777240" y="1400241"/>
          <a:ext cx="1987836" cy="4921033"/>
        </p:xfrm>
        <a:graphic>
          <a:graphicData uri="http://schemas.openxmlformats.org/drawingml/2006/table">
            <a:tbl>
              <a:tblPr firstRow="1" firstCol="1" bandRow="1">
                <a:tableStyleId>{5C22544A-7EE6-4342-B048-85BDC9FD1C3A}</a:tableStyleId>
              </a:tblPr>
              <a:tblGrid>
                <a:gridCol w="1987836">
                  <a:extLst>
                    <a:ext uri="{9D8B030D-6E8A-4147-A177-3AD203B41FA5}">
                      <a16:colId xmlns:a16="http://schemas.microsoft.com/office/drawing/2014/main" val="691620424"/>
                    </a:ext>
                  </a:extLst>
                </a:gridCol>
              </a:tblGrid>
              <a:tr h="392277">
                <a:tc>
                  <a:txBody>
                    <a:bodyPr/>
                    <a:lstStyle/>
                    <a:p>
                      <a:pPr algn="ctr">
                        <a:lnSpc>
                          <a:spcPct val="115000"/>
                        </a:lnSpc>
                        <a:spcAft>
                          <a:spcPts val="0"/>
                        </a:spcAft>
                      </a:pPr>
                      <a:r>
                        <a:rPr lang="fr-FR" sz="1700" kern="100" dirty="0">
                          <a:solidFill>
                            <a:schemeClr val="tx1"/>
                          </a:solidFill>
                          <a:effectLst/>
                        </a:rPr>
                        <a:t>Typologie</a:t>
                      </a:r>
                      <a:r>
                        <a:rPr lang="fr-FR" sz="1700" kern="100" dirty="0">
                          <a:effectLst/>
                        </a:rPr>
                        <a:t> </a:t>
                      </a:r>
                      <a:endParaRPr lang="fr-FR" sz="1700" kern="100" dirty="0">
                        <a:effectLst/>
                        <a:latin typeface="Times New Roman" panose="02020603050405020304" pitchFamily="18" charset="0"/>
                        <a:ea typeface="Times New Roman" panose="02020603050405020304" pitchFamily="18" charset="0"/>
                      </a:endParaRPr>
                    </a:p>
                  </a:txBody>
                  <a:tcPr marL="9525" marR="9525" marT="9525" marB="9525" anchor="ctr">
                    <a:solidFill>
                      <a:schemeClr val="accent2"/>
                    </a:solidFill>
                  </a:tcPr>
                </a:tc>
                <a:extLst>
                  <a:ext uri="{0D108BD9-81ED-4DB2-BD59-A6C34878D82A}">
                    <a16:rowId xmlns:a16="http://schemas.microsoft.com/office/drawing/2014/main" val="3830030949"/>
                  </a:ext>
                </a:extLst>
              </a:tr>
              <a:tr h="2485766">
                <a:tc>
                  <a:txBody>
                    <a:bodyPr/>
                    <a:lstStyle/>
                    <a:p>
                      <a:pPr>
                        <a:lnSpc>
                          <a:spcPct val="115000"/>
                        </a:lnSpc>
                        <a:spcAft>
                          <a:spcPts val="0"/>
                        </a:spcAft>
                      </a:pPr>
                      <a:r>
                        <a:rPr lang="fr-FR" sz="1700" kern="100" dirty="0">
                          <a:effectLst/>
                          <a:latin typeface="+mn-lt"/>
                          <a:ea typeface="Times New Roman" panose="02020603050405020304" pitchFamily="18" charset="0"/>
                        </a:rPr>
                        <a:t>Corruption(Art. 331-1 / 331-2 CP)</a:t>
                      </a:r>
                    </a:p>
                  </a:txBody>
                  <a:tcPr marL="9525" marR="9525" marT="9525" marB="9525" anchor="ctr"/>
                </a:tc>
                <a:extLst>
                  <a:ext uri="{0D108BD9-81ED-4DB2-BD59-A6C34878D82A}">
                    <a16:rowId xmlns:a16="http://schemas.microsoft.com/office/drawing/2014/main" val="2824940398"/>
                  </a:ext>
                </a:extLst>
              </a:tr>
              <a:tr h="2042990">
                <a:tc>
                  <a:txBody>
                    <a:bodyPr/>
                    <a:lstStyle/>
                    <a:p>
                      <a:pPr>
                        <a:lnSpc>
                          <a:spcPct val="115000"/>
                        </a:lnSpc>
                        <a:spcAft>
                          <a:spcPts val="0"/>
                        </a:spcAft>
                      </a:pPr>
                      <a:r>
                        <a:rPr lang="fr-FR" sz="1700" kern="100" dirty="0">
                          <a:effectLst/>
                          <a:latin typeface="+mn-lt"/>
                          <a:ea typeface="Times New Roman" panose="02020603050405020304" pitchFamily="18" charset="0"/>
                        </a:rPr>
                        <a:t>Abus de fonction (Art. 332-11 CP)</a:t>
                      </a:r>
                    </a:p>
                  </a:txBody>
                  <a:tcPr marL="9525" marR="9525" marT="9525" marB="9525" anchor="ctr"/>
                </a:tc>
                <a:extLst>
                  <a:ext uri="{0D108BD9-81ED-4DB2-BD59-A6C34878D82A}">
                    <a16:rowId xmlns:a16="http://schemas.microsoft.com/office/drawing/2014/main" val="809749683"/>
                  </a:ext>
                </a:extLst>
              </a:tr>
            </a:tbl>
          </a:graphicData>
        </a:graphic>
      </p:graphicFrame>
      <p:graphicFrame>
        <p:nvGraphicFramePr>
          <p:cNvPr id="6" name="Tableau 5">
            <a:extLst>
              <a:ext uri="{FF2B5EF4-FFF2-40B4-BE49-F238E27FC236}">
                <a16:creationId xmlns:a16="http://schemas.microsoft.com/office/drawing/2014/main" id="{34313563-4AB0-4CA3-B187-69DFBA048412}"/>
              </a:ext>
            </a:extLst>
          </p:cNvPr>
          <p:cNvGraphicFramePr>
            <a:graphicFrameLocks noGrp="1"/>
          </p:cNvGraphicFramePr>
          <p:nvPr>
            <p:extLst>
              <p:ext uri="{D42A27DB-BD31-4B8C-83A1-F6EECF244321}">
                <p14:modId xmlns:p14="http://schemas.microsoft.com/office/powerpoint/2010/main" val="933185798"/>
              </p:ext>
            </p:extLst>
          </p:nvPr>
        </p:nvGraphicFramePr>
        <p:xfrm>
          <a:off x="2765076" y="1392515"/>
          <a:ext cx="8918195" cy="5263167"/>
        </p:xfrm>
        <a:graphic>
          <a:graphicData uri="http://schemas.openxmlformats.org/drawingml/2006/table">
            <a:tbl>
              <a:tblPr firstRow="1" firstCol="1" bandRow="1">
                <a:tableStyleId>{5C22544A-7EE6-4342-B048-85BDC9FD1C3A}</a:tableStyleId>
              </a:tblPr>
              <a:tblGrid>
                <a:gridCol w="8918195">
                  <a:extLst>
                    <a:ext uri="{9D8B030D-6E8A-4147-A177-3AD203B41FA5}">
                      <a16:colId xmlns:a16="http://schemas.microsoft.com/office/drawing/2014/main" val="1998733193"/>
                    </a:ext>
                  </a:extLst>
                </a:gridCol>
              </a:tblGrid>
              <a:tr h="392277">
                <a:tc>
                  <a:txBody>
                    <a:bodyPr/>
                    <a:lstStyle/>
                    <a:p>
                      <a:pPr>
                        <a:lnSpc>
                          <a:spcPct val="150000"/>
                        </a:lnSpc>
                        <a:spcAft>
                          <a:spcPts val="0"/>
                        </a:spcAft>
                      </a:pPr>
                      <a:r>
                        <a:rPr lang="fr-FR" sz="1700" kern="100" dirty="0">
                          <a:solidFill>
                            <a:schemeClr val="tx1"/>
                          </a:solidFill>
                          <a:effectLst/>
                        </a:rPr>
                        <a:t>Manifestations opérationnelles dans la Police &amp; la Gendarmerie</a:t>
                      </a:r>
                      <a:endParaRPr lang="fr-FR" sz="1700" kern="100" dirty="0">
                        <a:solidFill>
                          <a:schemeClr val="tx1"/>
                        </a:solidFill>
                        <a:effectLst/>
                        <a:latin typeface="Helvetica" panose="020B0604020202020204" pitchFamily="34" charset="0"/>
                        <a:ea typeface="Times New Roman" panose="02020603050405020304" pitchFamily="18" charset="0"/>
                        <a:cs typeface="Times New Roman" panose="02020603050405020304" pitchFamily="18" charset="0"/>
                      </a:endParaRPr>
                    </a:p>
                  </a:txBody>
                  <a:tcPr marL="9525" marR="9525" marT="9525" marB="9525" anchor="ctr">
                    <a:solidFill>
                      <a:schemeClr val="accent2"/>
                    </a:solidFill>
                  </a:tcPr>
                </a:tc>
                <a:extLst>
                  <a:ext uri="{0D108BD9-81ED-4DB2-BD59-A6C34878D82A}">
                    <a16:rowId xmlns:a16="http://schemas.microsoft.com/office/drawing/2014/main" val="3178201344"/>
                  </a:ext>
                </a:extLst>
              </a:tr>
              <a:tr h="2485766">
                <a:tc>
                  <a:txBody>
                    <a:bodyPr/>
                    <a:lstStyle/>
                    <a:p>
                      <a:pPr>
                        <a:lnSpc>
                          <a:spcPct val="115000"/>
                        </a:lnSpc>
                        <a:spcAft>
                          <a:spcPts val="0"/>
                        </a:spcAft>
                      </a:pPr>
                      <a:r>
                        <a:rPr lang="fr-FR" sz="1700" kern="100" dirty="0">
                          <a:solidFill>
                            <a:schemeClr val="tx1"/>
                          </a:solidFill>
                          <a:effectLst/>
                          <a:latin typeface="+mn-lt"/>
                          <a:ea typeface="Times New Roman" panose="02020603050405020304" pitchFamily="18" charset="0"/>
                        </a:rPr>
                        <a:t>- </a:t>
                      </a:r>
                      <a:r>
                        <a:rPr lang="fr-FR" sz="1700" b="1" kern="100" dirty="0">
                          <a:solidFill>
                            <a:schemeClr val="tx1"/>
                          </a:solidFill>
                          <a:effectLst/>
                          <a:latin typeface="+mn-lt"/>
                          <a:ea typeface="Times New Roman" panose="02020603050405020304" pitchFamily="18" charset="0"/>
                        </a:rPr>
                        <a:t>Percevoir des sommes pour</a:t>
                      </a:r>
                      <a:r>
                        <a:rPr lang="fr-FR" sz="1700" kern="100" dirty="0">
                          <a:solidFill>
                            <a:schemeClr val="tx1"/>
                          </a:solidFill>
                          <a:effectLst/>
                          <a:latin typeface="+mn-lt"/>
                          <a:ea typeface="Times New Roman" panose="02020603050405020304" pitchFamily="18" charset="0"/>
                        </a:rPr>
                        <a:t> :• ne pas verbaliser un conducteur ;• libérer un mis en cause ;• orienter une procédure ;• “faciliter” un passage à un poste de contrôle.- </a:t>
                      </a:r>
                      <a:r>
                        <a:rPr lang="fr-FR" sz="1700" b="1" kern="100" dirty="0">
                          <a:solidFill>
                            <a:schemeClr val="tx1"/>
                          </a:solidFill>
                          <a:effectLst/>
                          <a:latin typeface="+mn-lt"/>
                          <a:ea typeface="Times New Roman" panose="02020603050405020304" pitchFamily="18" charset="0"/>
                        </a:rPr>
                        <a:t>Retenir </a:t>
                      </a:r>
                      <a:r>
                        <a:rPr lang="fr-FR" sz="1700" kern="100" dirty="0">
                          <a:solidFill>
                            <a:schemeClr val="tx1"/>
                          </a:solidFill>
                          <a:effectLst/>
                          <a:latin typeface="+mn-lt"/>
                          <a:ea typeface="Times New Roman" panose="02020603050405020304" pitchFamily="18" charset="0"/>
                        </a:rPr>
                        <a:t>un permis, une pièce ou des documents en attendant un paiement.- </a:t>
                      </a:r>
                      <a:r>
                        <a:rPr lang="fr-FR" sz="1700" b="1" kern="100" dirty="0">
                          <a:solidFill>
                            <a:schemeClr val="tx1"/>
                          </a:solidFill>
                          <a:effectLst/>
                          <a:latin typeface="+mn-lt"/>
                          <a:ea typeface="Times New Roman" panose="02020603050405020304" pitchFamily="18" charset="0"/>
                        </a:rPr>
                        <a:t>Faire payer</a:t>
                      </a:r>
                      <a:r>
                        <a:rPr lang="fr-FR" sz="1700" kern="100" dirty="0">
                          <a:solidFill>
                            <a:schemeClr val="tx1"/>
                          </a:solidFill>
                          <a:effectLst/>
                          <a:latin typeface="+mn-lt"/>
                          <a:ea typeface="Times New Roman" panose="02020603050405020304" pitchFamily="18" charset="0"/>
                        </a:rPr>
                        <a:t> des “frais informels” pour délivrer une mainlevée, un certificat de perte, une procuration, etc.- </a:t>
                      </a:r>
                      <a:r>
                        <a:rPr lang="fr-FR" sz="1700" b="1" kern="100" dirty="0">
                          <a:solidFill>
                            <a:schemeClr val="tx1"/>
                          </a:solidFill>
                          <a:effectLst/>
                          <a:latin typeface="+mn-lt"/>
                          <a:ea typeface="Times New Roman" panose="02020603050405020304" pitchFamily="18" charset="0"/>
                        </a:rPr>
                        <a:t>Exiger une contribution financière</a:t>
                      </a:r>
                      <a:r>
                        <a:rPr lang="fr-FR" sz="1700" kern="100" dirty="0">
                          <a:solidFill>
                            <a:schemeClr val="tx1"/>
                          </a:solidFill>
                          <a:effectLst/>
                          <a:latin typeface="+mn-lt"/>
                          <a:ea typeface="Times New Roman" panose="02020603050405020304" pitchFamily="18" charset="0"/>
                        </a:rPr>
                        <a:t> des usagers pour les escortes, gardes statiques, interventions nocturnes.- </a:t>
                      </a:r>
                      <a:r>
                        <a:rPr lang="fr-FR" sz="1700" b="1" kern="100" dirty="0">
                          <a:solidFill>
                            <a:schemeClr val="tx1"/>
                          </a:solidFill>
                          <a:effectLst/>
                          <a:latin typeface="+mn-lt"/>
                          <a:ea typeface="Times New Roman" panose="02020603050405020304" pitchFamily="18" charset="0"/>
                        </a:rPr>
                        <a:t>Paiements pour </a:t>
                      </a:r>
                      <a:r>
                        <a:rPr lang="fr-FR" sz="1700" kern="100" dirty="0">
                          <a:solidFill>
                            <a:schemeClr val="tx1"/>
                          </a:solidFill>
                          <a:effectLst/>
                          <a:latin typeface="+mn-lt"/>
                          <a:ea typeface="Times New Roman" panose="02020603050405020304" pitchFamily="18" charset="0"/>
                        </a:rPr>
                        <a:t>la protection d’activités illégales (bars clandestins, jeux, prostitution, trafic).</a:t>
                      </a:r>
                    </a:p>
                  </a:txBody>
                  <a:tcPr marL="9525" marR="9525" marT="9525" marB="9525" anchor="ctr">
                    <a:solidFill>
                      <a:schemeClr val="tx2">
                        <a:lumMod val="40000"/>
                        <a:lumOff val="60000"/>
                      </a:schemeClr>
                    </a:solidFill>
                  </a:tcPr>
                </a:tc>
                <a:extLst>
                  <a:ext uri="{0D108BD9-81ED-4DB2-BD59-A6C34878D82A}">
                    <a16:rowId xmlns:a16="http://schemas.microsoft.com/office/drawing/2014/main" val="3764257331"/>
                  </a:ext>
                </a:extLst>
              </a:tr>
              <a:tr h="2042990">
                <a:tc>
                  <a:txBody>
                    <a:bodyPr/>
                    <a:lstStyle/>
                    <a:p>
                      <a:pPr>
                        <a:lnSpc>
                          <a:spcPct val="115000"/>
                        </a:lnSpc>
                        <a:spcAft>
                          <a:spcPts val="0"/>
                        </a:spcAft>
                      </a:pPr>
                      <a:r>
                        <a:rPr lang="fr-FR" sz="1700" kern="100" dirty="0">
                          <a:solidFill>
                            <a:schemeClr val="tx1"/>
                          </a:solidFill>
                          <a:effectLst/>
                          <a:latin typeface="+mn-lt"/>
                          <a:ea typeface="Times New Roman" panose="02020603050405020304" pitchFamily="18" charset="0"/>
                        </a:rPr>
                        <a:t>- </a:t>
                      </a:r>
                      <a:r>
                        <a:rPr lang="fr-FR" sz="1700" b="1" kern="100" dirty="0">
                          <a:solidFill>
                            <a:schemeClr val="tx1"/>
                          </a:solidFill>
                          <a:effectLst/>
                          <a:latin typeface="+mn-lt"/>
                          <a:ea typeface="Times New Roman" panose="02020603050405020304" pitchFamily="18" charset="0"/>
                        </a:rPr>
                        <a:t>Interpellations</a:t>
                      </a:r>
                      <a:r>
                        <a:rPr lang="fr-FR" sz="1700" kern="100" dirty="0">
                          <a:solidFill>
                            <a:schemeClr val="tx1"/>
                          </a:solidFill>
                          <a:effectLst/>
                          <a:latin typeface="+mn-lt"/>
                          <a:ea typeface="Times New Roman" panose="02020603050405020304" pitchFamily="18" charset="0"/>
                        </a:rPr>
                        <a:t> arbitraires pour extorquer ou régler un conflit personnel.- </a:t>
                      </a:r>
                      <a:r>
                        <a:rPr lang="fr-FR" sz="1700" b="1" kern="100" dirty="0">
                          <a:solidFill>
                            <a:schemeClr val="tx1"/>
                          </a:solidFill>
                          <a:effectLst/>
                          <a:latin typeface="+mn-lt"/>
                          <a:ea typeface="Times New Roman" panose="02020603050405020304" pitchFamily="18" charset="0"/>
                        </a:rPr>
                        <a:t>Pressions </a:t>
                      </a:r>
                      <a:r>
                        <a:rPr lang="fr-FR" sz="1700" kern="100" dirty="0">
                          <a:solidFill>
                            <a:schemeClr val="tx1"/>
                          </a:solidFill>
                          <a:effectLst/>
                          <a:latin typeface="+mn-lt"/>
                          <a:ea typeface="Times New Roman" panose="02020603050405020304" pitchFamily="18" charset="0"/>
                        </a:rPr>
                        <a:t>sur un subalterne pour obtenir un avantage (argent, services, prestations).- </a:t>
                      </a:r>
                      <a:r>
                        <a:rPr lang="fr-FR" sz="1700" b="1" kern="100" dirty="0">
                          <a:solidFill>
                            <a:schemeClr val="tx1"/>
                          </a:solidFill>
                          <a:effectLst/>
                          <a:latin typeface="+mn-lt"/>
                          <a:ea typeface="Times New Roman" panose="02020603050405020304" pitchFamily="18" charset="0"/>
                        </a:rPr>
                        <a:t>Utilisation</a:t>
                      </a:r>
                      <a:r>
                        <a:rPr lang="fr-FR" sz="1700" kern="100" dirty="0">
                          <a:solidFill>
                            <a:schemeClr val="tx1"/>
                          </a:solidFill>
                          <a:effectLst/>
                          <a:latin typeface="+mn-lt"/>
                          <a:ea typeface="Times New Roman" panose="02020603050405020304" pitchFamily="18" charset="0"/>
                        </a:rPr>
                        <a:t> des prérogatives coercitives pour intimider un citoyen, un opérateur économique ou un rival.- </a:t>
                      </a:r>
                      <a:r>
                        <a:rPr lang="fr-FR" sz="1700" b="1" kern="100" dirty="0">
                          <a:solidFill>
                            <a:schemeClr val="tx1"/>
                          </a:solidFill>
                          <a:effectLst/>
                          <a:latin typeface="+mn-lt"/>
                          <a:ea typeface="Times New Roman" panose="02020603050405020304" pitchFamily="18" charset="0"/>
                        </a:rPr>
                        <a:t>Intervention</a:t>
                      </a:r>
                      <a:r>
                        <a:rPr lang="fr-FR" sz="1700" kern="100" dirty="0">
                          <a:solidFill>
                            <a:schemeClr val="tx1"/>
                          </a:solidFill>
                          <a:effectLst/>
                          <a:latin typeface="+mn-lt"/>
                          <a:ea typeface="Times New Roman" panose="02020603050405020304" pitchFamily="18" charset="0"/>
                        </a:rPr>
                        <a:t> pour empêcher l’arrestation d’un parent, protégé ou partenaire.- </a:t>
                      </a:r>
                      <a:r>
                        <a:rPr lang="fr-FR" sz="1700" b="1" kern="100" dirty="0">
                          <a:solidFill>
                            <a:schemeClr val="tx1"/>
                          </a:solidFill>
                          <a:effectLst/>
                          <a:latin typeface="+mn-lt"/>
                          <a:ea typeface="Times New Roman" panose="02020603050405020304" pitchFamily="18" charset="0"/>
                        </a:rPr>
                        <a:t>Blocage</a:t>
                      </a:r>
                      <a:r>
                        <a:rPr lang="fr-FR" sz="1700" kern="100" dirty="0">
                          <a:solidFill>
                            <a:schemeClr val="tx1"/>
                          </a:solidFill>
                          <a:effectLst/>
                          <a:latin typeface="+mn-lt"/>
                          <a:ea typeface="Times New Roman" panose="02020603050405020304" pitchFamily="18" charset="0"/>
                        </a:rPr>
                        <a:t> ou manipulation d’une enquête interne pour protéger un camarade ou un supérieur.- </a:t>
                      </a:r>
                      <a:r>
                        <a:rPr lang="fr-FR" sz="1700" b="1" kern="100" dirty="0">
                          <a:solidFill>
                            <a:schemeClr val="tx1"/>
                          </a:solidFill>
                          <a:effectLst/>
                          <a:latin typeface="+mn-lt"/>
                          <a:ea typeface="Times New Roman" panose="02020603050405020304" pitchFamily="18" charset="0"/>
                        </a:rPr>
                        <a:t>Affectations</a:t>
                      </a:r>
                      <a:r>
                        <a:rPr lang="fr-FR" sz="1700" kern="100" dirty="0">
                          <a:solidFill>
                            <a:schemeClr val="tx1"/>
                          </a:solidFill>
                          <a:effectLst/>
                          <a:latin typeface="+mn-lt"/>
                          <a:ea typeface="Times New Roman" panose="02020603050405020304" pitchFamily="18" charset="0"/>
                        </a:rPr>
                        <a:t> stratégiques accordées à des proches ou alliés en dehors des critères (brigade financière, circulation, unité de renseignement, unité logistique).- </a:t>
                      </a:r>
                      <a:r>
                        <a:rPr lang="fr-FR" sz="1700" b="1" kern="100" dirty="0">
                          <a:solidFill>
                            <a:schemeClr val="tx1"/>
                          </a:solidFill>
                          <a:effectLst/>
                          <a:latin typeface="+mn-lt"/>
                          <a:ea typeface="Times New Roman" panose="02020603050405020304" pitchFamily="18" charset="0"/>
                        </a:rPr>
                        <a:t>Utilisation</a:t>
                      </a:r>
                      <a:r>
                        <a:rPr lang="fr-FR" sz="1700" kern="100" dirty="0">
                          <a:solidFill>
                            <a:schemeClr val="tx1"/>
                          </a:solidFill>
                          <a:effectLst/>
                          <a:latin typeface="+mn-lt"/>
                          <a:ea typeface="Times New Roman" panose="02020603050405020304" pitchFamily="18" charset="0"/>
                        </a:rPr>
                        <a:t> injustifiée de personnel pour des tâches privées (gardiennage, travaux, </a:t>
                      </a:r>
                      <a:r>
                        <a:rPr lang="fr-FR" sz="1700" kern="100" dirty="0" err="1">
                          <a:solidFill>
                            <a:schemeClr val="tx1"/>
                          </a:solidFill>
                          <a:effectLst/>
                          <a:latin typeface="+mn-lt"/>
                          <a:ea typeface="Times New Roman" panose="02020603050405020304" pitchFamily="18" charset="0"/>
                        </a:rPr>
                        <a:t>escorts</a:t>
                      </a:r>
                      <a:r>
                        <a:rPr lang="fr-FR" sz="1700" kern="100" dirty="0">
                          <a:solidFill>
                            <a:schemeClr val="tx1"/>
                          </a:solidFill>
                          <a:effectLst/>
                          <a:latin typeface="+mn-lt"/>
                          <a:ea typeface="Times New Roman" panose="02020603050405020304" pitchFamily="18" charset="0"/>
                        </a:rPr>
                        <a:t> personnelles).</a:t>
                      </a:r>
                    </a:p>
                  </a:txBody>
                  <a:tcPr marL="9525" marR="9525" marT="9525" marB="9525" anchor="ctr">
                    <a:solidFill>
                      <a:schemeClr val="tx2">
                        <a:lumMod val="40000"/>
                        <a:lumOff val="60000"/>
                      </a:schemeClr>
                    </a:solidFill>
                  </a:tcPr>
                </a:tc>
                <a:extLst>
                  <a:ext uri="{0D108BD9-81ED-4DB2-BD59-A6C34878D82A}">
                    <a16:rowId xmlns:a16="http://schemas.microsoft.com/office/drawing/2014/main" val="2750684461"/>
                  </a:ext>
                </a:extLst>
              </a:tr>
            </a:tbl>
          </a:graphicData>
        </a:graphic>
      </p:graphicFrame>
    </p:spTree>
    <p:extLst>
      <p:ext uri="{BB962C8B-B14F-4D97-AF65-F5344CB8AC3E}">
        <p14:creationId xmlns:p14="http://schemas.microsoft.com/office/powerpoint/2010/main" val="551725205"/>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a:cxnSpLocks/>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24</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653143" y="330331"/>
            <a:ext cx="11154227"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err="1">
                <a:solidFill>
                  <a:srgbClr val="1D1D1B"/>
                </a:solidFill>
                <a:latin typeface="Candara" panose="020E0502030303020204" pitchFamily="34" charset="0"/>
                <a:ea typeface="Open Sans" panose="020B0606030504020204" pitchFamily="34" charset="0"/>
                <a:cs typeface="Open Sans" panose="020B0606030504020204" pitchFamily="34" charset="0"/>
              </a:rPr>
              <a:t>V.Typologie</a:t>
            </a: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 d’infractions et manifestation de la corruption dans les services de Police et de Gendarmerie(1/2)</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aphicFrame>
        <p:nvGraphicFramePr>
          <p:cNvPr id="10" name="Tableau 9">
            <a:extLst>
              <a:ext uri="{FF2B5EF4-FFF2-40B4-BE49-F238E27FC236}">
                <a16:creationId xmlns:a16="http://schemas.microsoft.com/office/drawing/2014/main" id="{4B437500-8E05-4CF2-8054-C1D2D5353825}"/>
              </a:ext>
            </a:extLst>
          </p:cNvPr>
          <p:cNvGraphicFramePr>
            <a:graphicFrameLocks noGrp="1"/>
          </p:cNvGraphicFramePr>
          <p:nvPr>
            <p:extLst>
              <p:ext uri="{D42A27DB-BD31-4B8C-83A1-F6EECF244321}">
                <p14:modId xmlns:p14="http://schemas.microsoft.com/office/powerpoint/2010/main" val="48576933"/>
              </p:ext>
            </p:extLst>
          </p:nvPr>
        </p:nvGraphicFramePr>
        <p:xfrm>
          <a:off x="777240" y="1400241"/>
          <a:ext cx="1987836" cy="4921033"/>
        </p:xfrm>
        <a:graphic>
          <a:graphicData uri="http://schemas.openxmlformats.org/drawingml/2006/table">
            <a:tbl>
              <a:tblPr firstRow="1" firstCol="1" bandRow="1">
                <a:tableStyleId>{5C22544A-7EE6-4342-B048-85BDC9FD1C3A}</a:tableStyleId>
              </a:tblPr>
              <a:tblGrid>
                <a:gridCol w="1987836">
                  <a:extLst>
                    <a:ext uri="{9D8B030D-6E8A-4147-A177-3AD203B41FA5}">
                      <a16:colId xmlns:a16="http://schemas.microsoft.com/office/drawing/2014/main" val="691620424"/>
                    </a:ext>
                  </a:extLst>
                </a:gridCol>
              </a:tblGrid>
              <a:tr h="392277">
                <a:tc>
                  <a:txBody>
                    <a:bodyPr/>
                    <a:lstStyle/>
                    <a:p>
                      <a:pPr algn="ctr">
                        <a:lnSpc>
                          <a:spcPct val="115000"/>
                        </a:lnSpc>
                        <a:spcAft>
                          <a:spcPts val="0"/>
                        </a:spcAft>
                      </a:pPr>
                      <a:r>
                        <a:rPr lang="fr-FR" sz="1700" kern="100" dirty="0">
                          <a:solidFill>
                            <a:schemeClr val="tx1"/>
                          </a:solidFill>
                          <a:effectLst/>
                        </a:rPr>
                        <a:t>Typologie</a:t>
                      </a:r>
                      <a:r>
                        <a:rPr lang="fr-FR" sz="1700" kern="100" dirty="0">
                          <a:effectLst/>
                        </a:rPr>
                        <a:t> </a:t>
                      </a:r>
                      <a:endParaRPr lang="fr-FR" sz="1700" kern="100" dirty="0">
                        <a:effectLst/>
                        <a:latin typeface="Times New Roman" panose="02020603050405020304" pitchFamily="18" charset="0"/>
                        <a:ea typeface="Times New Roman" panose="02020603050405020304" pitchFamily="18" charset="0"/>
                      </a:endParaRPr>
                    </a:p>
                  </a:txBody>
                  <a:tcPr marL="9525" marR="9525" marT="9525" marB="9525" anchor="ctr">
                    <a:solidFill>
                      <a:schemeClr val="accent2"/>
                    </a:solidFill>
                  </a:tcPr>
                </a:tc>
                <a:extLst>
                  <a:ext uri="{0D108BD9-81ED-4DB2-BD59-A6C34878D82A}">
                    <a16:rowId xmlns:a16="http://schemas.microsoft.com/office/drawing/2014/main" val="3830030949"/>
                  </a:ext>
                </a:extLst>
              </a:tr>
              <a:tr h="2485766">
                <a:tc>
                  <a:txBody>
                    <a:bodyPr/>
                    <a:lstStyle/>
                    <a:p>
                      <a:pPr>
                        <a:lnSpc>
                          <a:spcPct val="115000"/>
                        </a:lnSpc>
                        <a:spcAft>
                          <a:spcPts val="0"/>
                        </a:spcAft>
                      </a:pPr>
                      <a:r>
                        <a:rPr lang="fr-FR" sz="1700" kern="100" dirty="0">
                          <a:effectLst/>
                          <a:latin typeface="+mn-lt"/>
                          <a:ea typeface="Times New Roman" panose="02020603050405020304" pitchFamily="18" charset="0"/>
                        </a:rPr>
                        <a:t>Concussion(Art. 332-9 CP)</a:t>
                      </a:r>
                    </a:p>
                  </a:txBody>
                  <a:tcPr marL="9525" marR="9525" marT="9525" marB="9525" anchor="ctr"/>
                </a:tc>
                <a:extLst>
                  <a:ext uri="{0D108BD9-81ED-4DB2-BD59-A6C34878D82A}">
                    <a16:rowId xmlns:a16="http://schemas.microsoft.com/office/drawing/2014/main" val="2824940398"/>
                  </a:ext>
                </a:extLst>
              </a:tr>
              <a:tr h="2042990">
                <a:tc>
                  <a:txBody>
                    <a:bodyPr/>
                    <a:lstStyle/>
                    <a:p>
                      <a:pPr>
                        <a:lnSpc>
                          <a:spcPct val="115000"/>
                        </a:lnSpc>
                        <a:spcAft>
                          <a:spcPts val="0"/>
                        </a:spcAft>
                      </a:pPr>
                      <a:r>
                        <a:rPr lang="fr-FR" sz="1700" kern="100" dirty="0">
                          <a:effectLst/>
                          <a:latin typeface="+mn-lt"/>
                          <a:ea typeface="Times New Roman" panose="02020603050405020304" pitchFamily="18" charset="0"/>
                        </a:rPr>
                        <a:t>Usage abusif de biens publics(Art. 332-8 CP)</a:t>
                      </a:r>
                    </a:p>
                  </a:txBody>
                  <a:tcPr marL="9525" marR="9525" marT="9525" marB="9525" anchor="ctr"/>
                </a:tc>
                <a:extLst>
                  <a:ext uri="{0D108BD9-81ED-4DB2-BD59-A6C34878D82A}">
                    <a16:rowId xmlns:a16="http://schemas.microsoft.com/office/drawing/2014/main" val="809749683"/>
                  </a:ext>
                </a:extLst>
              </a:tr>
            </a:tbl>
          </a:graphicData>
        </a:graphic>
      </p:graphicFrame>
      <p:graphicFrame>
        <p:nvGraphicFramePr>
          <p:cNvPr id="4" name="Tableau 3">
            <a:extLst>
              <a:ext uri="{FF2B5EF4-FFF2-40B4-BE49-F238E27FC236}">
                <a16:creationId xmlns:a16="http://schemas.microsoft.com/office/drawing/2014/main" id="{91F25628-C312-404C-8FFC-922E5047A62A}"/>
              </a:ext>
            </a:extLst>
          </p:cNvPr>
          <p:cNvGraphicFramePr>
            <a:graphicFrameLocks noGrp="1"/>
          </p:cNvGraphicFramePr>
          <p:nvPr>
            <p:extLst>
              <p:ext uri="{D42A27DB-BD31-4B8C-83A1-F6EECF244321}">
                <p14:modId xmlns:p14="http://schemas.microsoft.com/office/powerpoint/2010/main" val="445291992"/>
              </p:ext>
            </p:extLst>
          </p:nvPr>
        </p:nvGraphicFramePr>
        <p:xfrm>
          <a:off x="2765076" y="1401652"/>
          <a:ext cx="8918195" cy="4965225"/>
        </p:xfrm>
        <a:graphic>
          <a:graphicData uri="http://schemas.openxmlformats.org/drawingml/2006/table">
            <a:tbl>
              <a:tblPr firstRow="1" firstCol="1" bandRow="1">
                <a:tableStyleId>{5C22544A-7EE6-4342-B048-85BDC9FD1C3A}</a:tableStyleId>
              </a:tblPr>
              <a:tblGrid>
                <a:gridCol w="8918195">
                  <a:extLst>
                    <a:ext uri="{9D8B030D-6E8A-4147-A177-3AD203B41FA5}">
                      <a16:colId xmlns:a16="http://schemas.microsoft.com/office/drawing/2014/main" val="1676794098"/>
                    </a:ext>
                  </a:extLst>
                </a:gridCol>
              </a:tblGrid>
              <a:tr h="392277">
                <a:tc>
                  <a:txBody>
                    <a:bodyPr/>
                    <a:lstStyle/>
                    <a:p>
                      <a:pPr>
                        <a:lnSpc>
                          <a:spcPct val="150000"/>
                        </a:lnSpc>
                        <a:spcAft>
                          <a:spcPts val="0"/>
                        </a:spcAft>
                      </a:pPr>
                      <a:r>
                        <a:rPr lang="fr-FR" sz="1700" kern="100" dirty="0">
                          <a:solidFill>
                            <a:schemeClr val="tx1"/>
                          </a:solidFill>
                          <a:effectLst/>
                        </a:rPr>
                        <a:t>Manifestations opérationnelles dans la Police &amp; la Gendarmerie</a:t>
                      </a:r>
                      <a:endParaRPr lang="fr-FR" sz="1700" kern="100" dirty="0">
                        <a:solidFill>
                          <a:schemeClr val="tx1"/>
                        </a:solidFill>
                        <a:effectLst/>
                        <a:latin typeface="Helvetica" panose="020B0604020202020204" pitchFamily="34" charset="0"/>
                        <a:ea typeface="Times New Roman" panose="02020603050405020304" pitchFamily="18" charset="0"/>
                        <a:cs typeface="Times New Roman" panose="02020603050405020304" pitchFamily="18" charset="0"/>
                      </a:endParaRPr>
                    </a:p>
                  </a:txBody>
                  <a:tcPr marL="9525" marR="9525" marT="9525" marB="9525" anchor="ctr">
                    <a:solidFill>
                      <a:schemeClr val="accent2"/>
                    </a:solidFill>
                  </a:tcPr>
                </a:tc>
                <a:extLst>
                  <a:ext uri="{0D108BD9-81ED-4DB2-BD59-A6C34878D82A}">
                    <a16:rowId xmlns:a16="http://schemas.microsoft.com/office/drawing/2014/main" val="3921255447"/>
                  </a:ext>
                </a:extLst>
              </a:tr>
              <a:tr h="2485766">
                <a:tc>
                  <a:txBody>
                    <a:bodyPr/>
                    <a:lstStyle/>
                    <a:p>
                      <a:pPr>
                        <a:lnSpc>
                          <a:spcPct val="115000"/>
                        </a:lnSpc>
                        <a:spcAft>
                          <a:spcPts val="0"/>
                        </a:spcAft>
                      </a:pPr>
                      <a:r>
                        <a:rPr lang="fr-FR" sz="1700" kern="100" dirty="0">
                          <a:solidFill>
                            <a:schemeClr val="tx1"/>
                          </a:solidFill>
                          <a:effectLst/>
                          <a:latin typeface="+mn-lt"/>
                          <a:ea typeface="Times New Roman" panose="02020603050405020304" pitchFamily="18" charset="0"/>
                        </a:rPr>
                        <a:t>- Exiger des “frais de sortie”, “frais de procédure”, “frais de carburant”, “frais d’interpellation” inexistants dans les textes.- Prélever illégalement des amendes forfaitaires au bord de la route et ne pas délivrer de quittances.- Imposer un “paiement” pour retirer un véhicule mis en fourrière ou récupérer des pièces saisies.- Exiger des contributions financières aux usagers pour des opérations officielles (patrouilles, escortes).- Faire payer des frais supplémentaires pour les PV, convocations, restitutions de biens ou documents.</a:t>
                      </a:r>
                    </a:p>
                  </a:txBody>
                  <a:tcPr marL="9525" marR="9525" marT="9525" marB="9525" anchor="ctr">
                    <a:solidFill>
                      <a:schemeClr val="tx2">
                        <a:lumMod val="40000"/>
                        <a:lumOff val="60000"/>
                      </a:schemeClr>
                    </a:solidFill>
                  </a:tcPr>
                </a:tc>
                <a:extLst>
                  <a:ext uri="{0D108BD9-81ED-4DB2-BD59-A6C34878D82A}">
                    <a16:rowId xmlns:a16="http://schemas.microsoft.com/office/drawing/2014/main" val="3802096631"/>
                  </a:ext>
                </a:extLst>
              </a:tr>
              <a:tr h="2042990">
                <a:tc>
                  <a:txBody>
                    <a:bodyPr/>
                    <a:lstStyle/>
                    <a:p>
                      <a:pPr>
                        <a:lnSpc>
                          <a:spcPct val="115000"/>
                        </a:lnSpc>
                        <a:spcAft>
                          <a:spcPts val="0"/>
                        </a:spcAft>
                      </a:pPr>
                      <a:r>
                        <a:rPr lang="fr-FR" sz="1700" kern="100" dirty="0">
                          <a:solidFill>
                            <a:schemeClr val="tx1"/>
                          </a:solidFill>
                          <a:effectLst/>
                          <a:latin typeface="+mn-lt"/>
                          <a:ea typeface="Times New Roman" panose="02020603050405020304" pitchFamily="18" charset="0"/>
                        </a:rPr>
                        <a:t>- Utilisation de véhicules de patrouille pour des activités privées (courses personnelles, transport familial, gardiennage privé).- Consommation de carburant opérationnel pour des besoins personnels.- Utilisation d’armes de service pour des missions non autorisées (sécurité privée, conflits personnels).- Exploitation d’infrastructures de la Police ou Gendarmerie pour des activités privées (hangars, ateliers, matériels).- Utilisation de la sirène, gyrophare, uniformes ou insignes pour obtenir des privilèges personnels (passages prioritaires, accès réservés).- Détournement ou disparition d’équipements destinés aux opérations (gilets pare-balles, radios, pièces de véhicules).</a:t>
                      </a:r>
                    </a:p>
                  </a:txBody>
                  <a:tcPr marL="9525" marR="9525" marT="9525" marB="9525" anchor="ctr">
                    <a:solidFill>
                      <a:schemeClr val="tx2">
                        <a:lumMod val="40000"/>
                        <a:lumOff val="60000"/>
                      </a:schemeClr>
                    </a:solidFill>
                  </a:tcPr>
                </a:tc>
                <a:extLst>
                  <a:ext uri="{0D108BD9-81ED-4DB2-BD59-A6C34878D82A}">
                    <a16:rowId xmlns:a16="http://schemas.microsoft.com/office/drawing/2014/main" val="668439885"/>
                  </a:ext>
                </a:extLst>
              </a:tr>
            </a:tbl>
          </a:graphicData>
        </a:graphic>
      </p:graphicFrame>
    </p:spTree>
    <p:extLst>
      <p:ext uri="{BB962C8B-B14F-4D97-AF65-F5344CB8AC3E}">
        <p14:creationId xmlns:p14="http://schemas.microsoft.com/office/powerpoint/2010/main" val="3383066111"/>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a:cxnSpLocks/>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25</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653143" y="330331"/>
            <a:ext cx="11154227"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err="1">
                <a:solidFill>
                  <a:srgbClr val="1D1D1B"/>
                </a:solidFill>
                <a:latin typeface="Candara" panose="020E0502030303020204" pitchFamily="34" charset="0"/>
                <a:ea typeface="Open Sans" panose="020B0606030504020204" pitchFamily="34" charset="0"/>
                <a:cs typeface="Open Sans" panose="020B0606030504020204" pitchFamily="34" charset="0"/>
              </a:rPr>
              <a:t>VI.Typologie</a:t>
            </a: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 d’infractions et manifestation de la corruption dans les services douaniers (1/1)</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aphicFrame>
        <p:nvGraphicFramePr>
          <p:cNvPr id="10" name="Tableau 9">
            <a:extLst>
              <a:ext uri="{FF2B5EF4-FFF2-40B4-BE49-F238E27FC236}">
                <a16:creationId xmlns:a16="http://schemas.microsoft.com/office/drawing/2014/main" id="{4B437500-8E05-4CF2-8054-C1D2D5353825}"/>
              </a:ext>
            </a:extLst>
          </p:cNvPr>
          <p:cNvGraphicFramePr>
            <a:graphicFrameLocks noGrp="1"/>
          </p:cNvGraphicFramePr>
          <p:nvPr>
            <p:extLst>
              <p:ext uri="{D42A27DB-BD31-4B8C-83A1-F6EECF244321}">
                <p14:modId xmlns:p14="http://schemas.microsoft.com/office/powerpoint/2010/main" val="1851371308"/>
              </p:ext>
            </p:extLst>
          </p:nvPr>
        </p:nvGraphicFramePr>
        <p:xfrm>
          <a:off x="529046" y="1400241"/>
          <a:ext cx="2033074" cy="4921033"/>
        </p:xfrm>
        <a:graphic>
          <a:graphicData uri="http://schemas.openxmlformats.org/drawingml/2006/table">
            <a:tbl>
              <a:tblPr firstRow="1" firstCol="1" bandRow="1">
                <a:tableStyleId>{5C22544A-7EE6-4342-B048-85BDC9FD1C3A}</a:tableStyleId>
              </a:tblPr>
              <a:tblGrid>
                <a:gridCol w="2033074">
                  <a:extLst>
                    <a:ext uri="{9D8B030D-6E8A-4147-A177-3AD203B41FA5}">
                      <a16:colId xmlns:a16="http://schemas.microsoft.com/office/drawing/2014/main" val="691620424"/>
                    </a:ext>
                  </a:extLst>
                </a:gridCol>
              </a:tblGrid>
              <a:tr h="392277">
                <a:tc>
                  <a:txBody>
                    <a:bodyPr/>
                    <a:lstStyle/>
                    <a:p>
                      <a:pPr algn="ctr">
                        <a:lnSpc>
                          <a:spcPct val="115000"/>
                        </a:lnSpc>
                        <a:spcAft>
                          <a:spcPts val="0"/>
                        </a:spcAft>
                      </a:pPr>
                      <a:r>
                        <a:rPr lang="fr-FR" sz="1700" kern="100" dirty="0">
                          <a:solidFill>
                            <a:schemeClr val="tx1"/>
                          </a:solidFill>
                          <a:effectLst/>
                        </a:rPr>
                        <a:t>Typologie </a:t>
                      </a:r>
                      <a:endParaRPr lang="fr-FR" sz="1700" kern="1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nchor="ctr">
                    <a:solidFill>
                      <a:schemeClr val="accent2"/>
                    </a:solidFill>
                  </a:tcPr>
                </a:tc>
                <a:extLst>
                  <a:ext uri="{0D108BD9-81ED-4DB2-BD59-A6C34878D82A}">
                    <a16:rowId xmlns:a16="http://schemas.microsoft.com/office/drawing/2014/main" val="3830030949"/>
                  </a:ext>
                </a:extLst>
              </a:tr>
              <a:tr h="2485766">
                <a:tc>
                  <a:txBody>
                    <a:bodyPr/>
                    <a:lstStyle/>
                    <a:p>
                      <a:pPr>
                        <a:lnSpc>
                          <a:spcPct val="115000"/>
                        </a:lnSpc>
                        <a:spcAft>
                          <a:spcPts val="0"/>
                        </a:spcAft>
                      </a:pPr>
                      <a:r>
                        <a:rPr lang="fr-FR" sz="1700" kern="100">
                          <a:effectLst/>
                          <a:latin typeface="+mn-lt"/>
                          <a:ea typeface="Times New Roman" panose="02020603050405020304" pitchFamily="18" charset="0"/>
                        </a:rPr>
                        <a:t>Corruption + Sous-évaluation / fausse classification / Facilitation de contrebande / Rétrocommissions / Partage de saisies (Art. 331)</a:t>
                      </a:r>
                    </a:p>
                  </a:txBody>
                  <a:tcPr marL="9525" marR="9525" marT="9525" marB="9525" anchor="ctr"/>
                </a:tc>
                <a:extLst>
                  <a:ext uri="{0D108BD9-81ED-4DB2-BD59-A6C34878D82A}">
                    <a16:rowId xmlns:a16="http://schemas.microsoft.com/office/drawing/2014/main" val="2824940398"/>
                  </a:ext>
                </a:extLst>
              </a:tr>
              <a:tr h="2042990">
                <a:tc>
                  <a:txBody>
                    <a:bodyPr/>
                    <a:lstStyle/>
                    <a:p>
                      <a:pPr>
                        <a:lnSpc>
                          <a:spcPct val="115000"/>
                        </a:lnSpc>
                        <a:spcAft>
                          <a:spcPts val="0"/>
                        </a:spcAft>
                      </a:pPr>
                      <a:r>
                        <a:rPr lang="fr-FR" sz="1700" kern="100" dirty="0">
                          <a:effectLst/>
                          <a:latin typeface="+mn-lt"/>
                          <a:ea typeface="Times New Roman" panose="02020603050405020304" pitchFamily="18" charset="0"/>
                        </a:rPr>
                        <a:t>Avantages injustifiés et corruption dans la commande publique (Art. 332-1 à 332-6)</a:t>
                      </a:r>
                    </a:p>
                  </a:txBody>
                  <a:tcPr marL="9525" marR="9525" marT="9525" marB="9525" anchor="ctr"/>
                </a:tc>
                <a:extLst>
                  <a:ext uri="{0D108BD9-81ED-4DB2-BD59-A6C34878D82A}">
                    <a16:rowId xmlns:a16="http://schemas.microsoft.com/office/drawing/2014/main" val="809749683"/>
                  </a:ext>
                </a:extLst>
              </a:tr>
            </a:tbl>
          </a:graphicData>
        </a:graphic>
      </p:graphicFrame>
      <p:graphicFrame>
        <p:nvGraphicFramePr>
          <p:cNvPr id="4" name="Tableau 3">
            <a:extLst>
              <a:ext uri="{FF2B5EF4-FFF2-40B4-BE49-F238E27FC236}">
                <a16:creationId xmlns:a16="http://schemas.microsoft.com/office/drawing/2014/main" id="{D665FD58-F4B7-4E46-A450-949AC45E3D8D}"/>
              </a:ext>
            </a:extLst>
          </p:cNvPr>
          <p:cNvGraphicFramePr>
            <a:graphicFrameLocks noGrp="1"/>
          </p:cNvGraphicFramePr>
          <p:nvPr>
            <p:extLst>
              <p:ext uri="{D42A27DB-BD31-4B8C-83A1-F6EECF244321}">
                <p14:modId xmlns:p14="http://schemas.microsoft.com/office/powerpoint/2010/main" val="3818747908"/>
              </p:ext>
            </p:extLst>
          </p:nvPr>
        </p:nvGraphicFramePr>
        <p:xfrm>
          <a:off x="2572469" y="1391532"/>
          <a:ext cx="9121152" cy="4965225"/>
        </p:xfrm>
        <a:graphic>
          <a:graphicData uri="http://schemas.openxmlformats.org/drawingml/2006/table">
            <a:tbl>
              <a:tblPr firstRow="1" firstCol="1" bandRow="1">
                <a:tableStyleId>{5C22544A-7EE6-4342-B048-85BDC9FD1C3A}</a:tableStyleId>
              </a:tblPr>
              <a:tblGrid>
                <a:gridCol w="9121152">
                  <a:extLst>
                    <a:ext uri="{9D8B030D-6E8A-4147-A177-3AD203B41FA5}">
                      <a16:colId xmlns:a16="http://schemas.microsoft.com/office/drawing/2014/main" val="3813332503"/>
                    </a:ext>
                  </a:extLst>
                </a:gridCol>
              </a:tblGrid>
              <a:tr h="392277">
                <a:tc>
                  <a:txBody>
                    <a:bodyPr/>
                    <a:lstStyle/>
                    <a:p>
                      <a:pPr algn="l">
                        <a:lnSpc>
                          <a:spcPct val="115000"/>
                        </a:lnSpc>
                        <a:spcAft>
                          <a:spcPts val="0"/>
                        </a:spcAft>
                      </a:pPr>
                      <a:r>
                        <a:rPr lang="fr-FR" sz="1700" kern="100" dirty="0">
                          <a:solidFill>
                            <a:schemeClr val="tx1"/>
                          </a:solidFill>
                          <a:effectLst/>
                          <a:latin typeface="Arial" panose="020B0604020202020204" pitchFamily="34" charset="0"/>
                          <a:ea typeface="Times New Roman" panose="02020603050405020304" pitchFamily="18" charset="0"/>
                        </a:rPr>
                        <a:t>Manifestations dans les services douaniers (opérationnelles et observables)</a:t>
                      </a:r>
                      <a:endParaRPr lang="fr-FR" sz="1700" kern="1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nchor="ctr">
                    <a:solidFill>
                      <a:schemeClr val="accent2"/>
                    </a:solidFill>
                  </a:tcPr>
                </a:tc>
                <a:extLst>
                  <a:ext uri="{0D108BD9-81ED-4DB2-BD59-A6C34878D82A}">
                    <a16:rowId xmlns:a16="http://schemas.microsoft.com/office/drawing/2014/main" val="864131319"/>
                  </a:ext>
                </a:extLst>
              </a:tr>
              <a:tr h="2485766">
                <a:tc>
                  <a:txBody>
                    <a:bodyPr/>
                    <a:lstStyle/>
                    <a:p>
                      <a:pPr>
                        <a:lnSpc>
                          <a:spcPct val="115000"/>
                        </a:lnSpc>
                        <a:spcAft>
                          <a:spcPts val="0"/>
                        </a:spcAft>
                      </a:pPr>
                      <a:r>
                        <a:rPr lang="fr-FR" sz="1700" kern="100" dirty="0">
                          <a:solidFill>
                            <a:schemeClr val="tx1"/>
                          </a:solidFill>
                          <a:effectLst/>
                          <a:latin typeface="+mn-lt"/>
                          <a:ea typeface="Times New Roman" panose="02020603050405020304" pitchFamily="18" charset="0"/>
                        </a:rPr>
                        <a:t>- Sous-évaluation délibérée des valeurs en douane (valeurs arbitraires très inférieures aux références).- Fausse classification tarifaire pour réduire les droits (ex.: classer un véhicule en “pièces détachées”).- Laisser passer des convois non dédouanés contre paiement informel (“taxation de couloir”).- Manipulation de la pesée, du scanning, ou absence volontaire de visite physique.- Transfert illégal de marchandises sous régime suspensif vers le marché local.- Partage de saisies ou récupération illégale de produits confisqués.- Blocage ou libération sélective des marchandises en fonction de paiements occultes.</a:t>
                      </a:r>
                    </a:p>
                  </a:txBody>
                  <a:tcPr marL="9525" marR="9525" marT="9525" marB="9525" anchor="ctr">
                    <a:solidFill>
                      <a:schemeClr val="tx2">
                        <a:lumMod val="40000"/>
                        <a:lumOff val="60000"/>
                      </a:schemeClr>
                    </a:solidFill>
                  </a:tcPr>
                </a:tc>
                <a:extLst>
                  <a:ext uri="{0D108BD9-81ED-4DB2-BD59-A6C34878D82A}">
                    <a16:rowId xmlns:a16="http://schemas.microsoft.com/office/drawing/2014/main" val="2097898258"/>
                  </a:ext>
                </a:extLst>
              </a:tr>
              <a:tr h="2042990">
                <a:tc>
                  <a:txBody>
                    <a:bodyPr/>
                    <a:lstStyle/>
                    <a:p>
                      <a:pPr>
                        <a:lnSpc>
                          <a:spcPct val="115000"/>
                        </a:lnSpc>
                        <a:spcAft>
                          <a:spcPts val="0"/>
                        </a:spcAft>
                      </a:pPr>
                      <a:r>
                        <a:rPr lang="fr-FR" sz="1700" kern="100" dirty="0">
                          <a:solidFill>
                            <a:schemeClr val="tx1"/>
                          </a:solidFill>
                          <a:effectLst/>
                          <a:latin typeface="+mn-lt"/>
                          <a:ea typeface="Times New Roman" panose="02020603050405020304" pitchFamily="18" charset="0"/>
                        </a:rPr>
                        <a:t>- Manipulation des DAO pour favoriser un fournisseur (véhicules, carburant, uniformes, informatique).- Achat de scanners, pièces détachées, motos ou équipements logistiques au-dessus des prix du marché.- Marchés “d’urgence” utilisés pour contourner l’appel d’offres.- Facturation fictive de prestations de gardiennage, transport ou manutention.- Passation de marchés d’entretien des scanners ou logiciels douaniers à des partenaires privilégiés.- Entente entre agents et prestataires pour surfacturer la construction / rénovation d’un bureau de douane.- Paiements de commission pour garantir un renouvellement de contrat.</a:t>
                      </a:r>
                    </a:p>
                  </a:txBody>
                  <a:tcPr marL="9525" marR="9525" marT="9525" marB="9525" anchor="ctr">
                    <a:solidFill>
                      <a:schemeClr val="tx2">
                        <a:lumMod val="40000"/>
                        <a:lumOff val="60000"/>
                      </a:schemeClr>
                    </a:solidFill>
                  </a:tcPr>
                </a:tc>
                <a:extLst>
                  <a:ext uri="{0D108BD9-81ED-4DB2-BD59-A6C34878D82A}">
                    <a16:rowId xmlns:a16="http://schemas.microsoft.com/office/drawing/2014/main" val="3661436596"/>
                  </a:ext>
                </a:extLst>
              </a:tr>
            </a:tbl>
          </a:graphicData>
        </a:graphic>
      </p:graphicFrame>
    </p:spTree>
    <p:extLst>
      <p:ext uri="{BB962C8B-B14F-4D97-AF65-F5344CB8AC3E}">
        <p14:creationId xmlns:p14="http://schemas.microsoft.com/office/powerpoint/2010/main" val="2216757372"/>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a:cxnSpLocks/>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26</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653143" y="330331"/>
            <a:ext cx="11154227"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err="1">
                <a:solidFill>
                  <a:srgbClr val="1D1D1B"/>
                </a:solidFill>
                <a:latin typeface="Candara" panose="020E0502030303020204" pitchFamily="34" charset="0"/>
                <a:ea typeface="Open Sans" panose="020B0606030504020204" pitchFamily="34" charset="0"/>
                <a:cs typeface="Open Sans" panose="020B0606030504020204" pitchFamily="34" charset="0"/>
              </a:rPr>
              <a:t>VI.Typologie</a:t>
            </a: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 d’infractions et manifestation de la corruption dans les services douaniers (1/2)</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aphicFrame>
        <p:nvGraphicFramePr>
          <p:cNvPr id="10" name="Tableau 9">
            <a:extLst>
              <a:ext uri="{FF2B5EF4-FFF2-40B4-BE49-F238E27FC236}">
                <a16:creationId xmlns:a16="http://schemas.microsoft.com/office/drawing/2014/main" id="{4B437500-8E05-4CF2-8054-C1D2D5353825}"/>
              </a:ext>
            </a:extLst>
          </p:cNvPr>
          <p:cNvGraphicFramePr>
            <a:graphicFrameLocks noGrp="1"/>
          </p:cNvGraphicFramePr>
          <p:nvPr>
            <p:extLst>
              <p:ext uri="{D42A27DB-BD31-4B8C-83A1-F6EECF244321}">
                <p14:modId xmlns:p14="http://schemas.microsoft.com/office/powerpoint/2010/main" val="934840146"/>
              </p:ext>
            </p:extLst>
          </p:nvPr>
        </p:nvGraphicFramePr>
        <p:xfrm>
          <a:off x="529046" y="1400241"/>
          <a:ext cx="2033074" cy="4921033"/>
        </p:xfrm>
        <a:graphic>
          <a:graphicData uri="http://schemas.openxmlformats.org/drawingml/2006/table">
            <a:tbl>
              <a:tblPr firstRow="1" firstCol="1" bandRow="1">
                <a:tableStyleId>{5C22544A-7EE6-4342-B048-85BDC9FD1C3A}</a:tableStyleId>
              </a:tblPr>
              <a:tblGrid>
                <a:gridCol w="2033074">
                  <a:extLst>
                    <a:ext uri="{9D8B030D-6E8A-4147-A177-3AD203B41FA5}">
                      <a16:colId xmlns:a16="http://schemas.microsoft.com/office/drawing/2014/main" val="691620424"/>
                    </a:ext>
                  </a:extLst>
                </a:gridCol>
              </a:tblGrid>
              <a:tr h="392277">
                <a:tc>
                  <a:txBody>
                    <a:bodyPr/>
                    <a:lstStyle/>
                    <a:p>
                      <a:pPr algn="ctr">
                        <a:lnSpc>
                          <a:spcPct val="115000"/>
                        </a:lnSpc>
                        <a:spcAft>
                          <a:spcPts val="0"/>
                        </a:spcAft>
                      </a:pPr>
                      <a:r>
                        <a:rPr lang="fr-FR" sz="1700" kern="100" dirty="0">
                          <a:solidFill>
                            <a:schemeClr val="tx1"/>
                          </a:solidFill>
                          <a:effectLst/>
                        </a:rPr>
                        <a:t>Typologie </a:t>
                      </a:r>
                      <a:endParaRPr lang="fr-FR" sz="1700" kern="1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nchor="ctr">
                    <a:solidFill>
                      <a:schemeClr val="accent2"/>
                    </a:solidFill>
                  </a:tcPr>
                </a:tc>
                <a:extLst>
                  <a:ext uri="{0D108BD9-81ED-4DB2-BD59-A6C34878D82A}">
                    <a16:rowId xmlns:a16="http://schemas.microsoft.com/office/drawing/2014/main" val="3830030949"/>
                  </a:ext>
                </a:extLst>
              </a:tr>
              <a:tr h="2485766">
                <a:tc>
                  <a:txBody>
                    <a:bodyPr/>
                    <a:lstStyle/>
                    <a:p>
                      <a:pPr>
                        <a:lnSpc>
                          <a:spcPct val="115000"/>
                        </a:lnSpc>
                        <a:spcAft>
                          <a:spcPts val="0"/>
                        </a:spcAft>
                      </a:pPr>
                      <a:r>
                        <a:rPr lang="fr-FR" sz="1700" kern="100" dirty="0">
                          <a:effectLst/>
                          <a:latin typeface="+mn-lt"/>
                          <a:ea typeface="Times New Roman" panose="02020603050405020304" pitchFamily="18" charset="0"/>
                        </a:rPr>
                        <a:t>Exonérations illégales (Art. 332-10)</a:t>
                      </a:r>
                    </a:p>
                  </a:txBody>
                  <a:tcPr marL="9525" marR="9525" marT="9525" marB="9525" anchor="ctr"/>
                </a:tc>
                <a:extLst>
                  <a:ext uri="{0D108BD9-81ED-4DB2-BD59-A6C34878D82A}">
                    <a16:rowId xmlns:a16="http://schemas.microsoft.com/office/drawing/2014/main" val="2824940398"/>
                  </a:ext>
                </a:extLst>
              </a:tr>
              <a:tr h="2042990">
                <a:tc>
                  <a:txBody>
                    <a:bodyPr/>
                    <a:lstStyle/>
                    <a:p>
                      <a:pPr>
                        <a:lnSpc>
                          <a:spcPct val="115000"/>
                        </a:lnSpc>
                        <a:spcAft>
                          <a:spcPts val="0"/>
                        </a:spcAft>
                      </a:pPr>
                      <a:r>
                        <a:rPr lang="fr-FR" sz="1700" kern="100" dirty="0">
                          <a:effectLst/>
                          <a:latin typeface="+mn-lt"/>
                          <a:ea typeface="Times New Roman" panose="02020603050405020304" pitchFamily="18" charset="0"/>
                        </a:rPr>
                        <a:t>Soustraction de biens par un agent public (Art. 332-7)</a:t>
                      </a:r>
                    </a:p>
                  </a:txBody>
                  <a:tcPr marL="9525" marR="9525" marT="9525" marB="9525" anchor="ctr"/>
                </a:tc>
                <a:extLst>
                  <a:ext uri="{0D108BD9-81ED-4DB2-BD59-A6C34878D82A}">
                    <a16:rowId xmlns:a16="http://schemas.microsoft.com/office/drawing/2014/main" val="809749683"/>
                  </a:ext>
                </a:extLst>
              </a:tr>
            </a:tbl>
          </a:graphicData>
        </a:graphic>
      </p:graphicFrame>
      <p:graphicFrame>
        <p:nvGraphicFramePr>
          <p:cNvPr id="14" name="Tableau 13">
            <a:extLst>
              <a:ext uri="{FF2B5EF4-FFF2-40B4-BE49-F238E27FC236}">
                <a16:creationId xmlns:a16="http://schemas.microsoft.com/office/drawing/2014/main" id="{5DD303B7-B1ED-4BB8-9DC8-3C073A9F54C8}"/>
              </a:ext>
            </a:extLst>
          </p:cNvPr>
          <p:cNvGraphicFramePr>
            <a:graphicFrameLocks noGrp="1"/>
          </p:cNvGraphicFramePr>
          <p:nvPr>
            <p:extLst>
              <p:ext uri="{D42A27DB-BD31-4B8C-83A1-F6EECF244321}">
                <p14:modId xmlns:p14="http://schemas.microsoft.com/office/powerpoint/2010/main" val="2146251811"/>
              </p:ext>
            </p:extLst>
          </p:nvPr>
        </p:nvGraphicFramePr>
        <p:xfrm>
          <a:off x="2570829" y="1400505"/>
          <a:ext cx="9121152" cy="4921033"/>
        </p:xfrm>
        <a:graphic>
          <a:graphicData uri="http://schemas.openxmlformats.org/drawingml/2006/table">
            <a:tbl>
              <a:tblPr firstRow="1" firstCol="1" bandRow="1">
                <a:tableStyleId>{5C22544A-7EE6-4342-B048-85BDC9FD1C3A}</a:tableStyleId>
              </a:tblPr>
              <a:tblGrid>
                <a:gridCol w="9121152">
                  <a:extLst>
                    <a:ext uri="{9D8B030D-6E8A-4147-A177-3AD203B41FA5}">
                      <a16:colId xmlns:a16="http://schemas.microsoft.com/office/drawing/2014/main" val="2722857156"/>
                    </a:ext>
                  </a:extLst>
                </a:gridCol>
              </a:tblGrid>
              <a:tr h="392277">
                <a:tc>
                  <a:txBody>
                    <a:bodyPr/>
                    <a:lstStyle/>
                    <a:p>
                      <a:pPr algn="l">
                        <a:lnSpc>
                          <a:spcPct val="115000"/>
                        </a:lnSpc>
                        <a:spcAft>
                          <a:spcPts val="0"/>
                        </a:spcAft>
                      </a:pPr>
                      <a:r>
                        <a:rPr lang="fr-FR" sz="1700" kern="100" dirty="0">
                          <a:solidFill>
                            <a:schemeClr val="tx1"/>
                          </a:solidFill>
                          <a:effectLst/>
                          <a:latin typeface="Arial" panose="020B0604020202020204" pitchFamily="34" charset="0"/>
                          <a:ea typeface="Times New Roman" panose="02020603050405020304" pitchFamily="18" charset="0"/>
                        </a:rPr>
                        <a:t>Manifestations dans les services douaniers (opérationnelles et observables)</a:t>
                      </a:r>
                      <a:endParaRPr lang="fr-FR" sz="1700" kern="100" dirty="0">
                        <a:solidFill>
                          <a:schemeClr val="tx1"/>
                        </a:solidFill>
                        <a:effectLst/>
                        <a:latin typeface="Times New Roman" panose="02020603050405020304" pitchFamily="18" charset="0"/>
                        <a:ea typeface="Times New Roman" panose="02020603050405020304" pitchFamily="18" charset="0"/>
                      </a:endParaRPr>
                    </a:p>
                  </a:txBody>
                  <a:tcPr marL="9525" marR="9525" marT="9525" marB="9525" anchor="ctr">
                    <a:solidFill>
                      <a:schemeClr val="accent2"/>
                    </a:solidFill>
                  </a:tcPr>
                </a:tc>
                <a:extLst>
                  <a:ext uri="{0D108BD9-81ED-4DB2-BD59-A6C34878D82A}">
                    <a16:rowId xmlns:a16="http://schemas.microsoft.com/office/drawing/2014/main" val="3830030949"/>
                  </a:ext>
                </a:extLst>
              </a:tr>
              <a:tr h="2485766">
                <a:tc>
                  <a:txBody>
                    <a:bodyPr/>
                    <a:lstStyle/>
                    <a:p>
                      <a:pPr>
                        <a:lnSpc>
                          <a:spcPct val="115000"/>
                        </a:lnSpc>
                        <a:spcAft>
                          <a:spcPts val="0"/>
                        </a:spcAft>
                      </a:pPr>
                      <a:r>
                        <a:rPr lang="fr-FR" sz="1700" kern="100" dirty="0">
                          <a:solidFill>
                            <a:schemeClr val="tx1"/>
                          </a:solidFill>
                          <a:effectLst/>
                          <a:latin typeface="+mn-lt"/>
                          <a:ea typeface="Times New Roman" panose="02020603050405020304" pitchFamily="18" charset="0"/>
                        </a:rPr>
                        <a:t>- Octroi d’exonérations à des entreprises ou particuliers non habilités.- Utilisation frauduleuse de certificats d’exonération (documents antidatés ou falsifiés).- Traitement préférentiel de demandes d’exonération en contrepartie d’avantages privés.- Extension illégale de la période ou du champ d’une exonération (augmentation du volume importé).- Enregistrement dans SYDONIA de régimes suspensifs ou exonérés sans justificatif valide.- Non-réintégration des marchandises déclarées sous régime suspensif mais consommées localement.</a:t>
                      </a:r>
                    </a:p>
                  </a:txBody>
                  <a:tcPr marL="9525" marR="9525" marT="9525" marB="9525" anchor="ctr">
                    <a:solidFill>
                      <a:schemeClr val="tx2">
                        <a:lumMod val="40000"/>
                        <a:lumOff val="60000"/>
                      </a:schemeClr>
                    </a:solidFill>
                  </a:tcPr>
                </a:tc>
                <a:extLst>
                  <a:ext uri="{0D108BD9-81ED-4DB2-BD59-A6C34878D82A}">
                    <a16:rowId xmlns:a16="http://schemas.microsoft.com/office/drawing/2014/main" val="2824940398"/>
                  </a:ext>
                </a:extLst>
              </a:tr>
              <a:tr h="2042990">
                <a:tc>
                  <a:txBody>
                    <a:bodyPr/>
                    <a:lstStyle/>
                    <a:p>
                      <a:pPr>
                        <a:lnSpc>
                          <a:spcPct val="115000"/>
                        </a:lnSpc>
                        <a:spcAft>
                          <a:spcPts val="0"/>
                        </a:spcAft>
                      </a:pPr>
                      <a:r>
                        <a:rPr lang="fr-FR" sz="1700" kern="100" dirty="0">
                          <a:solidFill>
                            <a:schemeClr val="tx1"/>
                          </a:solidFill>
                          <a:effectLst/>
                          <a:latin typeface="+mn-lt"/>
                          <a:ea typeface="Times New Roman" panose="02020603050405020304" pitchFamily="18" charset="0"/>
                        </a:rPr>
                        <a:t>- Ponction ou disparition de marchandises saisies dans les magasins de douane.- Vol de carburant des véhicules d’intervention, disparition de pièces de rechange, pneus, motos de service.- Retrait illégal de marchandises sous scellés (“sous-main”).- Vol ou utilisation personnelle d’ordinateurs, imprimantes, scanners portatifs, talkies-walkies.- Conservation par un agent de fonds ou amendes perçues non reversées au Trésor.- Retrait irrégulier de pièces à conviction avant la fin de procédure (ex.: lingots, devises, stupéfiants).</a:t>
                      </a:r>
                    </a:p>
                  </a:txBody>
                  <a:tcPr marL="9525" marR="9525" marT="9525" marB="9525" anchor="ctr">
                    <a:solidFill>
                      <a:schemeClr val="tx2">
                        <a:lumMod val="40000"/>
                        <a:lumOff val="60000"/>
                      </a:schemeClr>
                    </a:solidFill>
                  </a:tcPr>
                </a:tc>
                <a:extLst>
                  <a:ext uri="{0D108BD9-81ED-4DB2-BD59-A6C34878D82A}">
                    <a16:rowId xmlns:a16="http://schemas.microsoft.com/office/drawing/2014/main" val="809749683"/>
                  </a:ext>
                </a:extLst>
              </a:tr>
            </a:tbl>
          </a:graphicData>
        </a:graphic>
      </p:graphicFrame>
    </p:spTree>
    <p:extLst>
      <p:ext uri="{BB962C8B-B14F-4D97-AF65-F5344CB8AC3E}">
        <p14:creationId xmlns:p14="http://schemas.microsoft.com/office/powerpoint/2010/main" val="1548448545"/>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a:cxnSpLocks/>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27</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653143" y="330331"/>
            <a:ext cx="11154227"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err="1">
                <a:solidFill>
                  <a:srgbClr val="1D1D1B"/>
                </a:solidFill>
                <a:latin typeface="Candara" panose="020E0502030303020204" pitchFamily="34" charset="0"/>
                <a:ea typeface="Open Sans" panose="020B0606030504020204" pitchFamily="34" charset="0"/>
                <a:cs typeface="Open Sans" panose="020B0606030504020204" pitchFamily="34" charset="0"/>
              </a:rPr>
              <a:t>VI.Typologie</a:t>
            </a: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 d’infractions et manifestation de la corruption dans les services douaniers (1/3)</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aphicFrame>
        <p:nvGraphicFramePr>
          <p:cNvPr id="10" name="Tableau 9">
            <a:extLst>
              <a:ext uri="{FF2B5EF4-FFF2-40B4-BE49-F238E27FC236}">
                <a16:creationId xmlns:a16="http://schemas.microsoft.com/office/drawing/2014/main" id="{4B437500-8E05-4CF2-8054-C1D2D5353825}"/>
              </a:ext>
            </a:extLst>
          </p:cNvPr>
          <p:cNvGraphicFramePr>
            <a:graphicFrameLocks noGrp="1"/>
          </p:cNvGraphicFramePr>
          <p:nvPr>
            <p:extLst>
              <p:ext uri="{D42A27DB-BD31-4B8C-83A1-F6EECF244321}">
                <p14:modId xmlns:p14="http://schemas.microsoft.com/office/powerpoint/2010/main" val="3962770268"/>
              </p:ext>
            </p:extLst>
          </p:nvPr>
        </p:nvGraphicFramePr>
        <p:xfrm>
          <a:off x="452305" y="1575674"/>
          <a:ext cx="2033074" cy="2878043"/>
        </p:xfrm>
        <a:graphic>
          <a:graphicData uri="http://schemas.openxmlformats.org/drawingml/2006/table">
            <a:tbl>
              <a:tblPr firstRow="1" firstCol="1" bandRow="1">
                <a:tableStyleId>{5C22544A-7EE6-4342-B048-85BDC9FD1C3A}</a:tableStyleId>
              </a:tblPr>
              <a:tblGrid>
                <a:gridCol w="2033074">
                  <a:extLst>
                    <a:ext uri="{9D8B030D-6E8A-4147-A177-3AD203B41FA5}">
                      <a16:colId xmlns:a16="http://schemas.microsoft.com/office/drawing/2014/main" val="691620424"/>
                    </a:ext>
                  </a:extLst>
                </a:gridCol>
              </a:tblGrid>
              <a:tr h="392277">
                <a:tc>
                  <a:txBody>
                    <a:bodyPr/>
                    <a:lstStyle/>
                    <a:p>
                      <a:pPr algn="ctr">
                        <a:lnSpc>
                          <a:spcPct val="115000"/>
                        </a:lnSpc>
                        <a:spcAft>
                          <a:spcPts val="0"/>
                        </a:spcAft>
                      </a:pPr>
                      <a:r>
                        <a:rPr lang="fr-FR" sz="1700" kern="100" dirty="0">
                          <a:solidFill>
                            <a:schemeClr val="tx1"/>
                          </a:solidFill>
                          <a:effectLst/>
                          <a:latin typeface="+mn-lt"/>
                        </a:rPr>
                        <a:t>Typologie </a:t>
                      </a:r>
                      <a:endParaRPr lang="fr-FR" sz="1700" kern="100" dirty="0">
                        <a:solidFill>
                          <a:schemeClr val="tx1"/>
                        </a:solidFill>
                        <a:effectLst/>
                        <a:latin typeface="+mn-lt"/>
                        <a:ea typeface="Times New Roman" panose="02020603050405020304" pitchFamily="18" charset="0"/>
                      </a:endParaRPr>
                    </a:p>
                  </a:txBody>
                  <a:tcPr marL="9525" marR="9525" marT="9525" marB="9525" anchor="ctr">
                    <a:solidFill>
                      <a:schemeClr val="accent2"/>
                    </a:solidFill>
                  </a:tcPr>
                </a:tc>
                <a:extLst>
                  <a:ext uri="{0D108BD9-81ED-4DB2-BD59-A6C34878D82A}">
                    <a16:rowId xmlns:a16="http://schemas.microsoft.com/office/drawing/2014/main" val="3830030949"/>
                  </a:ext>
                </a:extLst>
              </a:tr>
              <a:tr h="2485766">
                <a:tc>
                  <a:txBody>
                    <a:bodyPr/>
                    <a:lstStyle/>
                    <a:p>
                      <a:pPr>
                        <a:lnSpc>
                          <a:spcPct val="115000"/>
                        </a:lnSpc>
                        <a:spcAft>
                          <a:spcPts val="0"/>
                        </a:spcAft>
                      </a:pPr>
                      <a:r>
                        <a:rPr lang="fr-FR" sz="1700" kern="100" dirty="0">
                          <a:effectLst/>
                          <a:latin typeface="+mn-lt"/>
                          <a:ea typeface="Times New Roman" panose="02020603050405020304" pitchFamily="18" charset="0"/>
                        </a:rPr>
                        <a:t>Usage ou rétention illicites et abusifs de biens publics par un agent public (Art. 332-8)</a:t>
                      </a:r>
                    </a:p>
                  </a:txBody>
                  <a:tcPr marL="9525" marR="9525" marT="9525" marB="9525" anchor="ctr"/>
                </a:tc>
                <a:extLst>
                  <a:ext uri="{0D108BD9-81ED-4DB2-BD59-A6C34878D82A}">
                    <a16:rowId xmlns:a16="http://schemas.microsoft.com/office/drawing/2014/main" val="2824940398"/>
                  </a:ext>
                </a:extLst>
              </a:tr>
            </a:tbl>
          </a:graphicData>
        </a:graphic>
      </p:graphicFrame>
      <p:graphicFrame>
        <p:nvGraphicFramePr>
          <p:cNvPr id="14" name="Tableau 13">
            <a:extLst>
              <a:ext uri="{FF2B5EF4-FFF2-40B4-BE49-F238E27FC236}">
                <a16:creationId xmlns:a16="http://schemas.microsoft.com/office/drawing/2014/main" id="{1DD18030-5EFA-4A7D-8237-607E14F337C7}"/>
              </a:ext>
            </a:extLst>
          </p:cNvPr>
          <p:cNvGraphicFramePr>
            <a:graphicFrameLocks noGrp="1"/>
          </p:cNvGraphicFramePr>
          <p:nvPr>
            <p:extLst>
              <p:ext uri="{D42A27DB-BD31-4B8C-83A1-F6EECF244321}">
                <p14:modId xmlns:p14="http://schemas.microsoft.com/office/powerpoint/2010/main" val="2900095218"/>
              </p:ext>
            </p:extLst>
          </p:nvPr>
        </p:nvGraphicFramePr>
        <p:xfrm>
          <a:off x="2485379" y="1577058"/>
          <a:ext cx="9121152" cy="2878043"/>
        </p:xfrm>
        <a:graphic>
          <a:graphicData uri="http://schemas.openxmlformats.org/drawingml/2006/table">
            <a:tbl>
              <a:tblPr firstRow="1" firstCol="1" bandRow="1">
                <a:tableStyleId>{5C22544A-7EE6-4342-B048-85BDC9FD1C3A}</a:tableStyleId>
              </a:tblPr>
              <a:tblGrid>
                <a:gridCol w="9121152">
                  <a:extLst>
                    <a:ext uri="{9D8B030D-6E8A-4147-A177-3AD203B41FA5}">
                      <a16:colId xmlns:a16="http://schemas.microsoft.com/office/drawing/2014/main" val="2722857156"/>
                    </a:ext>
                  </a:extLst>
                </a:gridCol>
              </a:tblGrid>
              <a:tr h="392277">
                <a:tc>
                  <a:txBody>
                    <a:bodyPr/>
                    <a:lstStyle/>
                    <a:p>
                      <a:pPr algn="l">
                        <a:lnSpc>
                          <a:spcPct val="115000"/>
                        </a:lnSpc>
                        <a:spcAft>
                          <a:spcPts val="0"/>
                        </a:spcAft>
                      </a:pPr>
                      <a:r>
                        <a:rPr lang="fr-FR" sz="1700" kern="100" dirty="0">
                          <a:solidFill>
                            <a:schemeClr val="tx1"/>
                          </a:solidFill>
                          <a:effectLst/>
                          <a:latin typeface="+mn-lt"/>
                          <a:ea typeface="Times New Roman" panose="02020603050405020304" pitchFamily="18" charset="0"/>
                        </a:rPr>
                        <a:t>Manifestations dans les services douaniers (opérationnelles et observables)</a:t>
                      </a:r>
                    </a:p>
                  </a:txBody>
                  <a:tcPr marL="9525" marR="9525" marT="9525" marB="9525" anchor="ctr">
                    <a:solidFill>
                      <a:schemeClr val="accent2"/>
                    </a:solidFill>
                  </a:tcPr>
                </a:tc>
                <a:extLst>
                  <a:ext uri="{0D108BD9-81ED-4DB2-BD59-A6C34878D82A}">
                    <a16:rowId xmlns:a16="http://schemas.microsoft.com/office/drawing/2014/main" val="3830030949"/>
                  </a:ext>
                </a:extLst>
              </a:tr>
              <a:tr h="2485766">
                <a:tc>
                  <a:txBody>
                    <a:bodyPr/>
                    <a:lstStyle/>
                    <a:p>
                      <a:pPr>
                        <a:lnSpc>
                          <a:spcPct val="115000"/>
                        </a:lnSpc>
                        <a:spcAft>
                          <a:spcPts val="0"/>
                        </a:spcAft>
                      </a:pPr>
                      <a:r>
                        <a:rPr lang="fr-FR" sz="1700" kern="100" dirty="0">
                          <a:solidFill>
                            <a:schemeClr val="tx1"/>
                          </a:solidFill>
                          <a:effectLst/>
                          <a:latin typeface="+mn-lt"/>
                          <a:ea typeface="Times New Roman" panose="02020603050405020304" pitchFamily="18" charset="0"/>
                        </a:rPr>
                        <a:t>- Utilisation de véhicules douaniers pour des activités personnelles ou familiales (week-ends, cérémonies).- Prêt de motos de patrouille à des civils ou proches.- Utilisation des scanners, balances ou systèmes informatiques pour traiter des dossiers privés.- Rétention prolongée d’équipements (armes administratives, tablettes, GPS, uniformes).- Affectation illégale de biens saisis (véhicules, motos, marchandises) à des agents ou tiers.- Utilisation des locaux douaniers pour des activités commerciales privées (stockage, bureaux fictifs).</a:t>
                      </a:r>
                    </a:p>
                  </a:txBody>
                  <a:tcPr marL="9525" marR="9525" marT="9525" marB="9525" anchor="ctr">
                    <a:solidFill>
                      <a:schemeClr val="tx2">
                        <a:lumMod val="40000"/>
                        <a:lumOff val="60000"/>
                      </a:schemeClr>
                    </a:solidFill>
                  </a:tcPr>
                </a:tc>
                <a:extLst>
                  <a:ext uri="{0D108BD9-81ED-4DB2-BD59-A6C34878D82A}">
                    <a16:rowId xmlns:a16="http://schemas.microsoft.com/office/drawing/2014/main" val="2824940398"/>
                  </a:ext>
                </a:extLst>
              </a:tr>
            </a:tbl>
          </a:graphicData>
        </a:graphic>
      </p:graphicFrame>
    </p:spTree>
    <p:extLst>
      <p:ext uri="{BB962C8B-B14F-4D97-AF65-F5344CB8AC3E}">
        <p14:creationId xmlns:p14="http://schemas.microsoft.com/office/powerpoint/2010/main" val="1529828248"/>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a:cxnSpLocks/>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28</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653143" y="330331"/>
            <a:ext cx="11154227"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err="1">
                <a:solidFill>
                  <a:srgbClr val="1D1D1B"/>
                </a:solidFill>
                <a:latin typeface="Candara" panose="020E0502030303020204" pitchFamily="34" charset="0"/>
                <a:ea typeface="Open Sans" panose="020B0606030504020204" pitchFamily="34" charset="0"/>
                <a:cs typeface="Open Sans" panose="020B0606030504020204" pitchFamily="34" charset="0"/>
              </a:rPr>
              <a:t>VII.Typologie</a:t>
            </a: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 d’infractions et manifestation de la corruption dans le secteur des eaux et forets(1/1)</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aphicFrame>
        <p:nvGraphicFramePr>
          <p:cNvPr id="10" name="Tableau 9">
            <a:extLst>
              <a:ext uri="{FF2B5EF4-FFF2-40B4-BE49-F238E27FC236}">
                <a16:creationId xmlns:a16="http://schemas.microsoft.com/office/drawing/2014/main" id="{4B437500-8E05-4CF2-8054-C1D2D5353825}"/>
              </a:ext>
            </a:extLst>
          </p:cNvPr>
          <p:cNvGraphicFramePr>
            <a:graphicFrameLocks noGrp="1"/>
          </p:cNvGraphicFramePr>
          <p:nvPr>
            <p:extLst>
              <p:ext uri="{D42A27DB-BD31-4B8C-83A1-F6EECF244321}">
                <p14:modId xmlns:p14="http://schemas.microsoft.com/office/powerpoint/2010/main" val="3964143917"/>
              </p:ext>
            </p:extLst>
          </p:nvPr>
        </p:nvGraphicFramePr>
        <p:xfrm>
          <a:off x="356130" y="1575674"/>
          <a:ext cx="2104936" cy="4833836"/>
        </p:xfrm>
        <a:graphic>
          <a:graphicData uri="http://schemas.openxmlformats.org/drawingml/2006/table">
            <a:tbl>
              <a:tblPr firstRow="1" firstCol="1" bandRow="1">
                <a:tableStyleId>{5C22544A-7EE6-4342-B048-85BDC9FD1C3A}</a:tableStyleId>
              </a:tblPr>
              <a:tblGrid>
                <a:gridCol w="2104936">
                  <a:extLst>
                    <a:ext uri="{9D8B030D-6E8A-4147-A177-3AD203B41FA5}">
                      <a16:colId xmlns:a16="http://schemas.microsoft.com/office/drawing/2014/main" val="691620424"/>
                    </a:ext>
                  </a:extLst>
                </a:gridCol>
              </a:tblGrid>
              <a:tr h="353518">
                <a:tc>
                  <a:txBody>
                    <a:bodyPr/>
                    <a:lstStyle/>
                    <a:p>
                      <a:pPr algn="ctr">
                        <a:lnSpc>
                          <a:spcPct val="115000"/>
                        </a:lnSpc>
                        <a:spcAft>
                          <a:spcPts val="0"/>
                        </a:spcAft>
                      </a:pPr>
                      <a:r>
                        <a:rPr lang="fr-FR" sz="1700" kern="100" dirty="0">
                          <a:solidFill>
                            <a:schemeClr val="tx1"/>
                          </a:solidFill>
                          <a:effectLst/>
                          <a:latin typeface="+mn-lt"/>
                        </a:rPr>
                        <a:t>Typologie</a:t>
                      </a:r>
                      <a:r>
                        <a:rPr lang="fr-FR" sz="1700" kern="100" dirty="0">
                          <a:effectLst/>
                          <a:latin typeface="+mn-lt"/>
                        </a:rPr>
                        <a:t> </a:t>
                      </a:r>
                      <a:endParaRPr lang="fr-FR" sz="1700" kern="100" dirty="0">
                        <a:effectLst/>
                        <a:latin typeface="+mn-lt"/>
                        <a:ea typeface="Times New Roman" panose="02020603050405020304" pitchFamily="18" charset="0"/>
                      </a:endParaRPr>
                    </a:p>
                  </a:txBody>
                  <a:tcPr marL="9525" marR="9525" marT="9525" marB="9525" anchor="ctr">
                    <a:solidFill>
                      <a:schemeClr val="accent2"/>
                    </a:solidFill>
                  </a:tcPr>
                </a:tc>
                <a:extLst>
                  <a:ext uri="{0D108BD9-81ED-4DB2-BD59-A6C34878D82A}">
                    <a16:rowId xmlns:a16="http://schemas.microsoft.com/office/drawing/2014/main" val="3830030949"/>
                  </a:ext>
                </a:extLst>
              </a:tr>
              <a:tr h="2240159">
                <a:tc>
                  <a:txBody>
                    <a:bodyPr/>
                    <a:lstStyle/>
                    <a:p>
                      <a:pPr>
                        <a:lnSpc>
                          <a:spcPct val="115000"/>
                        </a:lnSpc>
                        <a:spcAft>
                          <a:spcPts val="0"/>
                        </a:spcAft>
                      </a:pPr>
                      <a:r>
                        <a:rPr lang="fr-FR" sz="1800" b="1" kern="1200" dirty="0">
                          <a:solidFill>
                            <a:schemeClr val="lt1"/>
                          </a:solidFill>
                          <a:effectLst/>
                          <a:latin typeface="+mn-lt"/>
                          <a:ea typeface="+mn-ea"/>
                          <a:cs typeface="+mn-cs"/>
                        </a:rPr>
                        <a:t>1.Corruption dans les autorisations forestières</a:t>
                      </a:r>
                      <a:endParaRPr lang="fr-FR" sz="1700" kern="100" dirty="0">
                        <a:effectLst/>
                        <a:latin typeface="+mn-lt"/>
                        <a:ea typeface="Times New Roman" panose="02020603050405020304" pitchFamily="18" charset="0"/>
                      </a:endParaRPr>
                    </a:p>
                  </a:txBody>
                  <a:tcPr marL="9525" marR="9525" marT="9525" marB="9525" anchor="ctr"/>
                </a:tc>
                <a:extLst>
                  <a:ext uri="{0D108BD9-81ED-4DB2-BD59-A6C34878D82A}">
                    <a16:rowId xmlns:a16="http://schemas.microsoft.com/office/drawing/2014/main" val="2824940398"/>
                  </a:ext>
                </a:extLst>
              </a:tr>
              <a:tr h="2240159">
                <a:tc>
                  <a:txBody>
                    <a:bodyPr/>
                    <a:lstStyle/>
                    <a:p>
                      <a:pPr>
                        <a:lnSpc>
                          <a:spcPct val="115000"/>
                        </a:lnSpc>
                        <a:spcAft>
                          <a:spcPts val="0"/>
                        </a:spcAft>
                      </a:pPr>
                      <a:r>
                        <a:rPr lang="fr-FR" sz="1700" kern="100" dirty="0">
                          <a:effectLst/>
                          <a:latin typeface="+mn-lt"/>
                          <a:ea typeface="Times New Roman" panose="02020603050405020304" pitchFamily="18" charset="0"/>
                        </a:rPr>
                        <a:t>2.Trafic d’influence + Trafic de produits forestiers (Art. 332-11, 332-7)</a:t>
                      </a:r>
                    </a:p>
                  </a:txBody>
                  <a:tcPr marL="9525" marR="9525" marT="9525" marB="9525" anchor="ctr"/>
                </a:tc>
                <a:extLst>
                  <a:ext uri="{0D108BD9-81ED-4DB2-BD59-A6C34878D82A}">
                    <a16:rowId xmlns:a16="http://schemas.microsoft.com/office/drawing/2014/main" val="1808790018"/>
                  </a:ext>
                </a:extLst>
              </a:tr>
            </a:tbl>
          </a:graphicData>
        </a:graphic>
      </p:graphicFrame>
      <p:graphicFrame>
        <p:nvGraphicFramePr>
          <p:cNvPr id="14" name="Tableau 13">
            <a:extLst>
              <a:ext uri="{FF2B5EF4-FFF2-40B4-BE49-F238E27FC236}">
                <a16:creationId xmlns:a16="http://schemas.microsoft.com/office/drawing/2014/main" id="{DC8B2F8D-60CB-4A48-B0A5-E1AA42B8D4D6}"/>
              </a:ext>
            </a:extLst>
          </p:cNvPr>
          <p:cNvGraphicFramePr>
            <a:graphicFrameLocks noGrp="1"/>
          </p:cNvGraphicFramePr>
          <p:nvPr>
            <p:extLst>
              <p:ext uri="{D42A27DB-BD31-4B8C-83A1-F6EECF244321}">
                <p14:modId xmlns:p14="http://schemas.microsoft.com/office/powerpoint/2010/main" val="1981422228"/>
              </p:ext>
            </p:extLst>
          </p:nvPr>
        </p:nvGraphicFramePr>
        <p:xfrm>
          <a:off x="2472585" y="1575096"/>
          <a:ext cx="9443551" cy="4833836"/>
        </p:xfrm>
        <a:graphic>
          <a:graphicData uri="http://schemas.openxmlformats.org/drawingml/2006/table">
            <a:tbl>
              <a:tblPr firstRow="1" firstCol="1" bandRow="1">
                <a:tableStyleId>{5C22544A-7EE6-4342-B048-85BDC9FD1C3A}</a:tableStyleId>
              </a:tblPr>
              <a:tblGrid>
                <a:gridCol w="9443551">
                  <a:extLst>
                    <a:ext uri="{9D8B030D-6E8A-4147-A177-3AD203B41FA5}">
                      <a16:colId xmlns:a16="http://schemas.microsoft.com/office/drawing/2014/main" val="2722857156"/>
                    </a:ext>
                  </a:extLst>
                </a:gridCol>
              </a:tblGrid>
              <a:tr h="353518">
                <a:tc>
                  <a:txBody>
                    <a:bodyPr/>
                    <a:lstStyle/>
                    <a:p>
                      <a:pPr algn="l">
                        <a:lnSpc>
                          <a:spcPct val="115000"/>
                        </a:lnSpc>
                        <a:spcAft>
                          <a:spcPts val="0"/>
                        </a:spcAft>
                      </a:pPr>
                      <a:r>
                        <a:rPr lang="fr-FR" sz="1700" kern="100" dirty="0">
                          <a:solidFill>
                            <a:schemeClr val="tx1"/>
                          </a:solidFill>
                          <a:effectLst/>
                          <a:latin typeface="+mn-lt"/>
                          <a:ea typeface="Times New Roman" panose="02020603050405020304" pitchFamily="18" charset="0"/>
                        </a:rPr>
                        <a:t>Manifestations opérationnelles dans le secteur des Eaux et Forêts</a:t>
                      </a:r>
                    </a:p>
                  </a:txBody>
                  <a:tcPr marL="9525" marR="9525" marT="9525" marB="9525" anchor="ctr">
                    <a:solidFill>
                      <a:schemeClr val="accent2"/>
                    </a:solidFill>
                  </a:tcPr>
                </a:tc>
                <a:extLst>
                  <a:ext uri="{0D108BD9-81ED-4DB2-BD59-A6C34878D82A}">
                    <a16:rowId xmlns:a16="http://schemas.microsoft.com/office/drawing/2014/main" val="3830030949"/>
                  </a:ext>
                </a:extLst>
              </a:tr>
              <a:tr h="2240159">
                <a:tc>
                  <a:txBody>
                    <a:bodyPr/>
                    <a:lstStyle/>
                    <a:p>
                      <a:pPr>
                        <a:lnSpc>
                          <a:spcPct val="115000"/>
                        </a:lnSpc>
                        <a:spcAft>
                          <a:spcPts val="0"/>
                        </a:spcAft>
                      </a:pPr>
                      <a:r>
                        <a:rPr lang="fr-FR" sz="1800" kern="0" dirty="0">
                          <a:solidFill>
                            <a:schemeClr val="tx1"/>
                          </a:solidFill>
                          <a:effectLst/>
                          <a:latin typeface="+mn-lt"/>
                          <a:ea typeface="Times New Roman" panose="02020603050405020304" pitchFamily="18" charset="0"/>
                        </a:rPr>
                        <a:t>• Octroi de permis de coupe en période de saison interdite.• Délivrance de « fiches de circulation » contre paiement informel.• Autorisations accordées sans étude préalable, sans quotas, ou à des exploitants non enregistrés.• Accélération des dossiers de certains exploitants moyennant rétribution.• Modification volontaire des volumes autorisés sur les permis (ex. passage de 10 m³ à 18 m³).• Non-contrôle volontaire des limites de zones protégées pour permettre l’exploitation illégale.</a:t>
                      </a:r>
                      <a:endParaRPr lang="fr-FR" sz="1700" kern="100" dirty="0">
                        <a:solidFill>
                          <a:schemeClr val="tx1"/>
                        </a:solidFill>
                        <a:effectLst/>
                        <a:latin typeface="+mn-lt"/>
                        <a:ea typeface="Times New Roman" panose="02020603050405020304" pitchFamily="18" charset="0"/>
                      </a:endParaRPr>
                    </a:p>
                  </a:txBody>
                  <a:tcPr marL="9525" marR="9525" marT="9525" marB="9525" anchor="ctr">
                    <a:solidFill>
                      <a:schemeClr val="tx2">
                        <a:lumMod val="40000"/>
                        <a:lumOff val="60000"/>
                      </a:schemeClr>
                    </a:solidFill>
                  </a:tcPr>
                </a:tc>
                <a:extLst>
                  <a:ext uri="{0D108BD9-81ED-4DB2-BD59-A6C34878D82A}">
                    <a16:rowId xmlns:a16="http://schemas.microsoft.com/office/drawing/2014/main" val="2824940398"/>
                  </a:ext>
                </a:extLst>
              </a:tr>
              <a:tr h="2240159">
                <a:tc>
                  <a:txBody>
                    <a:bodyPr/>
                    <a:lstStyle/>
                    <a:p>
                      <a:pPr>
                        <a:lnSpc>
                          <a:spcPct val="115000"/>
                        </a:lnSpc>
                        <a:spcAft>
                          <a:spcPts val="0"/>
                        </a:spcAft>
                      </a:pPr>
                      <a:r>
                        <a:rPr lang="fr-FR" sz="1800" kern="0" dirty="0">
                          <a:solidFill>
                            <a:schemeClr val="tx1"/>
                          </a:solidFill>
                          <a:effectLst/>
                          <a:latin typeface="+mn-lt"/>
                          <a:ea typeface="Times New Roman" panose="02020603050405020304" pitchFamily="18" charset="0"/>
                        </a:rPr>
                        <a:t>• </a:t>
                      </a:r>
                      <a:r>
                        <a:rPr lang="fr-FR" sz="1700" kern="0" dirty="0">
                          <a:solidFill>
                            <a:schemeClr val="tx1"/>
                          </a:solidFill>
                          <a:effectLst/>
                          <a:latin typeface="+mn-lt"/>
                          <a:ea typeface="Times New Roman" panose="02020603050405020304" pitchFamily="18" charset="0"/>
                        </a:rPr>
                        <a:t>Appels ou pressions hiérarchiques pour faire libérer un camion de bois saisi.• Intervention d’un agent pour éviter des sanctions contre un exploitant « protégé ».• Retrait frauduleux d’une partie de produits saisis avant inventaire ou mise en vente publique.• Disparition de scellés sur des saisies (bois, charbon, faune) en cours de procédure.• Escortes informelles assurées pour permettre à des camions de circuler dans les couloirs de contrôle.• Affectation d’agents complaisants à des postes stratégiques (barrières, pistes forestières).</a:t>
                      </a:r>
                      <a:endParaRPr lang="fr-FR" sz="1700" kern="100" dirty="0">
                        <a:solidFill>
                          <a:schemeClr val="tx1"/>
                        </a:solidFill>
                        <a:effectLst/>
                        <a:latin typeface="+mn-lt"/>
                        <a:ea typeface="Times New Roman" panose="02020603050405020304" pitchFamily="18" charset="0"/>
                      </a:endParaRPr>
                    </a:p>
                  </a:txBody>
                  <a:tcPr marL="9525" marR="9525" marT="9525" marB="9525" anchor="ctr">
                    <a:solidFill>
                      <a:schemeClr val="tx2">
                        <a:lumMod val="40000"/>
                        <a:lumOff val="60000"/>
                      </a:schemeClr>
                    </a:solidFill>
                  </a:tcPr>
                </a:tc>
                <a:extLst>
                  <a:ext uri="{0D108BD9-81ED-4DB2-BD59-A6C34878D82A}">
                    <a16:rowId xmlns:a16="http://schemas.microsoft.com/office/drawing/2014/main" val="1808790018"/>
                  </a:ext>
                </a:extLst>
              </a:tr>
            </a:tbl>
          </a:graphicData>
        </a:graphic>
      </p:graphicFrame>
    </p:spTree>
    <p:extLst>
      <p:ext uri="{BB962C8B-B14F-4D97-AF65-F5344CB8AC3E}">
        <p14:creationId xmlns:p14="http://schemas.microsoft.com/office/powerpoint/2010/main" val="1725235322"/>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a:cxnSpLocks/>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29</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653143" y="330331"/>
            <a:ext cx="11154227"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err="1">
                <a:solidFill>
                  <a:srgbClr val="1D1D1B"/>
                </a:solidFill>
                <a:latin typeface="Candara" panose="020E0502030303020204" pitchFamily="34" charset="0"/>
                <a:ea typeface="Open Sans" panose="020B0606030504020204" pitchFamily="34" charset="0"/>
                <a:cs typeface="Open Sans" panose="020B0606030504020204" pitchFamily="34" charset="0"/>
              </a:rPr>
              <a:t>VII.Typologie</a:t>
            </a: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 d’infractions et manifestation de la corruption dans le secteur des eaux et forets(1/2)</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aphicFrame>
        <p:nvGraphicFramePr>
          <p:cNvPr id="10" name="Tableau 9">
            <a:extLst>
              <a:ext uri="{FF2B5EF4-FFF2-40B4-BE49-F238E27FC236}">
                <a16:creationId xmlns:a16="http://schemas.microsoft.com/office/drawing/2014/main" id="{4B437500-8E05-4CF2-8054-C1D2D5353825}"/>
              </a:ext>
            </a:extLst>
          </p:cNvPr>
          <p:cNvGraphicFramePr>
            <a:graphicFrameLocks noGrp="1"/>
          </p:cNvGraphicFramePr>
          <p:nvPr>
            <p:extLst>
              <p:ext uri="{D42A27DB-BD31-4B8C-83A1-F6EECF244321}">
                <p14:modId xmlns:p14="http://schemas.microsoft.com/office/powerpoint/2010/main" val="2830957816"/>
              </p:ext>
            </p:extLst>
          </p:nvPr>
        </p:nvGraphicFramePr>
        <p:xfrm>
          <a:off x="356130" y="1717857"/>
          <a:ext cx="2104936" cy="2593677"/>
        </p:xfrm>
        <a:graphic>
          <a:graphicData uri="http://schemas.openxmlformats.org/drawingml/2006/table">
            <a:tbl>
              <a:tblPr firstRow="1" firstCol="1" bandRow="1">
                <a:tableStyleId>{5C22544A-7EE6-4342-B048-85BDC9FD1C3A}</a:tableStyleId>
              </a:tblPr>
              <a:tblGrid>
                <a:gridCol w="2104936">
                  <a:extLst>
                    <a:ext uri="{9D8B030D-6E8A-4147-A177-3AD203B41FA5}">
                      <a16:colId xmlns:a16="http://schemas.microsoft.com/office/drawing/2014/main" val="691620424"/>
                    </a:ext>
                  </a:extLst>
                </a:gridCol>
              </a:tblGrid>
              <a:tr h="353518">
                <a:tc>
                  <a:txBody>
                    <a:bodyPr/>
                    <a:lstStyle/>
                    <a:p>
                      <a:pPr algn="ctr">
                        <a:lnSpc>
                          <a:spcPct val="115000"/>
                        </a:lnSpc>
                        <a:spcAft>
                          <a:spcPts val="0"/>
                        </a:spcAft>
                      </a:pPr>
                      <a:r>
                        <a:rPr lang="fr-FR" sz="1700" kern="100" dirty="0">
                          <a:solidFill>
                            <a:schemeClr val="tx1"/>
                          </a:solidFill>
                          <a:effectLst/>
                          <a:latin typeface="+mn-lt"/>
                        </a:rPr>
                        <a:t>Typologie </a:t>
                      </a:r>
                      <a:endParaRPr lang="fr-FR" sz="1700" kern="100" dirty="0">
                        <a:solidFill>
                          <a:schemeClr val="tx1"/>
                        </a:solidFill>
                        <a:effectLst/>
                        <a:latin typeface="+mn-lt"/>
                        <a:ea typeface="Times New Roman" panose="02020603050405020304" pitchFamily="18" charset="0"/>
                      </a:endParaRPr>
                    </a:p>
                  </a:txBody>
                  <a:tcPr marL="9525" marR="9525" marT="9525" marB="9525" anchor="ctr">
                    <a:solidFill>
                      <a:schemeClr val="accent2"/>
                    </a:solidFill>
                  </a:tcPr>
                </a:tc>
                <a:extLst>
                  <a:ext uri="{0D108BD9-81ED-4DB2-BD59-A6C34878D82A}">
                    <a16:rowId xmlns:a16="http://schemas.microsoft.com/office/drawing/2014/main" val="3830030949"/>
                  </a:ext>
                </a:extLst>
              </a:tr>
              <a:tr h="2240159">
                <a:tc>
                  <a:txBody>
                    <a:bodyPr/>
                    <a:lstStyle/>
                    <a:p>
                      <a:pPr>
                        <a:lnSpc>
                          <a:spcPct val="115000"/>
                        </a:lnSpc>
                        <a:spcAft>
                          <a:spcPts val="0"/>
                        </a:spcAft>
                      </a:pPr>
                      <a:r>
                        <a:rPr lang="fr-FR" sz="1800" b="1" kern="1200" dirty="0">
                          <a:solidFill>
                            <a:schemeClr val="lt1"/>
                          </a:solidFill>
                          <a:effectLst/>
                          <a:latin typeface="+mn-lt"/>
                          <a:ea typeface="+mn-ea"/>
                          <a:cs typeface="+mn-cs"/>
                        </a:rPr>
                        <a:t>3.Concussion lors des contrôles (Art. 332-9)</a:t>
                      </a:r>
                      <a:endParaRPr lang="fr-FR" sz="1700" kern="100" dirty="0">
                        <a:effectLst/>
                        <a:latin typeface="+mn-lt"/>
                        <a:ea typeface="Times New Roman" panose="02020603050405020304" pitchFamily="18" charset="0"/>
                      </a:endParaRPr>
                    </a:p>
                  </a:txBody>
                  <a:tcPr marL="9525" marR="9525" marT="9525" marB="9525" anchor="ctr"/>
                </a:tc>
                <a:extLst>
                  <a:ext uri="{0D108BD9-81ED-4DB2-BD59-A6C34878D82A}">
                    <a16:rowId xmlns:a16="http://schemas.microsoft.com/office/drawing/2014/main" val="2824940398"/>
                  </a:ext>
                </a:extLst>
              </a:tr>
            </a:tbl>
          </a:graphicData>
        </a:graphic>
      </p:graphicFrame>
      <p:graphicFrame>
        <p:nvGraphicFramePr>
          <p:cNvPr id="14" name="Tableau 13">
            <a:extLst>
              <a:ext uri="{FF2B5EF4-FFF2-40B4-BE49-F238E27FC236}">
                <a16:creationId xmlns:a16="http://schemas.microsoft.com/office/drawing/2014/main" id="{1F3D396C-0CBF-49EA-990A-0DA6389ECA8F}"/>
              </a:ext>
            </a:extLst>
          </p:cNvPr>
          <p:cNvGraphicFramePr>
            <a:graphicFrameLocks noGrp="1"/>
          </p:cNvGraphicFramePr>
          <p:nvPr>
            <p:extLst>
              <p:ext uri="{D42A27DB-BD31-4B8C-83A1-F6EECF244321}">
                <p14:modId xmlns:p14="http://schemas.microsoft.com/office/powerpoint/2010/main" val="1041838604"/>
              </p:ext>
            </p:extLst>
          </p:nvPr>
        </p:nvGraphicFramePr>
        <p:xfrm>
          <a:off x="2461066" y="1717857"/>
          <a:ext cx="9443551" cy="2593677"/>
        </p:xfrm>
        <a:graphic>
          <a:graphicData uri="http://schemas.openxmlformats.org/drawingml/2006/table">
            <a:tbl>
              <a:tblPr firstRow="1" firstCol="1" bandRow="1">
                <a:tableStyleId>{5C22544A-7EE6-4342-B048-85BDC9FD1C3A}</a:tableStyleId>
              </a:tblPr>
              <a:tblGrid>
                <a:gridCol w="9443551">
                  <a:extLst>
                    <a:ext uri="{9D8B030D-6E8A-4147-A177-3AD203B41FA5}">
                      <a16:colId xmlns:a16="http://schemas.microsoft.com/office/drawing/2014/main" val="2722857156"/>
                    </a:ext>
                  </a:extLst>
                </a:gridCol>
              </a:tblGrid>
              <a:tr h="353518">
                <a:tc>
                  <a:txBody>
                    <a:bodyPr/>
                    <a:lstStyle/>
                    <a:p>
                      <a:pPr algn="l">
                        <a:lnSpc>
                          <a:spcPct val="115000"/>
                        </a:lnSpc>
                        <a:spcAft>
                          <a:spcPts val="0"/>
                        </a:spcAft>
                      </a:pPr>
                      <a:r>
                        <a:rPr lang="fr-FR" sz="1700" kern="100" dirty="0">
                          <a:solidFill>
                            <a:schemeClr val="tx1"/>
                          </a:solidFill>
                          <a:effectLst/>
                          <a:latin typeface="+mn-lt"/>
                          <a:ea typeface="Times New Roman" panose="02020603050405020304" pitchFamily="18" charset="0"/>
                        </a:rPr>
                        <a:t>Manifestations opérationnelles dans le secteur des Eaux et Forêts</a:t>
                      </a:r>
                    </a:p>
                  </a:txBody>
                  <a:tcPr marL="9525" marR="9525" marT="9525" marB="9525" anchor="ctr">
                    <a:solidFill>
                      <a:schemeClr val="accent2"/>
                    </a:solidFill>
                  </a:tcPr>
                </a:tc>
                <a:extLst>
                  <a:ext uri="{0D108BD9-81ED-4DB2-BD59-A6C34878D82A}">
                    <a16:rowId xmlns:a16="http://schemas.microsoft.com/office/drawing/2014/main" val="3830030949"/>
                  </a:ext>
                </a:extLst>
              </a:tr>
              <a:tr h="2240159">
                <a:tc>
                  <a:txBody>
                    <a:bodyPr/>
                    <a:lstStyle/>
                    <a:p>
                      <a:pPr>
                        <a:lnSpc>
                          <a:spcPct val="115000"/>
                        </a:lnSpc>
                        <a:spcAft>
                          <a:spcPts val="0"/>
                        </a:spcAft>
                      </a:pPr>
                      <a:r>
                        <a:rPr lang="fr-FR" sz="1800" kern="0" dirty="0">
                          <a:solidFill>
                            <a:schemeClr val="tx1"/>
                          </a:solidFill>
                          <a:effectLst/>
                          <a:latin typeface="+mn-lt"/>
                          <a:ea typeface="Times New Roman" panose="02020603050405020304" pitchFamily="18" charset="0"/>
                        </a:rPr>
                        <a:t>• </a:t>
                      </a:r>
                      <a:r>
                        <a:rPr lang="fr-FR" sz="1700" kern="0" dirty="0">
                          <a:solidFill>
                            <a:schemeClr val="tx1"/>
                          </a:solidFill>
                          <a:effectLst/>
                          <a:latin typeface="+mn-lt"/>
                          <a:ea typeface="Times New Roman" panose="02020603050405020304" pitchFamily="18" charset="0"/>
                        </a:rPr>
                        <a:t>Perception d’« amendes » improvisées sur les pistes forestières ou aux barrages.• Paiements illégaux pour éviter la saisie ou réduire le volume déclaré.• Montants d’amendes variables selon l’exploitant ou la tête du conducteur.• Rétention de documents (CNIB, permis, carte grise) pour obliger au paiement informel.• Extorsion en nature : prélèvement de fagots, planches, sacs de charbon, gibier en compensation illégale.• Absence de quittances officielles ou usage de carnets parallèles.</a:t>
                      </a:r>
                      <a:endParaRPr lang="fr-FR" sz="1700" kern="100" dirty="0">
                        <a:solidFill>
                          <a:schemeClr val="tx1"/>
                        </a:solidFill>
                        <a:effectLst/>
                        <a:latin typeface="+mn-lt"/>
                        <a:ea typeface="Times New Roman" panose="02020603050405020304" pitchFamily="18" charset="0"/>
                      </a:endParaRPr>
                    </a:p>
                  </a:txBody>
                  <a:tcPr marL="9525" marR="9525" marT="9525" marB="9525" anchor="ctr">
                    <a:solidFill>
                      <a:schemeClr val="tx2">
                        <a:lumMod val="40000"/>
                        <a:lumOff val="60000"/>
                      </a:schemeClr>
                    </a:solidFill>
                  </a:tcPr>
                </a:tc>
                <a:extLst>
                  <a:ext uri="{0D108BD9-81ED-4DB2-BD59-A6C34878D82A}">
                    <a16:rowId xmlns:a16="http://schemas.microsoft.com/office/drawing/2014/main" val="2824940398"/>
                  </a:ext>
                </a:extLst>
              </a:tr>
            </a:tbl>
          </a:graphicData>
        </a:graphic>
      </p:graphicFrame>
    </p:spTree>
    <p:extLst>
      <p:ext uri="{BB962C8B-B14F-4D97-AF65-F5344CB8AC3E}">
        <p14:creationId xmlns:p14="http://schemas.microsoft.com/office/powerpoint/2010/main" val="653078257"/>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a:cxnSpLocks/>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30</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653143" y="330331"/>
            <a:ext cx="11154227"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err="1">
                <a:solidFill>
                  <a:srgbClr val="1D1D1B"/>
                </a:solidFill>
                <a:latin typeface="Candara" panose="020E0502030303020204" pitchFamily="34" charset="0"/>
                <a:ea typeface="Open Sans" panose="020B0606030504020204" pitchFamily="34" charset="0"/>
                <a:cs typeface="Open Sans" panose="020B0606030504020204" pitchFamily="34" charset="0"/>
              </a:rPr>
              <a:t>VIII.Typologie</a:t>
            </a: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 d’infractions et manifestation de la corruption dans les prisons(1/1)</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aphicFrame>
        <p:nvGraphicFramePr>
          <p:cNvPr id="10" name="Tableau 9">
            <a:extLst>
              <a:ext uri="{FF2B5EF4-FFF2-40B4-BE49-F238E27FC236}">
                <a16:creationId xmlns:a16="http://schemas.microsoft.com/office/drawing/2014/main" id="{4B437500-8E05-4CF2-8054-C1D2D5353825}"/>
              </a:ext>
            </a:extLst>
          </p:cNvPr>
          <p:cNvGraphicFramePr>
            <a:graphicFrameLocks noGrp="1"/>
          </p:cNvGraphicFramePr>
          <p:nvPr>
            <p:extLst>
              <p:ext uri="{D42A27DB-BD31-4B8C-83A1-F6EECF244321}">
                <p14:modId xmlns:p14="http://schemas.microsoft.com/office/powerpoint/2010/main" val="873932891"/>
              </p:ext>
            </p:extLst>
          </p:nvPr>
        </p:nvGraphicFramePr>
        <p:xfrm>
          <a:off x="356130" y="1575674"/>
          <a:ext cx="2104936" cy="4833836"/>
        </p:xfrm>
        <a:graphic>
          <a:graphicData uri="http://schemas.openxmlformats.org/drawingml/2006/table">
            <a:tbl>
              <a:tblPr firstRow="1" firstCol="1" bandRow="1">
                <a:tableStyleId>{5C22544A-7EE6-4342-B048-85BDC9FD1C3A}</a:tableStyleId>
              </a:tblPr>
              <a:tblGrid>
                <a:gridCol w="2104936">
                  <a:extLst>
                    <a:ext uri="{9D8B030D-6E8A-4147-A177-3AD203B41FA5}">
                      <a16:colId xmlns:a16="http://schemas.microsoft.com/office/drawing/2014/main" val="691620424"/>
                    </a:ext>
                  </a:extLst>
                </a:gridCol>
              </a:tblGrid>
              <a:tr h="353518">
                <a:tc>
                  <a:txBody>
                    <a:bodyPr/>
                    <a:lstStyle/>
                    <a:p>
                      <a:pPr algn="ctr">
                        <a:lnSpc>
                          <a:spcPct val="115000"/>
                        </a:lnSpc>
                        <a:spcAft>
                          <a:spcPts val="0"/>
                        </a:spcAft>
                      </a:pPr>
                      <a:r>
                        <a:rPr lang="fr-FR" sz="1700" kern="100" dirty="0">
                          <a:solidFill>
                            <a:schemeClr val="tx1"/>
                          </a:solidFill>
                          <a:effectLst/>
                          <a:latin typeface="+mn-lt"/>
                        </a:rPr>
                        <a:t>Typologie</a:t>
                      </a:r>
                      <a:r>
                        <a:rPr lang="fr-FR" sz="1700" kern="100" dirty="0">
                          <a:effectLst/>
                          <a:latin typeface="+mn-lt"/>
                        </a:rPr>
                        <a:t> </a:t>
                      </a:r>
                      <a:endParaRPr lang="fr-FR" sz="1700" kern="100" dirty="0">
                        <a:effectLst/>
                        <a:latin typeface="+mn-lt"/>
                        <a:ea typeface="Times New Roman" panose="02020603050405020304" pitchFamily="18" charset="0"/>
                      </a:endParaRPr>
                    </a:p>
                  </a:txBody>
                  <a:tcPr marL="9525" marR="9525" marT="9525" marB="9525" anchor="ctr">
                    <a:solidFill>
                      <a:schemeClr val="accent2"/>
                    </a:solidFill>
                  </a:tcPr>
                </a:tc>
                <a:extLst>
                  <a:ext uri="{0D108BD9-81ED-4DB2-BD59-A6C34878D82A}">
                    <a16:rowId xmlns:a16="http://schemas.microsoft.com/office/drawing/2014/main" val="3830030949"/>
                  </a:ext>
                </a:extLst>
              </a:tr>
              <a:tr h="2240159">
                <a:tc>
                  <a:txBody>
                    <a:bodyPr/>
                    <a:lstStyle/>
                    <a:p>
                      <a:pPr>
                        <a:lnSpc>
                          <a:spcPct val="115000"/>
                        </a:lnSpc>
                        <a:spcAft>
                          <a:spcPts val="0"/>
                        </a:spcAft>
                      </a:pPr>
                      <a:r>
                        <a:rPr lang="fr-FR" sz="1700" b="1" kern="1200" dirty="0">
                          <a:solidFill>
                            <a:schemeClr val="lt1"/>
                          </a:solidFill>
                          <a:effectLst/>
                          <a:latin typeface="+mn-lt"/>
                          <a:ea typeface="+mn-ea"/>
                          <a:cs typeface="+mn-cs"/>
                        </a:rPr>
                        <a:t>1. Corruption passive / active</a:t>
                      </a:r>
                      <a:endParaRPr lang="fr-FR" sz="1700" kern="100" dirty="0">
                        <a:effectLst/>
                        <a:latin typeface="+mn-lt"/>
                        <a:ea typeface="Times New Roman" panose="02020603050405020304" pitchFamily="18" charset="0"/>
                      </a:endParaRPr>
                    </a:p>
                  </a:txBody>
                  <a:tcPr marL="9525" marR="9525" marT="9525" marB="9525" anchor="ctr"/>
                </a:tc>
                <a:extLst>
                  <a:ext uri="{0D108BD9-81ED-4DB2-BD59-A6C34878D82A}">
                    <a16:rowId xmlns:a16="http://schemas.microsoft.com/office/drawing/2014/main" val="2824940398"/>
                  </a:ext>
                </a:extLst>
              </a:tr>
              <a:tr h="2240159">
                <a:tc>
                  <a:txBody>
                    <a:bodyPr/>
                    <a:lstStyle/>
                    <a:p>
                      <a:pPr>
                        <a:lnSpc>
                          <a:spcPct val="115000"/>
                        </a:lnSpc>
                        <a:spcAft>
                          <a:spcPts val="0"/>
                        </a:spcAft>
                      </a:pPr>
                      <a:r>
                        <a:rPr lang="fr-FR" sz="1700" kern="0" dirty="0">
                          <a:effectLst/>
                          <a:latin typeface="+mn-lt"/>
                          <a:ea typeface="Times New Roman" panose="02020603050405020304" pitchFamily="18" charset="0"/>
                        </a:rPr>
                        <a:t>2. Népotisme</a:t>
                      </a:r>
                      <a:endParaRPr lang="fr-FR" sz="1700" kern="100" dirty="0">
                        <a:effectLst/>
                        <a:latin typeface="+mn-lt"/>
                        <a:ea typeface="Times New Roman" panose="02020603050405020304" pitchFamily="18" charset="0"/>
                      </a:endParaRPr>
                    </a:p>
                  </a:txBody>
                  <a:tcPr marL="9525" marR="9525" marT="9525" marB="9525" anchor="ctr"/>
                </a:tc>
                <a:extLst>
                  <a:ext uri="{0D108BD9-81ED-4DB2-BD59-A6C34878D82A}">
                    <a16:rowId xmlns:a16="http://schemas.microsoft.com/office/drawing/2014/main" val="1808790018"/>
                  </a:ext>
                </a:extLst>
              </a:tr>
            </a:tbl>
          </a:graphicData>
        </a:graphic>
      </p:graphicFrame>
      <p:graphicFrame>
        <p:nvGraphicFramePr>
          <p:cNvPr id="14" name="Tableau 13">
            <a:extLst>
              <a:ext uri="{FF2B5EF4-FFF2-40B4-BE49-F238E27FC236}">
                <a16:creationId xmlns:a16="http://schemas.microsoft.com/office/drawing/2014/main" id="{B262AF79-EFC1-4196-988E-46B2FD5DE659}"/>
              </a:ext>
            </a:extLst>
          </p:cNvPr>
          <p:cNvGraphicFramePr>
            <a:graphicFrameLocks noGrp="1"/>
          </p:cNvGraphicFramePr>
          <p:nvPr>
            <p:extLst>
              <p:ext uri="{D42A27DB-BD31-4B8C-83A1-F6EECF244321}">
                <p14:modId xmlns:p14="http://schemas.microsoft.com/office/powerpoint/2010/main" val="3045395299"/>
              </p:ext>
            </p:extLst>
          </p:nvPr>
        </p:nvGraphicFramePr>
        <p:xfrm>
          <a:off x="2461066" y="1575097"/>
          <a:ext cx="9443551" cy="4833836"/>
        </p:xfrm>
        <a:graphic>
          <a:graphicData uri="http://schemas.openxmlformats.org/drawingml/2006/table">
            <a:tbl>
              <a:tblPr firstRow="1" firstCol="1" bandRow="1">
                <a:tableStyleId>{5C22544A-7EE6-4342-B048-85BDC9FD1C3A}</a:tableStyleId>
              </a:tblPr>
              <a:tblGrid>
                <a:gridCol w="9443551">
                  <a:extLst>
                    <a:ext uri="{9D8B030D-6E8A-4147-A177-3AD203B41FA5}">
                      <a16:colId xmlns:a16="http://schemas.microsoft.com/office/drawing/2014/main" val="2722857156"/>
                    </a:ext>
                  </a:extLst>
                </a:gridCol>
              </a:tblGrid>
              <a:tr h="353518">
                <a:tc>
                  <a:txBody>
                    <a:bodyPr/>
                    <a:lstStyle/>
                    <a:p>
                      <a:pPr algn="l">
                        <a:lnSpc>
                          <a:spcPct val="115000"/>
                        </a:lnSpc>
                        <a:spcAft>
                          <a:spcPts val="0"/>
                        </a:spcAft>
                      </a:pPr>
                      <a:r>
                        <a:rPr lang="fr-FR" sz="1700" kern="100" dirty="0">
                          <a:solidFill>
                            <a:schemeClr val="tx1"/>
                          </a:solidFill>
                          <a:effectLst/>
                          <a:latin typeface="+mn-lt"/>
                          <a:ea typeface="Times New Roman" panose="02020603050405020304" pitchFamily="18" charset="0"/>
                        </a:rPr>
                        <a:t>Manifestations dans les prisons (opérationnelles)</a:t>
                      </a:r>
                    </a:p>
                  </a:txBody>
                  <a:tcPr marL="9525" marR="9525" marT="9525" marB="9525" anchor="ctr">
                    <a:solidFill>
                      <a:schemeClr val="accent2"/>
                    </a:solidFill>
                  </a:tcPr>
                </a:tc>
                <a:extLst>
                  <a:ext uri="{0D108BD9-81ED-4DB2-BD59-A6C34878D82A}">
                    <a16:rowId xmlns:a16="http://schemas.microsoft.com/office/drawing/2014/main" val="3830030949"/>
                  </a:ext>
                </a:extLst>
              </a:tr>
              <a:tr h="2240159">
                <a:tc>
                  <a:txBody>
                    <a:bodyPr/>
                    <a:lstStyle/>
                    <a:p>
                      <a:pPr>
                        <a:lnSpc>
                          <a:spcPct val="115000"/>
                        </a:lnSpc>
                        <a:spcAft>
                          <a:spcPts val="0"/>
                        </a:spcAft>
                      </a:pPr>
                      <a:r>
                        <a:rPr lang="fr-FR" sz="1700" kern="0" dirty="0">
                          <a:solidFill>
                            <a:schemeClr val="tx1"/>
                          </a:solidFill>
                          <a:effectLst/>
                          <a:latin typeface="+mn-lt"/>
                          <a:ea typeface="Times New Roman" panose="02020603050405020304" pitchFamily="18" charset="0"/>
                        </a:rPr>
                        <a:t>- Paiement par des détenus pour introduire téléphones, drogues, alcool, repas- Corruption de surveillants pour obtenir des permissions de sortie illégales- Monnayage de l’accès aux soins, douches, ateliers, parloirs “VIP”- Paiement pour éviter les corvées ou sanctions disciplinaires</a:t>
                      </a:r>
                      <a:endParaRPr lang="fr-FR" sz="1700" kern="100" dirty="0">
                        <a:solidFill>
                          <a:schemeClr val="tx1"/>
                        </a:solidFill>
                        <a:effectLst/>
                        <a:latin typeface="+mn-lt"/>
                        <a:ea typeface="Times New Roman" panose="02020603050405020304" pitchFamily="18" charset="0"/>
                      </a:endParaRPr>
                    </a:p>
                  </a:txBody>
                  <a:tcPr marL="9525" marR="9525" marT="9525" marB="9525" anchor="ctr">
                    <a:solidFill>
                      <a:schemeClr val="tx2">
                        <a:lumMod val="40000"/>
                        <a:lumOff val="60000"/>
                      </a:schemeClr>
                    </a:solidFill>
                  </a:tcPr>
                </a:tc>
                <a:extLst>
                  <a:ext uri="{0D108BD9-81ED-4DB2-BD59-A6C34878D82A}">
                    <a16:rowId xmlns:a16="http://schemas.microsoft.com/office/drawing/2014/main" val="2824940398"/>
                  </a:ext>
                </a:extLst>
              </a:tr>
              <a:tr h="2240159">
                <a:tc>
                  <a:txBody>
                    <a:bodyPr/>
                    <a:lstStyle/>
                    <a:p>
                      <a:pPr>
                        <a:lnSpc>
                          <a:spcPct val="115000"/>
                        </a:lnSpc>
                        <a:spcAft>
                          <a:spcPts val="0"/>
                        </a:spcAft>
                      </a:pPr>
                      <a:r>
                        <a:rPr lang="fr-FR" sz="1700" kern="0" dirty="0">
                          <a:solidFill>
                            <a:schemeClr val="tx1"/>
                          </a:solidFill>
                          <a:effectLst/>
                          <a:latin typeface="+mn-lt"/>
                          <a:ea typeface="Times New Roman" panose="02020603050405020304" pitchFamily="18" charset="0"/>
                        </a:rPr>
                        <a:t>- Affectation de parents à des postes lucratifs (régie, cantine, visites)- Avantages accordés aux détenus parents ou proches (meilleure cellule, visites facilitée)- Recrutement ou promotion de parents sans respect des critères</a:t>
                      </a:r>
                      <a:endParaRPr lang="fr-FR" sz="1700" kern="100" dirty="0">
                        <a:solidFill>
                          <a:schemeClr val="tx1"/>
                        </a:solidFill>
                        <a:effectLst/>
                        <a:latin typeface="+mn-lt"/>
                        <a:ea typeface="Times New Roman" panose="02020603050405020304" pitchFamily="18" charset="0"/>
                      </a:endParaRPr>
                    </a:p>
                  </a:txBody>
                  <a:tcPr marL="9525" marR="9525" marT="9525" marB="9525" anchor="ctr">
                    <a:solidFill>
                      <a:schemeClr val="tx2">
                        <a:lumMod val="40000"/>
                        <a:lumOff val="60000"/>
                      </a:schemeClr>
                    </a:solidFill>
                  </a:tcPr>
                </a:tc>
                <a:extLst>
                  <a:ext uri="{0D108BD9-81ED-4DB2-BD59-A6C34878D82A}">
                    <a16:rowId xmlns:a16="http://schemas.microsoft.com/office/drawing/2014/main" val="1808790018"/>
                  </a:ext>
                </a:extLst>
              </a:tr>
            </a:tbl>
          </a:graphicData>
        </a:graphic>
      </p:graphicFrame>
    </p:spTree>
    <p:extLst>
      <p:ext uri="{BB962C8B-B14F-4D97-AF65-F5344CB8AC3E}">
        <p14:creationId xmlns:p14="http://schemas.microsoft.com/office/powerpoint/2010/main" val="2394342631"/>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a:cxnSpLocks/>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31</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653143" y="330331"/>
            <a:ext cx="11154227"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err="1">
                <a:solidFill>
                  <a:srgbClr val="1D1D1B"/>
                </a:solidFill>
                <a:latin typeface="Candara" panose="020E0502030303020204" pitchFamily="34" charset="0"/>
                <a:ea typeface="Open Sans" panose="020B0606030504020204" pitchFamily="34" charset="0"/>
                <a:cs typeface="Open Sans" panose="020B0606030504020204" pitchFamily="34" charset="0"/>
              </a:rPr>
              <a:t>VIII.Typologie</a:t>
            </a: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 d’infractions et manifestation de la corruption dans les prisons(1/2)</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aphicFrame>
        <p:nvGraphicFramePr>
          <p:cNvPr id="10" name="Tableau 9">
            <a:extLst>
              <a:ext uri="{FF2B5EF4-FFF2-40B4-BE49-F238E27FC236}">
                <a16:creationId xmlns:a16="http://schemas.microsoft.com/office/drawing/2014/main" id="{4B437500-8E05-4CF2-8054-C1D2D5353825}"/>
              </a:ext>
            </a:extLst>
          </p:cNvPr>
          <p:cNvGraphicFramePr>
            <a:graphicFrameLocks noGrp="1"/>
          </p:cNvGraphicFramePr>
          <p:nvPr>
            <p:extLst>
              <p:ext uri="{D42A27DB-BD31-4B8C-83A1-F6EECF244321}">
                <p14:modId xmlns:p14="http://schemas.microsoft.com/office/powerpoint/2010/main" val="1603893909"/>
              </p:ext>
            </p:extLst>
          </p:nvPr>
        </p:nvGraphicFramePr>
        <p:xfrm>
          <a:off x="356130" y="1575674"/>
          <a:ext cx="2104936" cy="4833836"/>
        </p:xfrm>
        <a:graphic>
          <a:graphicData uri="http://schemas.openxmlformats.org/drawingml/2006/table">
            <a:tbl>
              <a:tblPr firstRow="1" firstCol="1" bandRow="1">
                <a:tableStyleId>{5C22544A-7EE6-4342-B048-85BDC9FD1C3A}</a:tableStyleId>
              </a:tblPr>
              <a:tblGrid>
                <a:gridCol w="2104936">
                  <a:extLst>
                    <a:ext uri="{9D8B030D-6E8A-4147-A177-3AD203B41FA5}">
                      <a16:colId xmlns:a16="http://schemas.microsoft.com/office/drawing/2014/main" val="691620424"/>
                    </a:ext>
                  </a:extLst>
                </a:gridCol>
              </a:tblGrid>
              <a:tr h="353518">
                <a:tc>
                  <a:txBody>
                    <a:bodyPr/>
                    <a:lstStyle/>
                    <a:p>
                      <a:pPr algn="ctr">
                        <a:lnSpc>
                          <a:spcPct val="115000"/>
                        </a:lnSpc>
                        <a:spcAft>
                          <a:spcPts val="0"/>
                        </a:spcAft>
                      </a:pPr>
                      <a:r>
                        <a:rPr lang="fr-FR" sz="1700" kern="100" dirty="0">
                          <a:solidFill>
                            <a:schemeClr val="tx1"/>
                          </a:solidFill>
                          <a:effectLst/>
                          <a:latin typeface="+mn-lt"/>
                        </a:rPr>
                        <a:t>Typologie</a:t>
                      </a:r>
                      <a:r>
                        <a:rPr lang="fr-FR" sz="1700" kern="100" dirty="0">
                          <a:effectLst/>
                          <a:latin typeface="+mn-lt"/>
                        </a:rPr>
                        <a:t> </a:t>
                      </a:r>
                      <a:endParaRPr lang="fr-FR" sz="1700" kern="100" dirty="0">
                        <a:effectLst/>
                        <a:latin typeface="+mn-lt"/>
                        <a:ea typeface="Times New Roman" panose="02020603050405020304" pitchFamily="18" charset="0"/>
                      </a:endParaRPr>
                    </a:p>
                  </a:txBody>
                  <a:tcPr marL="9525" marR="9525" marT="9525" marB="9525" anchor="ctr">
                    <a:solidFill>
                      <a:schemeClr val="accent2"/>
                    </a:solidFill>
                  </a:tcPr>
                </a:tc>
                <a:extLst>
                  <a:ext uri="{0D108BD9-81ED-4DB2-BD59-A6C34878D82A}">
                    <a16:rowId xmlns:a16="http://schemas.microsoft.com/office/drawing/2014/main" val="3830030949"/>
                  </a:ext>
                </a:extLst>
              </a:tr>
              <a:tr h="2240159">
                <a:tc>
                  <a:txBody>
                    <a:bodyPr/>
                    <a:lstStyle/>
                    <a:p>
                      <a:pPr>
                        <a:lnSpc>
                          <a:spcPct val="115000"/>
                        </a:lnSpc>
                        <a:spcAft>
                          <a:spcPts val="0"/>
                        </a:spcAft>
                      </a:pPr>
                      <a:r>
                        <a:rPr lang="fr-FR" sz="1700" kern="0" dirty="0">
                          <a:effectLst/>
                          <a:latin typeface="Arial" panose="020B0604020202020204" pitchFamily="34" charset="0"/>
                          <a:ea typeface="Times New Roman" panose="02020603050405020304" pitchFamily="18" charset="0"/>
                        </a:rPr>
                        <a:t>3. Favoritisme</a:t>
                      </a:r>
                      <a:endParaRPr lang="fr-FR" sz="1700" kern="100" dirty="0">
                        <a:effectLst/>
                        <a:latin typeface="+mn-lt"/>
                        <a:ea typeface="Times New Roman" panose="02020603050405020304" pitchFamily="18" charset="0"/>
                      </a:endParaRPr>
                    </a:p>
                  </a:txBody>
                  <a:tcPr marL="9525" marR="9525" marT="9525" marB="9525" anchor="ctr"/>
                </a:tc>
                <a:extLst>
                  <a:ext uri="{0D108BD9-81ED-4DB2-BD59-A6C34878D82A}">
                    <a16:rowId xmlns:a16="http://schemas.microsoft.com/office/drawing/2014/main" val="2824940398"/>
                  </a:ext>
                </a:extLst>
              </a:tr>
              <a:tr h="2240159">
                <a:tc>
                  <a:txBody>
                    <a:bodyPr/>
                    <a:lstStyle/>
                    <a:p>
                      <a:pPr>
                        <a:lnSpc>
                          <a:spcPct val="115000"/>
                        </a:lnSpc>
                        <a:spcAft>
                          <a:spcPts val="0"/>
                        </a:spcAft>
                      </a:pPr>
                      <a:r>
                        <a:rPr lang="fr-FR" sz="1700" kern="0" dirty="0">
                          <a:effectLst/>
                          <a:latin typeface="Arial" panose="020B0604020202020204" pitchFamily="34" charset="0"/>
                          <a:ea typeface="Times New Roman" panose="02020603050405020304" pitchFamily="18" charset="0"/>
                        </a:rPr>
                        <a:t>4. Abus de fonction</a:t>
                      </a:r>
                      <a:endParaRPr lang="fr-FR" sz="1700" kern="100" dirty="0">
                        <a:effectLst/>
                        <a:latin typeface="+mn-lt"/>
                        <a:ea typeface="Times New Roman" panose="02020603050405020304" pitchFamily="18" charset="0"/>
                      </a:endParaRPr>
                    </a:p>
                  </a:txBody>
                  <a:tcPr marL="9525" marR="9525" marT="9525" marB="9525" anchor="ctr"/>
                </a:tc>
                <a:extLst>
                  <a:ext uri="{0D108BD9-81ED-4DB2-BD59-A6C34878D82A}">
                    <a16:rowId xmlns:a16="http://schemas.microsoft.com/office/drawing/2014/main" val="1808790018"/>
                  </a:ext>
                </a:extLst>
              </a:tr>
            </a:tbl>
          </a:graphicData>
        </a:graphic>
      </p:graphicFrame>
      <p:graphicFrame>
        <p:nvGraphicFramePr>
          <p:cNvPr id="14" name="Tableau 13">
            <a:extLst>
              <a:ext uri="{FF2B5EF4-FFF2-40B4-BE49-F238E27FC236}">
                <a16:creationId xmlns:a16="http://schemas.microsoft.com/office/drawing/2014/main" id="{954E3ED6-BCA8-4AB1-815E-C973FCBAA316}"/>
              </a:ext>
            </a:extLst>
          </p:cNvPr>
          <p:cNvGraphicFramePr>
            <a:graphicFrameLocks noGrp="1"/>
          </p:cNvGraphicFramePr>
          <p:nvPr>
            <p:extLst>
              <p:ext uri="{D42A27DB-BD31-4B8C-83A1-F6EECF244321}">
                <p14:modId xmlns:p14="http://schemas.microsoft.com/office/powerpoint/2010/main" val="3035985895"/>
              </p:ext>
            </p:extLst>
          </p:nvPr>
        </p:nvGraphicFramePr>
        <p:xfrm>
          <a:off x="2472585" y="1579118"/>
          <a:ext cx="9443551" cy="4833836"/>
        </p:xfrm>
        <a:graphic>
          <a:graphicData uri="http://schemas.openxmlformats.org/drawingml/2006/table">
            <a:tbl>
              <a:tblPr firstRow="1" firstCol="1" bandRow="1">
                <a:tableStyleId>{5C22544A-7EE6-4342-B048-85BDC9FD1C3A}</a:tableStyleId>
              </a:tblPr>
              <a:tblGrid>
                <a:gridCol w="9443551">
                  <a:extLst>
                    <a:ext uri="{9D8B030D-6E8A-4147-A177-3AD203B41FA5}">
                      <a16:colId xmlns:a16="http://schemas.microsoft.com/office/drawing/2014/main" val="2722857156"/>
                    </a:ext>
                  </a:extLst>
                </a:gridCol>
              </a:tblGrid>
              <a:tr h="353518">
                <a:tc>
                  <a:txBody>
                    <a:bodyPr/>
                    <a:lstStyle/>
                    <a:p>
                      <a:pPr algn="l">
                        <a:lnSpc>
                          <a:spcPct val="115000"/>
                        </a:lnSpc>
                        <a:spcAft>
                          <a:spcPts val="0"/>
                        </a:spcAft>
                      </a:pPr>
                      <a:r>
                        <a:rPr lang="fr-FR" sz="1700" kern="100" dirty="0">
                          <a:solidFill>
                            <a:schemeClr val="tx1"/>
                          </a:solidFill>
                          <a:effectLst/>
                          <a:latin typeface="+mn-lt"/>
                          <a:ea typeface="Times New Roman" panose="02020603050405020304" pitchFamily="18" charset="0"/>
                        </a:rPr>
                        <a:t>Manifestations dans les prisons (opérationnelles)</a:t>
                      </a:r>
                    </a:p>
                  </a:txBody>
                  <a:tcPr marL="9525" marR="9525" marT="9525" marB="9525" anchor="ctr">
                    <a:solidFill>
                      <a:schemeClr val="accent2"/>
                    </a:solidFill>
                  </a:tcPr>
                </a:tc>
                <a:extLst>
                  <a:ext uri="{0D108BD9-81ED-4DB2-BD59-A6C34878D82A}">
                    <a16:rowId xmlns:a16="http://schemas.microsoft.com/office/drawing/2014/main" val="3830030949"/>
                  </a:ext>
                </a:extLst>
              </a:tr>
              <a:tr h="2240159">
                <a:tc>
                  <a:txBody>
                    <a:bodyPr/>
                    <a:lstStyle/>
                    <a:p>
                      <a:pPr>
                        <a:lnSpc>
                          <a:spcPct val="115000"/>
                        </a:lnSpc>
                        <a:spcAft>
                          <a:spcPts val="0"/>
                        </a:spcAft>
                      </a:pPr>
                      <a:r>
                        <a:rPr lang="fr-FR" sz="1700" kern="0" dirty="0">
                          <a:solidFill>
                            <a:schemeClr val="tx1"/>
                          </a:solidFill>
                          <a:effectLst/>
                          <a:latin typeface="+mn-lt"/>
                          <a:ea typeface="Times New Roman" panose="02020603050405020304" pitchFamily="18" charset="0"/>
                        </a:rPr>
                        <a:t>- Accès privilégié de certains détenus aux ateliers rémunérés- Privilèges accordés à des groupes (cellules moins surpeuplées, mouvements facilités)- Attribution de marchés internes (cantine, restauration, entretien) à des prestataires protégés</a:t>
                      </a:r>
                      <a:endParaRPr lang="fr-FR" sz="1700" kern="100" dirty="0">
                        <a:solidFill>
                          <a:schemeClr val="tx1"/>
                        </a:solidFill>
                        <a:effectLst/>
                        <a:latin typeface="+mn-lt"/>
                        <a:ea typeface="Times New Roman" panose="02020603050405020304" pitchFamily="18" charset="0"/>
                      </a:endParaRPr>
                    </a:p>
                  </a:txBody>
                  <a:tcPr marL="9525" marR="9525" marT="9525" marB="9525" anchor="ctr">
                    <a:solidFill>
                      <a:schemeClr val="tx2">
                        <a:lumMod val="40000"/>
                        <a:lumOff val="60000"/>
                      </a:schemeClr>
                    </a:solidFill>
                  </a:tcPr>
                </a:tc>
                <a:extLst>
                  <a:ext uri="{0D108BD9-81ED-4DB2-BD59-A6C34878D82A}">
                    <a16:rowId xmlns:a16="http://schemas.microsoft.com/office/drawing/2014/main" val="2824940398"/>
                  </a:ext>
                </a:extLst>
              </a:tr>
              <a:tr h="2240159">
                <a:tc>
                  <a:txBody>
                    <a:bodyPr/>
                    <a:lstStyle/>
                    <a:p>
                      <a:pPr>
                        <a:lnSpc>
                          <a:spcPct val="115000"/>
                        </a:lnSpc>
                        <a:spcAft>
                          <a:spcPts val="0"/>
                        </a:spcAft>
                      </a:pPr>
                      <a:r>
                        <a:rPr lang="fr-FR" sz="1700" kern="100" dirty="0">
                          <a:solidFill>
                            <a:schemeClr val="tx1"/>
                          </a:solidFill>
                          <a:effectLst/>
                          <a:latin typeface="+mn-lt"/>
                          <a:ea typeface="Times New Roman" panose="02020603050405020304" pitchFamily="18" charset="0"/>
                        </a:rPr>
                        <a:t>- Sanctions disciplinaires abusives ou sélectives- Interventions irrégulières dans les décisions médicales ou sociales- Imposition de tâches personnelles aux détenus (travaux privés, gardiennage)- Utilisation des véhicules du service à des fins privées</a:t>
                      </a:r>
                    </a:p>
                  </a:txBody>
                  <a:tcPr marL="9525" marR="9525" marT="9525" marB="9525" anchor="ctr">
                    <a:solidFill>
                      <a:schemeClr val="tx2">
                        <a:lumMod val="40000"/>
                        <a:lumOff val="60000"/>
                      </a:schemeClr>
                    </a:solidFill>
                  </a:tcPr>
                </a:tc>
                <a:extLst>
                  <a:ext uri="{0D108BD9-81ED-4DB2-BD59-A6C34878D82A}">
                    <a16:rowId xmlns:a16="http://schemas.microsoft.com/office/drawing/2014/main" val="1808790018"/>
                  </a:ext>
                </a:extLst>
              </a:tr>
            </a:tbl>
          </a:graphicData>
        </a:graphic>
      </p:graphicFrame>
    </p:spTree>
    <p:extLst>
      <p:ext uri="{BB962C8B-B14F-4D97-AF65-F5344CB8AC3E}">
        <p14:creationId xmlns:p14="http://schemas.microsoft.com/office/powerpoint/2010/main" val="1979567006"/>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716F-93F2-780D-3358-EC5D69B46C73}"/>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6920B3FA-5A2B-6D08-5594-FA5C0CA61111}"/>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CE1A8DC4-6B67-06A5-68A2-107282D72A60}"/>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9B4BA725-D18B-F855-237D-29D34E874475}"/>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DE242697-D02E-BBE0-7BCD-0C5B1CEA6E13}"/>
              </a:ext>
            </a:extLst>
          </p:cNvPr>
          <p:cNvSpPr txBox="1"/>
          <p:nvPr/>
        </p:nvSpPr>
        <p:spPr>
          <a:xfrm>
            <a:off x="4640308" y="6638240"/>
            <a:ext cx="2911374"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1BC0F04D-1A81-3DD5-9A7D-2416012F41B5}"/>
              </a:ext>
            </a:extLst>
          </p:cNvPr>
          <p:cNvCxnSpPr>
            <a:cxnSpLocks/>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6202DC0-DEFE-BD67-0BF5-6E98CFDFD844}"/>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49E6E5CB-FFB3-CC2C-EABF-169FAE45E15C}"/>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2B6E81BA-0FD9-06A2-8335-04D3D48C74AF}"/>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32</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06529D2E-2617-4825-B108-ED36F9E3E229}"/>
              </a:ext>
            </a:extLst>
          </p:cNvPr>
          <p:cNvSpPr/>
          <p:nvPr/>
        </p:nvSpPr>
        <p:spPr>
          <a:xfrm>
            <a:off x="653143" y="330331"/>
            <a:ext cx="11154227" cy="95383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VIII. Typologie d’infractions et manifestation de la corruption dans les prisons(1/3)</a:t>
            </a:r>
          </a:p>
        </p:txBody>
      </p:sp>
      <p:pic>
        <p:nvPicPr>
          <p:cNvPr id="2" name="Image 1">
            <a:extLst>
              <a:ext uri="{FF2B5EF4-FFF2-40B4-BE49-F238E27FC236}">
                <a16:creationId xmlns:a16="http://schemas.microsoft.com/office/drawing/2014/main" id="{49A43B61-E40B-DC60-A097-847C3EAFCD8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aphicFrame>
        <p:nvGraphicFramePr>
          <p:cNvPr id="10" name="Tableau 9">
            <a:extLst>
              <a:ext uri="{FF2B5EF4-FFF2-40B4-BE49-F238E27FC236}">
                <a16:creationId xmlns:a16="http://schemas.microsoft.com/office/drawing/2014/main" id="{4B437500-8E05-4CF2-8054-C1D2D5353825}"/>
              </a:ext>
            </a:extLst>
          </p:cNvPr>
          <p:cNvGraphicFramePr>
            <a:graphicFrameLocks noGrp="1"/>
          </p:cNvGraphicFramePr>
          <p:nvPr>
            <p:extLst>
              <p:ext uri="{D42A27DB-BD31-4B8C-83A1-F6EECF244321}">
                <p14:modId xmlns:p14="http://schemas.microsoft.com/office/powerpoint/2010/main" val="3043196719"/>
              </p:ext>
            </p:extLst>
          </p:nvPr>
        </p:nvGraphicFramePr>
        <p:xfrm>
          <a:off x="356130" y="1575674"/>
          <a:ext cx="2104936" cy="4677079"/>
        </p:xfrm>
        <a:graphic>
          <a:graphicData uri="http://schemas.openxmlformats.org/drawingml/2006/table">
            <a:tbl>
              <a:tblPr firstRow="1" firstCol="1" bandRow="1">
                <a:tableStyleId>{5C22544A-7EE6-4342-B048-85BDC9FD1C3A}</a:tableStyleId>
              </a:tblPr>
              <a:tblGrid>
                <a:gridCol w="2104936">
                  <a:extLst>
                    <a:ext uri="{9D8B030D-6E8A-4147-A177-3AD203B41FA5}">
                      <a16:colId xmlns:a16="http://schemas.microsoft.com/office/drawing/2014/main" val="691620424"/>
                    </a:ext>
                  </a:extLst>
                </a:gridCol>
              </a:tblGrid>
              <a:tr h="370225">
                <a:tc>
                  <a:txBody>
                    <a:bodyPr/>
                    <a:lstStyle/>
                    <a:p>
                      <a:pPr algn="ctr">
                        <a:lnSpc>
                          <a:spcPct val="115000"/>
                        </a:lnSpc>
                        <a:spcAft>
                          <a:spcPts val="0"/>
                        </a:spcAft>
                      </a:pPr>
                      <a:r>
                        <a:rPr lang="fr-FR" sz="1700" kern="100" dirty="0">
                          <a:solidFill>
                            <a:schemeClr val="tx1"/>
                          </a:solidFill>
                          <a:effectLst/>
                          <a:latin typeface="+mn-lt"/>
                        </a:rPr>
                        <a:t>Typologie </a:t>
                      </a:r>
                      <a:endParaRPr lang="fr-FR" sz="1700" kern="100" dirty="0">
                        <a:solidFill>
                          <a:schemeClr val="tx1"/>
                        </a:solidFill>
                        <a:effectLst/>
                        <a:latin typeface="+mn-lt"/>
                        <a:ea typeface="Times New Roman" panose="02020603050405020304" pitchFamily="18" charset="0"/>
                      </a:endParaRPr>
                    </a:p>
                  </a:txBody>
                  <a:tcPr marL="9525" marR="9525" marT="9525" marB="9525" anchor="ctr">
                    <a:solidFill>
                      <a:schemeClr val="accent2"/>
                    </a:solidFill>
                  </a:tcPr>
                </a:tc>
                <a:extLst>
                  <a:ext uri="{0D108BD9-81ED-4DB2-BD59-A6C34878D82A}">
                    <a16:rowId xmlns:a16="http://schemas.microsoft.com/office/drawing/2014/main" val="3830030949"/>
                  </a:ext>
                </a:extLst>
              </a:tr>
              <a:tr h="1435618">
                <a:tc>
                  <a:txBody>
                    <a:bodyPr/>
                    <a:lstStyle/>
                    <a:p>
                      <a:pPr>
                        <a:lnSpc>
                          <a:spcPct val="115000"/>
                        </a:lnSpc>
                        <a:spcAft>
                          <a:spcPts val="0"/>
                        </a:spcAft>
                      </a:pPr>
                      <a:r>
                        <a:rPr lang="fr-FR" sz="1700" kern="100" dirty="0">
                          <a:effectLst/>
                          <a:latin typeface="+mn-lt"/>
                          <a:ea typeface="Times New Roman" panose="02020603050405020304" pitchFamily="18" charset="0"/>
                        </a:rPr>
                        <a:t>5. Détournement de biens publics</a:t>
                      </a:r>
                    </a:p>
                  </a:txBody>
                  <a:tcPr marL="9525" marR="9525" marT="9525" marB="9525" anchor="ctr"/>
                </a:tc>
                <a:extLst>
                  <a:ext uri="{0D108BD9-81ED-4DB2-BD59-A6C34878D82A}">
                    <a16:rowId xmlns:a16="http://schemas.microsoft.com/office/drawing/2014/main" val="2824940398"/>
                  </a:ext>
                </a:extLst>
              </a:tr>
              <a:tr h="1435618">
                <a:tc>
                  <a:txBody>
                    <a:bodyPr/>
                    <a:lstStyle/>
                    <a:p>
                      <a:pPr>
                        <a:lnSpc>
                          <a:spcPct val="115000"/>
                        </a:lnSpc>
                        <a:spcAft>
                          <a:spcPts val="0"/>
                        </a:spcAft>
                      </a:pPr>
                      <a:r>
                        <a:rPr lang="fr-FR" sz="1700" kern="100" dirty="0">
                          <a:effectLst/>
                          <a:latin typeface="+mn-lt"/>
                          <a:ea typeface="Times New Roman" panose="02020603050405020304" pitchFamily="18" charset="0"/>
                        </a:rPr>
                        <a:t>6. Soustraction de biens confiés</a:t>
                      </a:r>
                    </a:p>
                  </a:txBody>
                  <a:tcPr marL="9525" marR="9525" marT="9525" marB="9525" anchor="ctr"/>
                </a:tc>
                <a:extLst>
                  <a:ext uri="{0D108BD9-81ED-4DB2-BD59-A6C34878D82A}">
                    <a16:rowId xmlns:a16="http://schemas.microsoft.com/office/drawing/2014/main" val="1808790018"/>
                  </a:ext>
                </a:extLst>
              </a:tr>
              <a:tr h="1435618">
                <a:tc>
                  <a:txBody>
                    <a:bodyPr/>
                    <a:lstStyle/>
                    <a:p>
                      <a:pPr>
                        <a:lnSpc>
                          <a:spcPct val="115000"/>
                        </a:lnSpc>
                        <a:spcAft>
                          <a:spcPts val="0"/>
                        </a:spcAft>
                      </a:pPr>
                      <a:r>
                        <a:rPr lang="fr-FR" sz="1700" kern="100" dirty="0">
                          <a:effectLst/>
                          <a:latin typeface="+mn-lt"/>
                          <a:ea typeface="Times New Roman" panose="02020603050405020304" pitchFamily="18" charset="0"/>
                        </a:rPr>
                        <a:t>7. Trafic d’influence</a:t>
                      </a:r>
                    </a:p>
                  </a:txBody>
                  <a:tcPr marL="9525" marR="9525" marT="9525" marB="9525" anchor="ctr"/>
                </a:tc>
                <a:extLst>
                  <a:ext uri="{0D108BD9-81ED-4DB2-BD59-A6C34878D82A}">
                    <a16:rowId xmlns:a16="http://schemas.microsoft.com/office/drawing/2014/main" val="453138758"/>
                  </a:ext>
                </a:extLst>
              </a:tr>
            </a:tbl>
          </a:graphicData>
        </a:graphic>
      </p:graphicFrame>
      <p:graphicFrame>
        <p:nvGraphicFramePr>
          <p:cNvPr id="14" name="Tableau 13">
            <a:extLst>
              <a:ext uri="{FF2B5EF4-FFF2-40B4-BE49-F238E27FC236}">
                <a16:creationId xmlns:a16="http://schemas.microsoft.com/office/drawing/2014/main" id="{ADF2477D-0382-4F0D-A53A-4215464C136A}"/>
              </a:ext>
            </a:extLst>
          </p:cNvPr>
          <p:cNvGraphicFramePr>
            <a:graphicFrameLocks noGrp="1"/>
          </p:cNvGraphicFramePr>
          <p:nvPr>
            <p:extLst>
              <p:ext uri="{D42A27DB-BD31-4B8C-83A1-F6EECF244321}">
                <p14:modId xmlns:p14="http://schemas.microsoft.com/office/powerpoint/2010/main" val="740274498"/>
              </p:ext>
            </p:extLst>
          </p:nvPr>
        </p:nvGraphicFramePr>
        <p:xfrm>
          <a:off x="2463876" y="1575674"/>
          <a:ext cx="9443551" cy="4677079"/>
        </p:xfrm>
        <a:graphic>
          <a:graphicData uri="http://schemas.openxmlformats.org/drawingml/2006/table">
            <a:tbl>
              <a:tblPr firstRow="1" firstCol="1" bandRow="1">
                <a:tableStyleId>{5C22544A-7EE6-4342-B048-85BDC9FD1C3A}</a:tableStyleId>
              </a:tblPr>
              <a:tblGrid>
                <a:gridCol w="9443551">
                  <a:extLst>
                    <a:ext uri="{9D8B030D-6E8A-4147-A177-3AD203B41FA5}">
                      <a16:colId xmlns:a16="http://schemas.microsoft.com/office/drawing/2014/main" val="2722857156"/>
                    </a:ext>
                  </a:extLst>
                </a:gridCol>
              </a:tblGrid>
              <a:tr h="370225">
                <a:tc>
                  <a:txBody>
                    <a:bodyPr/>
                    <a:lstStyle/>
                    <a:p>
                      <a:pPr algn="l">
                        <a:lnSpc>
                          <a:spcPct val="115000"/>
                        </a:lnSpc>
                        <a:spcAft>
                          <a:spcPts val="0"/>
                        </a:spcAft>
                      </a:pPr>
                      <a:r>
                        <a:rPr lang="fr-FR" sz="1700" kern="100" dirty="0">
                          <a:solidFill>
                            <a:schemeClr val="tx1"/>
                          </a:solidFill>
                          <a:effectLst/>
                          <a:latin typeface="+mn-lt"/>
                          <a:ea typeface="Times New Roman" panose="02020603050405020304" pitchFamily="18" charset="0"/>
                        </a:rPr>
                        <a:t>Manifestations dans les prisons (opérationnelles)</a:t>
                      </a:r>
                    </a:p>
                  </a:txBody>
                  <a:tcPr marL="9525" marR="9525" marT="9525" marB="9525" anchor="ctr">
                    <a:solidFill>
                      <a:schemeClr val="accent2"/>
                    </a:solidFill>
                  </a:tcPr>
                </a:tc>
                <a:extLst>
                  <a:ext uri="{0D108BD9-81ED-4DB2-BD59-A6C34878D82A}">
                    <a16:rowId xmlns:a16="http://schemas.microsoft.com/office/drawing/2014/main" val="3830030949"/>
                  </a:ext>
                </a:extLst>
              </a:tr>
              <a:tr h="1435618">
                <a:tc>
                  <a:txBody>
                    <a:bodyPr/>
                    <a:lstStyle/>
                    <a:p>
                      <a:pPr>
                        <a:lnSpc>
                          <a:spcPct val="115000"/>
                        </a:lnSpc>
                        <a:spcAft>
                          <a:spcPts val="0"/>
                        </a:spcAft>
                      </a:pPr>
                      <a:r>
                        <a:rPr lang="fr-FR" sz="1700" kern="100" dirty="0">
                          <a:solidFill>
                            <a:schemeClr val="tx1"/>
                          </a:solidFill>
                          <a:effectLst/>
                          <a:latin typeface="+mn-lt"/>
                          <a:ea typeface="Times New Roman" panose="02020603050405020304" pitchFamily="18" charset="0"/>
                        </a:rPr>
                        <a:t>- Détournement de vivres, médicaments, matériels d’hygiène- Revente de carburant destiné aux escortes de prisonniers- Appropriation de dons destinés aux détenus- Usage privé des véhicules de transfert</a:t>
                      </a:r>
                    </a:p>
                  </a:txBody>
                  <a:tcPr marL="9525" marR="9525" marT="9525" marB="9525" anchor="ctr">
                    <a:solidFill>
                      <a:schemeClr val="tx2">
                        <a:lumMod val="40000"/>
                        <a:lumOff val="60000"/>
                      </a:schemeClr>
                    </a:solidFill>
                  </a:tcPr>
                </a:tc>
                <a:extLst>
                  <a:ext uri="{0D108BD9-81ED-4DB2-BD59-A6C34878D82A}">
                    <a16:rowId xmlns:a16="http://schemas.microsoft.com/office/drawing/2014/main" val="2824940398"/>
                  </a:ext>
                </a:extLst>
              </a:tr>
              <a:tr h="1435618">
                <a:tc>
                  <a:txBody>
                    <a:bodyPr/>
                    <a:lstStyle/>
                    <a:p>
                      <a:pPr>
                        <a:lnSpc>
                          <a:spcPct val="115000"/>
                        </a:lnSpc>
                        <a:spcAft>
                          <a:spcPts val="0"/>
                        </a:spcAft>
                      </a:pPr>
                      <a:r>
                        <a:rPr lang="fr-FR" sz="1700" kern="100" dirty="0">
                          <a:solidFill>
                            <a:schemeClr val="tx1"/>
                          </a:solidFill>
                          <a:effectLst/>
                          <a:latin typeface="+mn-lt"/>
                          <a:ea typeface="Times New Roman" panose="02020603050405020304" pitchFamily="18" charset="0"/>
                        </a:rPr>
                        <a:t>- Vol d’objets saisis ou appartenant aux détenus- Non-reversement de sommes confisquées- Manipulation des inventaires d’effets personnels lors des admissions</a:t>
                      </a:r>
                    </a:p>
                  </a:txBody>
                  <a:tcPr marL="9525" marR="9525" marT="9525" marB="9525" anchor="ctr">
                    <a:solidFill>
                      <a:schemeClr val="tx2">
                        <a:lumMod val="40000"/>
                        <a:lumOff val="60000"/>
                      </a:schemeClr>
                    </a:solidFill>
                  </a:tcPr>
                </a:tc>
                <a:extLst>
                  <a:ext uri="{0D108BD9-81ED-4DB2-BD59-A6C34878D82A}">
                    <a16:rowId xmlns:a16="http://schemas.microsoft.com/office/drawing/2014/main" val="1808790018"/>
                  </a:ext>
                </a:extLst>
              </a:tr>
              <a:tr h="1435618">
                <a:tc>
                  <a:txBody>
                    <a:bodyPr/>
                    <a:lstStyle/>
                    <a:p>
                      <a:pPr>
                        <a:lnSpc>
                          <a:spcPct val="115000"/>
                        </a:lnSpc>
                        <a:spcAft>
                          <a:spcPts val="0"/>
                        </a:spcAft>
                      </a:pPr>
                      <a:r>
                        <a:rPr lang="fr-FR" sz="1700" kern="100" dirty="0">
                          <a:solidFill>
                            <a:schemeClr val="tx1"/>
                          </a:solidFill>
                          <a:effectLst/>
                          <a:latin typeface="+mn-lt"/>
                          <a:ea typeface="Times New Roman" panose="02020603050405020304" pitchFamily="18" charset="0"/>
                        </a:rPr>
                        <a:t>- Promesse de transfert, amélioration de conditions, accès aux soins- Pressions sur les services de greffe ou sur les magistrats pour accélérer un dossier- Influence sur les commissions disciplinaires ou médico-sociales</a:t>
                      </a:r>
                    </a:p>
                  </a:txBody>
                  <a:tcPr marL="9525" marR="9525" marT="9525" marB="9525" anchor="ctr">
                    <a:solidFill>
                      <a:schemeClr val="tx2">
                        <a:lumMod val="40000"/>
                        <a:lumOff val="60000"/>
                      </a:schemeClr>
                    </a:solidFill>
                  </a:tcPr>
                </a:tc>
                <a:extLst>
                  <a:ext uri="{0D108BD9-81ED-4DB2-BD59-A6C34878D82A}">
                    <a16:rowId xmlns:a16="http://schemas.microsoft.com/office/drawing/2014/main" val="453138758"/>
                  </a:ext>
                </a:extLst>
              </a:tr>
            </a:tbl>
          </a:graphicData>
        </a:graphic>
      </p:graphicFrame>
    </p:spTree>
    <p:extLst>
      <p:ext uri="{BB962C8B-B14F-4D97-AF65-F5344CB8AC3E}">
        <p14:creationId xmlns:p14="http://schemas.microsoft.com/office/powerpoint/2010/main" val="2732682777"/>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E23847E-F787-5DB8-CA15-D14093D786A4}"/>
            </a:ext>
          </a:extLst>
        </p:cNvPr>
        <p:cNvGrpSpPr/>
        <p:nvPr/>
      </p:nvGrpSpPr>
      <p:grpSpPr>
        <a:xfrm>
          <a:off x="0" y="0"/>
          <a:ext cx="0" cy="0"/>
          <a:chOff x="0" y="0"/>
          <a:chExt cx="0" cy="0"/>
        </a:xfrm>
      </p:grpSpPr>
      <p:pic>
        <p:nvPicPr>
          <p:cNvPr id="25" name="Image 24">
            <a:extLst>
              <a:ext uri="{FF2B5EF4-FFF2-40B4-BE49-F238E27FC236}">
                <a16:creationId xmlns:a16="http://schemas.microsoft.com/office/drawing/2014/main" id="{0B71DC83-5EA9-6729-0D9E-D377C73DE9B3}"/>
              </a:ext>
            </a:extLst>
          </p:cNvPr>
          <p:cNvPicPr>
            <a:picLocks noGrp="1" noRot="1" noChangeAspect="1" noMove="1" noResize="1" noEditPoints="1" noAdjustHandles="1" noChangeArrowheads="1" noChangeShapeType="1" noCrop="1"/>
          </p:cNvPicPr>
          <p:nvPr/>
        </p:nvPicPr>
        <p:blipFill>
          <a:blip r:embed="rId3">
            <a:alphaModFix amt="5000"/>
          </a:blip>
          <a:stretch>
            <a:fillRect/>
          </a:stretch>
        </p:blipFill>
        <p:spPr>
          <a:xfrm>
            <a:off x="1724314" y="197375"/>
            <a:ext cx="8748000" cy="6447420"/>
          </a:xfrm>
          <a:prstGeom prst="rect">
            <a:avLst/>
          </a:prstGeom>
        </p:spPr>
      </p:pic>
      <p:sp>
        <p:nvSpPr>
          <p:cNvPr id="20" name="Rectangle 19">
            <a:extLst>
              <a:ext uri="{FF2B5EF4-FFF2-40B4-BE49-F238E27FC236}">
                <a16:creationId xmlns:a16="http://schemas.microsoft.com/office/drawing/2014/main" id="{ACBFE1A1-7962-0196-37D5-36BFACA584B3}"/>
              </a:ext>
            </a:extLst>
          </p:cNvPr>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CFC1E521-ABFA-C980-263A-1DED56619724}"/>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ZoneTexte 10">
            <a:extLst>
              <a:ext uri="{FF2B5EF4-FFF2-40B4-BE49-F238E27FC236}">
                <a16:creationId xmlns:a16="http://schemas.microsoft.com/office/drawing/2014/main" id="{8333DC7A-1A6B-DC9F-5C4A-D6C2AE97D6FC}"/>
              </a:ext>
            </a:extLst>
          </p:cNvPr>
          <p:cNvSpPr txBox="1"/>
          <p:nvPr/>
        </p:nvSpPr>
        <p:spPr>
          <a:xfrm>
            <a:off x="4640308" y="6638240"/>
            <a:ext cx="2911374"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3" name="Connecteur droit 12">
            <a:extLst>
              <a:ext uri="{FF2B5EF4-FFF2-40B4-BE49-F238E27FC236}">
                <a16:creationId xmlns:a16="http://schemas.microsoft.com/office/drawing/2014/main" id="{D0EF95DD-1FD8-FE8B-6BC6-902A918E7BCE}"/>
              </a:ext>
            </a:extLst>
          </p:cNvPr>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5FBC754C-C149-4B79-8F67-67D7C8DD0523}"/>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A7878CED-50F4-3427-3F59-82FAE58C81E2}"/>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1EE2B935-58CA-29BA-959A-07B53060742D}"/>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33</a:t>
            </a:fld>
            <a:endParaRPr lang="fr-FR" b="1" dirty="0">
              <a:solidFill>
                <a:schemeClr val="bg1"/>
              </a:solidFill>
              <a:latin typeface="Arial" panose="020B0604020202020204" pitchFamily="34" charset="0"/>
              <a:cs typeface="Arial" panose="020B0604020202020204" pitchFamily="34" charset="0"/>
            </a:endParaRPr>
          </a:p>
        </p:txBody>
      </p:sp>
      <p:sp>
        <p:nvSpPr>
          <p:cNvPr id="3" name="Rectangle à coins arrondis 1">
            <a:extLst>
              <a:ext uri="{FF2B5EF4-FFF2-40B4-BE49-F238E27FC236}">
                <a16:creationId xmlns:a16="http://schemas.microsoft.com/office/drawing/2014/main" id="{D0AC4AD6-F810-1010-79BE-75DE0CCE2A3B}"/>
              </a:ext>
            </a:extLst>
          </p:cNvPr>
          <p:cNvSpPr/>
          <p:nvPr/>
        </p:nvSpPr>
        <p:spPr>
          <a:xfrm>
            <a:off x="3632122" y="189651"/>
            <a:ext cx="4845952" cy="783128"/>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rgbClr val="1D1D1B"/>
                </a:solidFill>
                <a:latin typeface="Candara" panose="020E0502030303020204" pitchFamily="34" charset="0"/>
                <a:ea typeface="Open Sans" panose="020B0606030504020204" pitchFamily="34" charset="0"/>
                <a:cs typeface="Open Sans" panose="020B0606030504020204" pitchFamily="34" charset="0"/>
              </a:rPr>
              <a:t>CONCLUSION (1/1)</a:t>
            </a:r>
          </a:p>
        </p:txBody>
      </p:sp>
      <p:pic>
        <p:nvPicPr>
          <p:cNvPr id="2" name="Image 1">
            <a:extLst>
              <a:ext uri="{FF2B5EF4-FFF2-40B4-BE49-F238E27FC236}">
                <a16:creationId xmlns:a16="http://schemas.microsoft.com/office/drawing/2014/main" id="{DEE6C0E8-2A46-A3CD-6CC0-46C6136D6C9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3027" y="1831"/>
            <a:ext cx="685935" cy="328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ZoneTexte 3">
            <a:extLst>
              <a:ext uri="{FF2B5EF4-FFF2-40B4-BE49-F238E27FC236}">
                <a16:creationId xmlns:a16="http://schemas.microsoft.com/office/drawing/2014/main" id="{75FE7153-4DFE-BF7A-8A74-4EA42625CDFC}"/>
              </a:ext>
            </a:extLst>
          </p:cNvPr>
          <p:cNvSpPr txBox="1"/>
          <p:nvPr/>
        </p:nvSpPr>
        <p:spPr>
          <a:xfrm>
            <a:off x="987260" y="2175972"/>
            <a:ext cx="9235441" cy="369332"/>
          </a:xfrm>
          <a:prstGeom prst="rect">
            <a:avLst/>
          </a:prstGeom>
          <a:noFill/>
        </p:spPr>
        <p:txBody>
          <a:bodyPr wrap="square" rtlCol="0">
            <a:spAutoFit/>
          </a:bodyPr>
          <a:lstStyle/>
          <a:p>
            <a:r>
              <a:rPr lang="fr-FR" dirty="0"/>
              <a:t>Contenu</a:t>
            </a:r>
            <a:endParaRPr lang="fr-BF" dirty="0"/>
          </a:p>
        </p:txBody>
      </p:sp>
    </p:spTree>
    <p:extLst>
      <p:ext uri="{BB962C8B-B14F-4D97-AF65-F5344CB8AC3E}">
        <p14:creationId xmlns:p14="http://schemas.microsoft.com/office/powerpoint/2010/main" val="2252296309"/>
      </p:ext>
    </p:extLst>
  </p:cSld>
  <p:clrMapOvr>
    <a:masterClrMapping/>
  </p:clrMapOvr>
  <mc:AlternateContent xmlns:mc="http://schemas.openxmlformats.org/markup-compatibility/2006" xmlns:p15="http://schemas.microsoft.com/office/powerpoint/2012/main">
    <mc:Choice Requires="p15">
      <p:transition>
        <p15:prstTrans prst="pageCurlDoubl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ZoneTexte 8"/>
          <p:cNvSpPr txBox="1"/>
          <p:nvPr/>
        </p:nvSpPr>
        <p:spPr>
          <a:xfrm>
            <a:off x="3353652" y="2718925"/>
            <a:ext cx="4856913" cy="2641323"/>
          </a:xfrm>
          <a:prstGeom prst="rect">
            <a:avLst/>
          </a:prstGeom>
          <a:noFill/>
        </p:spPr>
        <p:txBody>
          <a:bodyPr wrap="square" rtlCol="0">
            <a:prstTxWarp prst="textPlai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400" b="0" i="0" u="none" strike="noStrike" kern="1200" cap="none" spc="0" normalizeH="0" baseline="0" noProof="0" dirty="0">
                <a:ln>
                  <a:noFill/>
                </a:ln>
                <a:solidFill>
                  <a:srgbClr val="FF0000"/>
                </a:solidFill>
                <a:effectLst>
                  <a:outerShdw blurRad="50800" dist="38100" dir="18900000" algn="bl">
                    <a:srgbClr val="000000">
                      <a:alpha val="40000"/>
                    </a:srgbClr>
                  </a:outerShdw>
                </a:effectLst>
                <a:uLnTx/>
                <a:uFillTx/>
                <a:latin typeface="Lucida Calligraphy" panose="03010101010101010101" pitchFamily="66" charset="0"/>
                <a:ea typeface="Calibri" panose="020F0502020204030204" pitchFamily="34" charset="0"/>
                <a:cs typeface="DilleniaUPC" panose="02020603050405020304" pitchFamily="18" charset="-34"/>
              </a:rPr>
              <a:t>Merci pour </a:t>
            </a:r>
            <a:r>
              <a:rPr kumimoji="0" lang="fr-FR" sz="4400" b="0" i="0" u="none" strike="noStrike" kern="1200" cap="none" spc="0" normalizeH="0" baseline="0" noProof="0" dirty="0">
                <a:ln>
                  <a:noFill/>
                </a:ln>
                <a:solidFill>
                  <a:srgbClr val="00B050"/>
                </a:solidFill>
                <a:effectLst>
                  <a:outerShdw blurRad="50800" dist="38100" dir="18900000" algn="bl">
                    <a:srgbClr val="000000">
                      <a:alpha val="40000"/>
                    </a:srgbClr>
                  </a:outerShdw>
                </a:effectLst>
                <a:uLnTx/>
                <a:uFillTx/>
                <a:latin typeface="Lucida Calligraphy" panose="03010101010101010101" pitchFamily="66" charset="0"/>
                <a:ea typeface="Calibri" panose="020F0502020204030204" pitchFamily="34" charset="0"/>
                <a:cs typeface="DilleniaUPC" panose="02020603050405020304" pitchFamily="18" charset="-34"/>
              </a:rPr>
              <a:t>votre aimable </a:t>
            </a:r>
            <a:r>
              <a:rPr kumimoji="0" lang="fr-FR" sz="4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Lucida Calligraphy" panose="03010101010101010101" pitchFamily="66" charset="0"/>
                <a:ea typeface="Calibri" panose="020F0502020204030204" pitchFamily="34" charset="0"/>
                <a:cs typeface="DilleniaUPC" panose="02020603050405020304" pitchFamily="18" charset="-34"/>
              </a:rPr>
              <a:t>attention!!!</a:t>
            </a:r>
            <a:endParaRPr kumimoji="0" lang="fr-FR" sz="4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panose="020F0502020204030204"/>
              <a:ea typeface="Calibri" panose="020F0502020204030204" pitchFamily="34" charset="0"/>
              <a:cs typeface="Times New Roman" panose="02020603050405020304" pitchFamily="18" charset="0"/>
            </a:endParaRPr>
          </a:p>
        </p:txBody>
      </p: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3100" y="466030"/>
            <a:ext cx="4105791" cy="1966297"/>
          </a:xfrm>
          <a:prstGeom prst="rect">
            <a:avLst/>
          </a:prstGeom>
        </p:spPr>
      </p:pic>
      <p:sp>
        <p:nvSpPr>
          <p:cNvPr id="4" name="ZoneTexte 3"/>
          <p:cNvSpPr txBox="1"/>
          <p:nvPr/>
        </p:nvSpPr>
        <p:spPr>
          <a:xfrm>
            <a:off x="2459422" y="5930305"/>
            <a:ext cx="7273145" cy="461665"/>
          </a:xfrm>
          <a:prstGeom prst="rect">
            <a:avLst/>
          </a:prstGeom>
          <a:noFill/>
        </p:spPr>
        <p:txBody>
          <a:bodyPr wrap="none" rtlCol="0">
            <a:prstTxWarp prst="textPlain">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36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ndara" panose="020E0502030303020204" pitchFamily="34" charset="0"/>
                <a:ea typeface="+mn-ea"/>
                <a:cs typeface="+mn-cs"/>
              </a:rPr>
              <a:t>Au nom de notre intégrité, combattons la corruption !</a:t>
            </a:r>
          </a:p>
        </p:txBody>
      </p:sp>
      <p:sp>
        <p:nvSpPr>
          <p:cNvPr id="14" name="Rectangle 13"/>
          <p:cNvSpPr/>
          <p:nvPr/>
        </p:nvSpPr>
        <p:spPr>
          <a:xfrm>
            <a:off x="-4" y="-3453"/>
            <a:ext cx="12192001" cy="182885"/>
          </a:xfrm>
          <a:prstGeom prst="rect">
            <a:avLst/>
          </a:prstGeom>
          <a:solidFill>
            <a:srgbClr val="E30613"/>
          </a:solidFill>
          <a:ln>
            <a:solidFill>
              <a:srgbClr val="EA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FABB7A46-2F01-BF44-1D03-5C2727FC89C1}"/>
              </a:ext>
            </a:extLst>
          </p:cNvPr>
          <p:cNvSpPr/>
          <p:nvPr/>
        </p:nvSpPr>
        <p:spPr>
          <a:xfrm>
            <a:off x="-3" y="6652890"/>
            <a:ext cx="12192001" cy="207910"/>
          </a:xfrm>
          <a:prstGeom prst="rect">
            <a:avLst/>
          </a:prstGeom>
          <a:solidFill>
            <a:srgbClr val="009640"/>
          </a:solidFill>
          <a:ln>
            <a:solidFill>
              <a:srgbClr val="1CA0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ZoneTexte 17">
            <a:extLst>
              <a:ext uri="{FF2B5EF4-FFF2-40B4-BE49-F238E27FC236}">
                <a16:creationId xmlns:a16="http://schemas.microsoft.com/office/drawing/2014/main" id="{248F89E5-12F2-A832-8539-B9D9E473D9B3}"/>
              </a:ext>
            </a:extLst>
          </p:cNvPr>
          <p:cNvSpPr txBox="1"/>
          <p:nvPr/>
        </p:nvSpPr>
        <p:spPr>
          <a:xfrm>
            <a:off x="4640308" y="6638240"/>
            <a:ext cx="2911374"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1" i="1" u="none" strike="noStrike" kern="1200" cap="none" spc="0" normalizeH="0" baseline="0" noProof="0" dirty="0">
                <a:ln>
                  <a:noFill/>
                </a:ln>
                <a:solidFill>
                  <a:srgbClr val="FFDD00"/>
                </a:solidFill>
                <a:effectLst>
                  <a:outerShdw blurRad="38100" dist="38100" dir="2700000" algn="tl">
                    <a:srgbClr val="000000">
                      <a:alpha val="43137"/>
                    </a:srgbClr>
                  </a:outerShdw>
                </a:effectLst>
                <a:uLnTx/>
                <a:uFillTx/>
                <a:latin typeface="Gill Sans MT" panose="020B0502020104020203" pitchFamily="34" charset="0"/>
                <a:ea typeface="+mn-ea"/>
                <a:cs typeface="+mn-cs"/>
              </a:rPr>
              <a:t>Au nom de notre intégrité, combattons la corruption !</a:t>
            </a:r>
          </a:p>
        </p:txBody>
      </p:sp>
      <p:cxnSp>
        <p:nvCxnSpPr>
          <p:cNvPr id="19" name="Connecteur droit 18">
            <a:extLst>
              <a:ext uri="{FF2B5EF4-FFF2-40B4-BE49-F238E27FC236}">
                <a16:creationId xmlns:a16="http://schemas.microsoft.com/office/drawing/2014/main" id="{D2A0C711-75EA-CE09-DBE1-2292BCF100E9}"/>
              </a:ext>
            </a:extLst>
          </p:cNvPr>
          <p:cNvCxnSpPr/>
          <p:nvPr/>
        </p:nvCxnSpPr>
        <p:spPr>
          <a:xfrm>
            <a:off x="356130" y="6753656"/>
            <a:ext cx="432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CC1ADF42-3129-19F9-4B6D-CB6AE6E29A0C}"/>
              </a:ext>
            </a:extLst>
          </p:cNvPr>
          <p:cNvCxnSpPr>
            <a:cxnSpLocks/>
          </p:cNvCxnSpPr>
          <p:nvPr/>
        </p:nvCxnSpPr>
        <p:spPr>
          <a:xfrm>
            <a:off x="7477254" y="6761672"/>
            <a:ext cx="3960000" cy="0"/>
          </a:xfrm>
          <a:prstGeom prst="line">
            <a:avLst/>
          </a:prstGeom>
          <a:ln w="12700">
            <a:solidFill>
              <a:srgbClr val="FFDD00"/>
            </a:solidFill>
          </a:ln>
        </p:spPr>
        <p:style>
          <a:lnRef idx="1">
            <a:schemeClr val="accent1"/>
          </a:lnRef>
          <a:fillRef idx="0">
            <a:schemeClr val="accent1"/>
          </a:fillRef>
          <a:effectRef idx="0">
            <a:schemeClr val="accent1"/>
          </a:effectRef>
          <a:fontRef idx="minor">
            <a:schemeClr val="tx1"/>
          </a:fontRef>
        </p:style>
      </p:cxnSp>
      <p:pic>
        <p:nvPicPr>
          <p:cNvPr id="21" name="Image 20">
            <a:extLst>
              <a:ext uri="{FF2B5EF4-FFF2-40B4-BE49-F238E27FC236}">
                <a16:creationId xmlns:a16="http://schemas.microsoft.com/office/drawing/2014/main" id="{83355997-BAC3-A38C-B47E-E0484087B9C5}"/>
              </a:ext>
            </a:extLst>
          </p:cNvPr>
          <p:cNvPicPr>
            <a:picLocks noChangeAspect="1"/>
          </p:cNvPicPr>
          <p:nvPr/>
        </p:nvPicPr>
        <p:blipFill>
          <a:blip r:embed="rId4"/>
          <a:stretch>
            <a:fillRect/>
          </a:stretch>
        </p:blipFill>
        <p:spPr>
          <a:xfrm>
            <a:off x="11446879" y="6660145"/>
            <a:ext cx="159652" cy="216000"/>
          </a:xfrm>
          <a:prstGeom prst="rect">
            <a:avLst/>
          </a:prstGeom>
          <a:ln>
            <a:noFill/>
          </a:ln>
        </p:spPr>
      </p:pic>
      <p:sp>
        <p:nvSpPr>
          <p:cNvPr id="22" name="Espace réservé du numéro de diapositive 21">
            <a:extLst>
              <a:ext uri="{FF2B5EF4-FFF2-40B4-BE49-F238E27FC236}">
                <a16:creationId xmlns:a16="http://schemas.microsoft.com/office/drawing/2014/main" id="{A64AD2F2-F9B2-6CDC-4F02-F8514CF8B4FD}"/>
              </a:ext>
            </a:extLst>
          </p:cNvPr>
          <p:cNvSpPr>
            <a:spLocks noGrp="1"/>
          </p:cNvSpPr>
          <p:nvPr>
            <p:ph type="sldNum" sz="quarter" idx="12"/>
          </p:nvPr>
        </p:nvSpPr>
        <p:spPr>
          <a:xfrm>
            <a:off x="10844763" y="6660145"/>
            <a:ext cx="602116" cy="197854"/>
          </a:xfrm>
          <a:prstGeom prst="flowChartDisplay">
            <a:avLst/>
          </a:prstGeom>
          <a:solidFill>
            <a:srgbClr val="00B050"/>
          </a:solidFill>
          <a:ln w="6350">
            <a:solidFill>
              <a:srgbClr val="FFFF00"/>
            </a:solidFill>
          </a:ln>
        </p:spPr>
        <p:txBody>
          <a:bodyPr/>
          <a:lstStyle/>
          <a:p>
            <a:fld id="{918B577B-21D4-4A14-8495-7809D2E37253}" type="slidenum">
              <a:rPr lang="fr-FR" b="1" smtClean="0">
                <a:solidFill>
                  <a:schemeClr val="bg1"/>
                </a:solidFill>
                <a:latin typeface="Arial" panose="020B0604020202020204" pitchFamily="34" charset="0"/>
                <a:cs typeface="Arial" panose="020B0604020202020204" pitchFamily="34" charset="0"/>
              </a:rPr>
              <a:t>34</a:t>
            </a:fld>
            <a:endParaRPr lang="fr-FR" b="1" dirty="0">
              <a:solidFill>
                <a:schemeClr val="bg1"/>
              </a:solidFill>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0"/>
                                  </p:iterate>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36" presetClass="emph" presetSubtype="0" repeatCount="indefinite" fill="hold" grpId="1" nodeType="afterEffect">
                                  <p:stCondLst>
                                    <p:cond delay="0"/>
                                  </p:stCondLst>
                                  <p:iterate type="lt">
                                    <p:tmPct val="10000"/>
                                  </p:iterate>
                                  <p:childTnLst>
                                    <p:animScale>
                                      <p:cBhvr>
                                        <p:cTn id="10" dur="250" autoRev="1" fill="hold">
                                          <p:stCondLst>
                                            <p:cond delay="0"/>
                                          </p:stCondLst>
                                        </p:cTn>
                                        <p:tgtEl>
                                          <p:spTgt spid="9"/>
                                        </p:tgtEl>
                                      </p:cBhvr>
                                      <p:to x="80000" y="100000"/>
                                    </p:animScale>
                                    <p:anim by="(#ppt_w*0.10)" calcmode="lin" valueType="num">
                                      <p:cBhvr>
                                        <p:cTn id="11" dur="250" autoRev="1" fill="hold">
                                          <p:stCondLst>
                                            <p:cond delay="0"/>
                                          </p:stCondLst>
                                        </p:cTn>
                                        <p:tgtEl>
                                          <p:spTgt spid="9"/>
                                        </p:tgtEl>
                                        <p:attrNameLst>
                                          <p:attrName>ppt_x</p:attrName>
                                        </p:attrNameLst>
                                      </p:cBhvr>
                                    </p:anim>
                                    <p:anim by="(-#ppt_w*0.10)" calcmode="lin" valueType="num">
                                      <p:cBhvr>
                                        <p:cTn id="12" dur="250" autoRev="1" fill="hold">
                                          <p:stCondLst>
                                            <p:cond delay="0"/>
                                          </p:stCondLst>
                                        </p:cTn>
                                        <p:tgtEl>
                                          <p:spTgt spid="9"/>
                                        </p:tgtEl>
                                        <p:attrNameLst>
                                          <p:attrName>ppt_y</p:attrName>
                                        </p:attrNameLst>
                                      </p:cBhvr>
                                    </p:anim>
                                    <p:animRot by="-480000">
                                      <p:cBhvr>
                                        <p:cTn id="13" dur="250" autoRev="1" fill="hold">
                                          <p:stCondLst>
                                            <p:cond delay="0"/>
                                          </p:stCondLst>
                                        </p:cTn>
                                        <p:tgtEl>
                                          <p:spTgt spid="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455</TotalTime>
  <Words>4649</Words>
  <Application>Microsoft Office PowerPoint</Application>
  <PresentationFormat>Grand écran</PresentationFormat>
  <Paragraphs>394</Paragraphs>
  <Slides>34</Slides>
  <Notes>34</Notes>
  <HiddenSlides>0</HiddenSlides>
  <MMClips>0</MMClips>
  <ScaleCrop>false</ScaleCrop>
  <HeadingPairs>
    <vt:vector size="6" baseType="variant">
      <vt:variant>
        <vt:lpstr>Polices utilisées</vt:lpstr>
      </vt:variant>
      <vt:variant>
        <vt:i4>15</vt:i4>
      </vt:variant>
      <vt:variant>
        <vt:lpstr>Thème</vt:lpstr>
      </vt:variant>
      <vt:variant>
        <vt:i4>4</vt:i4>
      </vt:variant>
      <vt:variant>
        <vt:lpstr>Titres des diapositives</vt:lpstr>
      </vt:variant>
      <vt:variant>
        <vt:i4>34</vt:i4>
      </vt:variant>
    </vt:vector>
  </HeadingPairs>
  <TitlesOfParts>
    <vt:vector size="53" baseType="lpstr">
      <vt:lpstr>Aptos</vt:lpstr>
      <vt:lpstr>Aptos Display</vt:lpstr>
      <vt:lpstr>Arial</vt:lpstr>
      <vt:lpstr>Calibri</vt:lpstr>
      <vt:lpstr>Calibri Light</vt:lpstr>
      <vt:lpstr>Candara</vt:lpstr>
      <vt:lpstr>DilleniaUPC</vt:lpstr>
      <vt:lpstr>Gabriola</vt:lpstr>
      <vt:lpstr>Gill Sans MT</vt:lpstr>
      <vt:lpstr>Helvetica</vt:lpstr>
      <vt:lpstr>Lucida Calligraphy</vt:lpstr>
      <vt:lpstr>Open Sans</vt:lpstr>
      <vt:lpstr>Times New Roman</vt:lpstr>
      <vt:lpstr>Viner Hand ITC</vt:lpstr>
      <vt:lpstr>Wingdings</vt:lpstr>
      <vt:lpstr>Thème Office</vt:lpstr>
      <vt:lpstr>1_Thème Office</vt:lpstr>
      <vt:lpstr>2_Thème Office</vt:lpstr>
      <vt:lpstr>3_Thème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Roger MILLOGO</dc:creator>
  <cp:lastModifiedBy>Abdoul Siakour DRABO</cp:lastModifiedBy>
  <cp:revision>111</cp:revision>
  <dcterms:created xsi:type="dcterms:W3CDTF">2025-06-30T22:18:47Z</dcterms:created>
  <dcterms:modified xsi:type="dcterms:W3CDTF">2025-12-08T21:08:32Z</dcterms:modified>
</cp:coreProperties>
</file>